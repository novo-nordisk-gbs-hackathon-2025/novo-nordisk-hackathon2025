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Inter Bold" charset="1" panose="020B0802030000000004"/>
      <p:regular r:id="rId19"/>
    </p:embeddedFont>
    <p:embeddedFont>
      <p:font typeface="Inter" charset="1" panose="020B0502030000000004"/>
      <p:regular r:id="rId20"/>
    </p:embeddedFont>
    <p:embeddedFont>
      <p:font typeface="Calibri (MS) Bold" charset="1" panose="020F0702030404030204"/>
      <p:regular r:id="rId21"/>
    </p:embeddedFont>
    <p:embeddedFont>
      <p:font typeface="Calibri (MS)" charset="1" panose="020F0502020204030204"/>
      <p:regular r:id="rId22"/>
    </p:embeddedFont>
    <p:embeddedFont>
      <p:font typeface="Calibri (MS) Italics" charset="1" panose="020F05020202040A0204"/>
      <p:regular r:id="rId23"/>
    </p:embeddedFont>
    <p:embeddedFont>
      <p:font typeface="Inter Italics" charset="1" panose="020B0502030000000004"/>
      <p:regular r:id="rId24"/>
    </p:embeddedFont>
    <p:embeddedFont>
      <p:font typeface="Montserrat Bold" charset="1" panose="000008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svg" Type="http://schemas.openxmlformats.org/officeDocument/2006/relationships/image"/><Relationship Id="rId11" Target="https://www.wegovy.com/" TargetMode="External" Type="http://schemas.openxmlformats.org/officeDocument/2006/relationships/hyperlink"/><Relationship Id="rId2" Target="../media/image4.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https://novo-nordisk-hackathon2025-8adxnittedsk6gbmrfbgy3.streamlit.app/" TargetMode="External" Type="http://schemas.openxmlformats.org/officeDocument/2006/relationships/hyperlink"/><Relationship Id="rId3" Target="https://doi.org/10.1186/s12889-024-18784-4" TargetMode="External" Type="http://schemas.openxmlformats.org/officeDocument/2006/relationships/hyperlink"/><Relationship Id="rId4" Target="../media/image1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https://doi.org/10.1186/s12889-024-18784-4" TargetMode="External" Type="http://schemas.openxmlformats.org/officeDocument/2006/relationships/hyperlink"/></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2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https://doi.org/10.1186/s12889-024-18784-4" TargetMode="External" Type="http://schemas.openxmlformats.org/officeDocument/2006/relationships/hyperlink"/><Relationship Id="rId5" Target="https://doi.org/10.1371/journal.pone.0305205" TargetMode="External" Type="http://schemas.openxmlformats.org/officeDocument/2006/relationships/hyperlink"/><Relationship Id="rId6" Target="https://www.stifel.com/" TargetMode="External" Type="http://schemas.openxmlformats.org/officeDocument/2006/relationships/hyperlink"/><Relationship Id="rId7" Target="https://www.stifel.com/" TargetMode="External" Type="http://schemas.openxmlformats.org/officeDocument/2006/relationships/hyperlink"/><Relationship Id="rId8" Target="https://www.lek.com/" TargetMode="External" Type="http://schemas.openxmlformats.org/officeDocument/2006/relationships/hyperlink"/></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6F4F4"/>
            </a:solidFill>
          </p:spPr>
        </p:sp>
      </p:grpSp>
      <p:grpSp>
        <p:nvGrpSpPr>
          <p:cNvPr name="Group 4" id="4"/>
          <p:cNvGrpSpPr/>
          <p:nvPr/>
        </p:nvGrpSpPr>
        <p:grpSpPr>
          <a:xfrm rot="0">
            <a:off x="28575"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2"/>
              <a:stretch>
                <a:fillRect l="0" t="0" r="0" b="0"/>
              </a:stretch>
            </a:blipFill>
          </p:spPr>
        </p:sp>
      </p:grpSp>
      <p:sp>
        <p:nvSpPr>
          <p:cNvPr name="TextBox 8" id="8"/>
          <p:cNvSpPr txBox="true"/>
          <p:nvPr/>
        </p:nvSpPr>
        <p:spPr>
          <a:xfrm rot="0">
            <a:off x="7391400" y="2065865"/>
            <a:ext cx="10550426" cy="940745"/>
          </a:xfrm>
          <a:prstGeom prst="rect">
            <a:avLst/>
          </a:prstGeom>
        </p:spPr>
        <p:txBody>
          <a:bodyPr anchor="t" rtlCol="false" tIns="0" lIns="0" bIns="0" rIns="0">
            <a:spAutoFit/>
          </a:bodyPr>
          <a:lstStyle/>
          <a:p>
            <a:pPr algn="ctr">
              <a:lnSpc>
                <a:spcPts val="6935"/>
              </a:lnSpc>
            </a:pPr>
            <a:r>
              <a:rPr lang="en-US" sz="5400" b="true">
                <a:solidFill>
                  <a:srgbClr val="000000"/>
                </a:solidFill>
                <a:latin typeface="Inter Bold"/>
                <a:ea typeface="Inter Bold"/>
                <a:cs typeface="Inter Bold"/>
                <a:sym typeface="Inter Bold"/>
              </a:rPr>
              <a:t>Wegovy Market Analysis</a:t>
            </a:r>
          </a:p>
        </p:txBody>
      </p:sp>
      <p:sp>
        <p:nvSpPr>
          <p:cNvPr name="TextBox 9" id="9"/>
          <p:cNvSpPr txBox="true"/>
          <p:nvPr/>
        </p:nvSpPr>
        <p:spPr>
          <a:xfrm rot="0">
            <a:off x="7850237" y="4114800"/>
            <a:ext cx="9445526" cy="1650323"/>
          </a:xfrm>
          <a:prstGeom prst="rect">
            <a:avLst/>
          </a:prstGeom>
        </p:spPr>
        <p:txBody>
          <a:bodyPr anchor="t" rtlCol="false" tIns="0" lIns="0" bIns="0" rIns="0">
            <a:spAutoFit/>
          </a:bodyPr>
          <a:lstStyle/>
          <a:p>
            <a:pPr algn="l">
              <a:lnSpc>
                <a:spcPts val="3888"/>
              </a:lnSpc>
            </a:pPr>
            <a:r>
              <a:rPr lang="en-US" sz="2400">
                <a:solidFill>
                  <a:srgbClr val="272525"/>
                </a:solidFill>
                <a:latin typeface="Inter"/>
                <a:ea typeface="Inter"/>
                <a:cs typeface="Inter"/>
                <a:sym typeface="Inter"/>
              </a:rPr>
              <a:t>A comprehensive market analysis to quantify obesity prevalence, patient profiles, and treatment patterns in India, providing data-driven insights to suggest the commercial strategy for Wegovy.</a:t>
            </a:r>
          </a:p>
        </p:txBody>
      </p:sp>
      <p:sp>
        <p:nvSpPr>
          <p:cNvPr name="TextBox 10" id="10"/>
          <p:cNvSpPr txBox="true"/>
          <p:nvPr/>
        </p:nvSpPr>
        <p:spPr>
          <a:xfrm rot="0">
            <a:off x="8305800" y="9124950"/>
            <a:ext cx="9445526" cy="634410"/>
          </a:xfrm>
          <a:prstGeom prst="rect">
            <a:avLst/>
          </a:prstGeom>
        </p:spPr>
        <p:txBody>
          <a:bodyPr anchor="t" rtlCol="false" tIns="0" lIns="0" bIns="0" rIns="0">
            <a:spAutoFit/>
          </a:bodyPr>
          <a:lstStyle/>
          <a:p>
            <a:pPr algn="r">
              <a:lnSpc>
                <a:spcPts val="3723"/>
              </a:lnSpc>
            </a:pPr>
            <a:r>
              <a:rPr lang="en-US" sz="2286">
                <a:solidFill>
                  <a:srgbClr val="272525"/>
                </a:solidFill>
                <a:latin typeface="Inter"/>
                <a:ea typeface="Inter"/>
                <a:cs typeface="Inter"/>
                <a:sym typeface="Inter"/>
              </a:rPr>
              <a:t>                                                             Presented by-  Team </a:t>
            </a:r>
            <a:r>
              <a:rPr lang="en-US" sz="2286" b="true">
                <a:solidFill>
                  <a:srgbClr val="272525"/>
                </a:solidFill>
                <a:latin typeface="Inter Bold"/>
                <a:ea typeface="Inter Bold"/>
                <a:cs typeface="Inter Bold"/>
                <a:sym typeface="Inter Bold"/>
              </a:rPr>
              <a:t>St, MAHE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6F4F4"/>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8" y="1030040"/>
            <a:ext cx="8671471" cy="971699"/>
          </a:xfrm>
          <a:prstGeom prst="rect">
            <a:avLst/>
          </a:prstGeom>
        </p:spPr>
        <p:txBody>
          <a:bodyPr anchor="t" rtlCol="false" tIns="0" lIns="0" bIns="0" rIns="0">
            <a:spAutoFit/>
          </a:bodyPr>
          <a:lstStyle/>
          <a:p>
            <a:pPr algn="l">
              <a:lnSpc>
                <a:spcPts val="6936"/>
              </a:lnSpc>
            </a:pPr>
            <a:r>
              <a:rPr lang="en-US" sz="5562" b="true">
                <a:solidFill>
                  <a:srgbClr val="000000"/>
                </a:solidFill>
                <a:latin typeface="Inter Bold"/>
                <a:ea typeface="Inter Bold"/>
                <a:cs typeface="Inter Bold"/>
                <a:sym typeface="Inter Bold"/>
              </a:rPr>
              <a:t>The Indian Obesity Crisis</a:t>
            </a:r>
          </a:p>
        </p:txBody>
      </p:sp>
      <p:sp>
        <p:nvSpPr>
          <p:cNvPr name="TextBox 7" id="7"/>
          <p:cNvSpPr txBox="true"/>
          <p:nvPr/>
        </p:nvSpPr>
        <p:spPr>
          <a:xfrm rot="0">
            <a:off x="1007478" y="2737397"/>
            <a:ext cx="4252912" cy="617339"/>
          </a:xfrm>
          <a:prstGeom prst="rect">
            <a:avLst/>
          </a:prstGeom>
        </p:spPr>
        <p:txBody>
          <a:bodyPr anchor="t" rtlCol="false" tIns="0" lIns="0" bIns="0" rIns="0">
            <a:spAutoFit/>
          </a:bodyPr>
          <a:lstStyle/>
          <a:p>
            <a:pPr algn="l">
              <a:lnSpc>
                <a:spcPts val="4125"/>
              </a:lnSpc>
            </a:pPr>
            <a:r>
              <a:rPr lang="en-US" sz="3311" b="true">
                <a:solidFill>
                  <a:srgbClr val="000000"/>
                </a:solidFill>
                <a:latin typeface="Inter Bold"/>
                <a:ea typeface="Inter Bold"/>
                <a:cs typeface="Inter Bold"/>
                <a:sym typeface="Inter Bold"/>
              </a:rPr>
              <a:t>Rising Challenge</a:t>
            </a:r>
          </a:p>
        </p:txBody>
      </p:sp>
      <p:sp>
        <p:nvSpPr>
          <p:cNvPr name="TextBox 8" id="8"/>
          <p:cNvSpPr txBox="true"/>
          <p:nvPr/>
        </p:nvSpPr>
        <p:spPr>
          <a:xfrm rot="0">
            <a:off x="992238" y="3721893"/>
            <a:ext cx="9505355" cy="1618060"/>
          </a:xfrm>
          <a:prstGeom prst="rect">
            <a:avLst/>
          </a:prstGeom>
        </p:spPr>
        <p:txBody>
          <a:bodyPr anchor="t" rtlCol="false" tIns="0" lIns="0" bIns="0" rIns="0">
            <a:spAutoFit/>
          </a:bodyPr>
          <a:lstStyle/>
          <a:p>
            <a:pPr algn="l">
              <a:lnSpc>
                <a:spcPts val="3561"/>
              </a:lnSpc>
            </a:pPr>
            <a:r>
              <a:rPr lang="en-US" sz="2187">
                <a:solidFill>
                  <a:srgbClr val="272525"/>
                </a:solidFill>
                <a:latin typeface="Inter"/>
                <a:ea typeface="Inter"/>
                <a:cs typeface="Inter"/>
                <a:sym typeface="Inter"/>
              </a:rPr>
              <a:t>India faces an unprecedented obesity epidemic with limited structured treatment adoption and widespread lack of awareness among both patients and healthcare providers.</a:t>
            </a:r>
          </a:p>
        </p:txBody>
      </p:sp>
      <p:grpSp>
        <p:nvGrpSpPr>
          <p:cNvPr name="Group 9" id="9"/>
          <p:cNvGrpSpPr/>
          <p:nvPr/>
        </p:nvGrpSpPr>
        <p:grpSpPr>
          <a:xfrm rot="0">
            <a:off x="925912" y="5905500"/>
            <a:ext cx="9505378" cy="2111978"/>
            <a:chOff x="0" y="0"/>
            <a:chExt cx="12673837" cy="2815971"/>
          </a:xfrm>
        </p:grpSpPr>
        <p:sp>
          <p:nvSpPr>
            <p:cNvPr name="Freeform 10" id="10"/>
            <p:cNvSpPr/>
            <p:nvPr/>
          </p:nvSpPr>
          <p:spPr>
            <a:xfrm flipH="false" flipV="false" rot="0">
              <a:off x="0" y="0"/>
              <a:ext cx="12673838" cy="2815971"/>
            </a:xfrm>
            <a:custGeom>
              <a:avLst/>
              <a:gdLst/>
              <a:ahLst/>
              <a:cxnLst/>
              <a:rect r="r" b="b" t="t" l="l"/>
              <a:pathLst>
                <a:path h="2815971" w="12673838">
                  <a:moveTo>
                    <a:pt x="0" y="158750"/>
                  </a:moveTo>
                  <a:cubicBezTo>
                    <a:pt x="0" y="71120"/>
                    <a:pt x="71120" y="0"/>
                    <a:pt x="158750" y="0"/>
                  </a:cubicBezTo>
                  <a:lnTo>
                    <a:pt x="12515088" y="0"/>
                  </a:lnTo>
                  <a:cubicBezTo>
                    <a:pt x="12602718" y="0"/>
                    <a:pt x="12673838" y="71120"/>
                    <a:pt x="12673838" y="158750"/>
                  </a:cubicBezTo>
                  <a:lnTo>
                    <a:pt x="12673838" y="2657221"/>
                  </a:lnTo>
                  <a:cubicBezTo>
                    <a:pt x="12673838" y="2744851"/>
                    <a:pt x="12602718" y="2815971"/>
                    <a:pt x="12515088" y="2815971"/>
                  </a:cubicBezTo>
                  <a:lnTo>
                    <a:pt x="158750" y="2815971"/>
                  </a:lnTo>
                  <a:cubicBezTo>
                    <a:pt x="71120" y="2815971"/>
                    <a:pt x="0" y="2744851"/>
                    <a:pt x="0" y="2657221"/>
                  </a:cubicBezTo>
                  <a:close/>
                </a:path>
              </a:pathLst>
            </a:custGeom>
            <a:solidFill>
              <a:srgbClr val="FFB3B4"/>
            </a:solidFill>
          </p:spPr>
        </p:sp>
      </p:grpSp>
      <p:grpSp>
        <p:nvGrpSpPr>
          <p:cNvPr name="Group 11" id="11"/>
          <p:cNvGrpSpPr/>
          <p:nvPr/>
        </p:nvGrpSpPr>
        <p:grpSpPr>
          <a:xfrm rot="0">
            <a:off x="1209429" y="6335614"/>
            <a:ext cx="354330" cy="283559"/>
            <a:chOff x="0" y="0"/>
            <a:chExt cx="472440" cy="378079"/>
          </a:xfrm>
        </p:grpSpPr>
        <p:sp>
          <p:nvSpPr>
            <p:cNvPr name="Freeform 12" id="12" descr="preencoded.png"/>
            <p:cNvSpPr/>
            <p:nvPr/>
          </p:nvSpPr>
          <p:spPr>
            <a:xfrm flipH="false" flipV="false" rot="0">
              <a:off x="0" y="0"/>
              <a:ext cx="472440" cy="378079"/>
            </a:xfrm>
            <a:custGeom>
              <a:avLst/>
              <a:gdLst/>
              <a:ahLst/>
              <a:cxnLst/>
              <a:rect r="r" b="b" t="t" l="l"/>
              <a:pathLst>
                <a:path h="378079" w="472440">
                  <a:moveTo>
                    <a:pt x="0" y="0"/>
                  </a:moveTo>
                  <a:lnTo>
                    <a:pt x="472440" y="0"/>
                  </a:lnTo>
                  <a:lnTo>
                    <a:pt x="472440" y="378079"/>
                  </a:lnTo>
                  <a:lnTo>
                    <a:pt x="0" y="378079"/>
                  </a:lnTo>
                  <a:lnTo>
                    <a:pt x="0" y="0"/>
                  </a:lnTo>
                  <a:close/>
                </a:path>
              </a:pathLst>
            </a:custGeom>
            <a:blipFill>
              <a:blip r:embed="rId2"/>
              <a:stretch>
                <a:fillRect l="-16" t="0" r="-16" b="0"/>
              </a:stretch>
            </a:blipFill>
          </p:spPr>
        </p:sp>
      </p:grpSp>
      <p:sp>
        <p:nvSpPr>
          <p:cNvPr name="TextBox 13" id="13"/>
          <p:cNvSpPr txBox="true"/>
          <p:nvPr/>
        </p:nvSpPr>
        <p:spPr>
          <a:xfrm rot="0">
            <a:off x="1847306" y="6002685"/>
            <a:ext cx="8300442" cy="1618060"/>
          </a:xfrm>
          <a:prstGeom prst="rect">
            <a:avLst/>
          </a:prstGeom>
        </p:spPr>
        <p:txBody>
          <a:bodyPr anchor="t" rtlCol="false" tIns="0" lIns="0" bIns="0" rIns="0">
            <a:spAutoFit/>
          </a:bodyPr>
          <a:lstStyle/>
          <a:p>
            <a:pPr algn="l">
              <a:lnSpc>
                <a:spcPts val="3561"/>
              </a:lnSpc>
            </a:pPr>
            <a:r>
              <a:rPr lang="en-US" sz="2187" b="true">
                <a:solidFill>
                  <a:srgbClr val="000000"/>
                </a:solidFill>
                <a:latin typeface="Inter Bold"/>
                <a:ea typeface="Inter Bold"/>
                <a:cs typeface="Inter Bold"/>
                <a:sym typeface="Inter Bold"/>
              </a:rPr>
              <a:t>Critical Gap:</a:t>
            </a:r>
            <a:r>
              <a:rPr lang="en-US" sz="2187">
                <a:solidFill>
                  <a:srgbClr val="000000"/>
                </a:solidFill>
                <a:latin typeface="Inter"/>
                <a:ea typeface="Inter"/>
                <a:cs typeface="Inter"/>
                <a:sym typeface="Inter"/>
              </a:rPr>
              <a:t> Traditional approaches are failing to address the scale and complexity of obesity management in India's diverse healthcare landscape.</a:t>
            </a:r>
          </a:p>
        </p:txBody>
      </p:sp>
      <p:grpSp>
        <p:nvGrpSpPr>
          <p:cNvPr name="Group 14" id="14"/>
          <p:cNvGrpSpPr/>
          <p:nvPr/>
        </p:nvGrpSpPr>
        <p:grpSpPr>
          <a:xfrm rot="0">
            <a:off x="11198870" y="2001739"/>
            <a:ext cx="6555771" cy="6850476"/>
            <a:chOff x="0" y="0"/>
            <a:chExt cx="8741029" cy="9133967"/>
          </a:xfrm>
        </p:grpSpPr>
        <p:sp>
          <p:nvSpPr>
            <p:cNvPr name="Freeform 15" id="15" descr="preencoded.png"/>
            <p:cNvSpPr/>
            <p:nvPr/>
          </p:nvSpPr>
          <p:spPr>
            <a:xfrm flipH="false" flipV="false" rot="0">
              <a:off x="0" y="0"/>
              <a:ext cx="8741029" cy="9133967"/>
            </a:xfrm>
            <a:custGeom>
              <a:avLst/>
              <a:gdLst/>
              <a:ahLst/>
              <a:cxnLst/>
              <a:rect r="r" b="b" t="t" l="l"/>
              <a:pathLst>
                <a:path h="9133967" w="8741029">
                  <a:moveTo>
                    <a:pt x="0" y="0"/>
                  </a:moveTo>
                  <a:lnTo>
                    <a:pt x="8741029" y="0"/>
                  </a:lnTo>
                  <a:lnTo>
                    <a:pt x="8741029" y="9133967"/>
                  </a:lnTo>
                  <a:lnTo>
                    <a:pt x="0" y="9133967"/>
                  </a:lnTo>
                  <a:lnTo>
                    <a:pt x="0" y="0"/>
                  </a:lnTo>
                  <a:close/>
                </a:path>
              </a:pathLst>
            </a:custGeom>
            <a:blipFill>
              <a:blip r:embed="rId3"/>
              <a:stretch>
                <a:fillRect l="-2247" t="0" r="-2247"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6F4F4"/>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1143000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2"/>
              <a:stretch>
                <a:fillRect l="0" t="0" r="0" b="0"/>
              </a:stretch>
            </a:blipFill>
          </p:spPr>
        </p:sp>
      </p:grpSp>
      <p:sp>
        <p:nvSpPr>
          <p:cNvPr name="TextBox 8" id="8"/>
          <p:cNvSpPr txBox="true"/>
          <p:nvPr/>
        </p:nvSpPr>
        <p:spPr>
          <a:xfrm rot="0">
            <a:off x="2558134" y="711624"/>
            <a:ext cx="6256585" cy="896391"/>
          </a:xfrm>
          <a:prstGeom prst="rect">
            <a:avLst/>
          </a:prstGeom>
        </p:spPr>
        <p:txBody>
          <a:bodyPr anchor="t" rtlCol="false" tIns="0" lIns="0" bIns="0" rIns="0">
            <a:spAutoFit/>
          </a:bodyPr>
          <a:lstStyle/>
          <a:p>
            <a:pPr algn="l">
              <a:lnSpc>
                <a:spcPts val="6125"/>
              </a:lnSpc>
            </a:pPr>
            <a:r>
              <a:rPr lang="en-US" sz="4875" b="true">
                <a:solidFill>
                  <a:srgbClr val="000000"/>
                </a:solidFill>
                <a:latin typeface="Inter Bold"/>
                <a:ea typeface="Inter Bold"/>
                <a:cs typeface="Inter Bold"/>
                <a:sym typeface="Inter Bold"/>
              </a:rPr>
              <a:t>Introducing Wegovy</a:t>
            </a:r>
          </a:p>
        </p:txBody>
      </p:sp>
      <p:sp>
        <p:nvSpPr>
          <p:cNvPr name="Freeform 9" id="9"/>
          <p:cNvSpPr/>
          <p:nvPr/>
        </p:nvSpPr>
        <p:spPr>
          <a:xfrm flipH="false" flipV="false" rot="0">
            <a:off x="861567" y="2074740"/>
            <a:ext cx="4723543" cy="3072480"/>
          </a:xfrm>
          <a:custGeom>
            <a:avLst/>
            <a:gdLst/>
            <a:ahLst/>
            <a:cxnLst/>
            <a:rect r="r" b="b" t="t" l="l"/>
            <a:pathLst>
              <a:path h="3072480" w="4723543">
                <a:moveTo>
                  <a:pt x="0" y="0"/>
                </a:moveTo>
                <a:lnTo>
                  <a:pt x="4723543" y="0"/>
                </a:lnTo>
                <a:lnTo>
                  <a:pt x="4723543" y="3072480"/>
                </a:lnTo>
                <a:lnTo>
                  <a:pt x="0" y="3072480"/>
                </a:lnTo>
                <a:lnTo>
                  <a:pt x="0" y="0"/>
                </a:lnTo>
                <a:close/>
              </a:path>
            </a:pathLst>
          </a:custGeom>
          <a:blipFill>
            <a:blip r:embed="rId3">
              <a:extLst>
                <a:ext uri="{96DAC541-7B7A-43D3-8B79-37D633B846F1}">
                  <asvg:svgBlip xmlns:asvg="http://schemas.microsoft.com/office/drawing/2016/SVG/main" r:embed="rId4"/>
                </a:ext>
              </a:extLst>
            </a:blip>
            <a:stretch>
              <a:fillRect l="0" t="-57" r="0" b="-57"/>
            </a:stretch>
          </a:blipFill>
        </p:spPr>
      </p:sp>
      <p:sp>
        <p:nvSpPr>
          <p:cNvPr name="TextBox 10" id="10"/>
          <p:cNvSpPr txBox="true"/>
          <p:nvPr/>
        </p:nvSpPr>
        <p:spPr>
          <a:xfrm rot="0">
            <a:off x="1126035" y="2278409"/>
            <a:ext cx="3128219" cy="448121"/>
          </a:xfrm>
          <a:prstGeom prst="rect">
            <a:avLst/>
          </a:prstGeom>
        </p:spPr>
        <p:txBody>
          <a:bodyPr anchor="t" rtlCol="false" tIns="0" lIns="0" bIns="0" rIns="0">
            <a:spAutoFit/>
          </a:bodyPr>
          <a:lstStyle/>
          <a:p>
            <a:pPr algn="l">
              <a:lnSpc>
                <a:spcPts val="3062"/>
              </a:lnSpc>
            </a:pPr>
            <a:r>
              <a:rPr lang="en-US" sz="2436" b="true">
                <a:solidFill>
                  <a:srgbClr val="272525"/>
                </a:solidFill>
                <a:latin typeface="Inter Bold"/>
                <a:ea typeface="Inter Bold"/>
                <a:cs typeface="Inter Bold"/>
                <a:sym typeface="Inter Bold"/>
              </a:rPr>
              <a:t>Proven Efficacy</a:t>
            </a:r>
          </a:p>
        </p:txBody>
      </p:sp>
      <p:sp>
        <p:nvSpPr>
          <p:cNvPr name="TextBox 11" id="11"/>
          <p:cNvSpPr txBox="true"/>
          <p:nvPr/>
        </p:nvSpPr>
        <p:spPr>
          <a:xfrm rot="0">
            <a:off x="1126035" y="2669380"/>
            <a:ext cx="4194572" cy="2259657"/>
          </a:xfrm>
          <a:prstGeom prst="rect">
            <a:avLst/>
          </a:prstGeom>
        </p:spPr>
        <p:txBody>
          <a:bodyPr anchor="t" rtlCol="false" tIns="0" lIns="0" bIns="0" rIns="0">
            <a:spAutoFit/>
          </a:bodyPr>
          <a:lstStyle/>
          <a:p>
            <a:pPr algn="l">
              <a:lnSpc>
                <a:spcPts val="3125"/>
              </a:lnSpc>
            </a:pPr>
            <a:r>
              <a:rPr lang="en-US" sz="1937">
                <a:solidFill>
                  <a:srgbClr val="272525"/>
                </a:solidFill>
                <a:latin typeface="Inter"/>
                <a:ea typeface="Inter"/>
                <a:cs typeface="Inter"/>
                <a:sym typeface="Inter"/>
              </a:rPr>
              <a:t>Wegovy has been clinically proven to deliver significant weight-loss and metabolic benefits, achieving an average weight reduction of about 15% in adults</a:t>
            </a:r>
          </a:p>
        </p:txBody>
      </p:sp>
      <p:sp>
        <p:nvSpPr>
          <p:cNvPr name="Freeform 12" id="12"/>
          <p:cNvSpPr/>
          <p:nvPr/>
        </p:nvSpPr>
        <p:spPr>
          <a:xfrm flipH="false" flipV="false" rot="0">
            <a:off x="5844856" y="2129433"/>
            <a:ext cx="4723638" cy="3072480"/>
          </a:xfrm>
          <a:custGeom>
            <a:avLst/>
            <a:gdLst/>
            <a:ahLst/>
            <a:cxnLst/>
            <a:rect r="r" b="b" t="t" l="l"/>
            <a:pathLst>
              <a:path h="3072480" w="4723638">
                <a:moveTo>
                  <a:pt x="0" y="0"/>
                </a:moveTo>
                <a:lnTo>
                  <a:pt x="4723638" y="0"/>
                </a:lnTo>
                <a:lnTo>
                  <a:pt x="4723638" y="3072480"/>
                </a:lnTo>
                <a:lnTo>
                  <a:pt x="0" y="3072480"/>
                </a:lnTo>
                <a:lnTo>
                  <a:pt x="0" y="0"/>
                </a:lnTo>
                <a:close/>
              </a:path>
            </a:pathLst>
          </a:custGeom>
          <a:blipFill>
            <a:blip r:embed="rId5">
              <a:extLst>
                <a:ext uri="{96DAC541-7B7A-43D3-8B79-37D633B846F1}">
                  <asvg:svgBlip xmlns:asvg="http://schemas.microsoft.com/office/drawing/2016/SVG/main" r:embed="rId6"/>
                </a:ext>
              </a:extLst>
            </a:blip>
            <a:stretch>
              <a:fillRect l="0" t="-58" r="0" b="-58"/>
            </a:stretch>
          </a:blipFill>
        </p:spPr>
      </p:sp>
      <p:sp>
        <p:nvSpPr>
          <p:cNvPr name="TextBox 13" id="13"/>
          <p:cNvSpPr txBox="true"/>
          <p:nvPr/>
        </p:nvSpPr>
        <p:spPr>
          <a:xfrm rot="0">
            <a:off x="6052096" y="2392709"/>
            <a:ext cx="3609677" cy="448121"/>
          </a:xfrm>
          <a:prstGeom prst="rect">
            <a:avLst/>
          </a:prstGeom>
        </p:spPr>
        <p:txBody>
          <a:bodyPr anchor="t" rtlCol="false" tIns="0" lIns="0" bIns="0" rIns="0">
            <a:spAutoFit/>
          </a:bodyPr>
          <a:lstStyle/>
          <a:p>
            <a:pPr algn="l">
              <a:lnSpc>
                <a:spcPts val="3062"/>
              </a:lnSpc>
            </a:pPr>
            <a:r>
              <a:rPr lang="en-US" sz="2436" b="true">
                <a:solidFill>
                  <a:srgbClr val="272525"/>
                </a:solidFill>
                <a:latin typeface="Inter Bold"/>
                <a:ea typeface="Inter Bold"/>
                <a:cs typeface="Inter Bold"/>
                <a:sym typeface="Inter Bold"/>
              </a:rPr>
              <a:t>Competitive Landscape</a:t>
            </a:r>
          </a:p>
        </p:txBody>
      </p:sp>
      <p:sp>
        <p:nvSpPr>
          <p:cNvPr name="TextBox 14" id="14"/>
          <p:cNvSpPr txBox="true"/>
          <p:nvPr/>
        </p:nvSpPr>
        <p:spPr>
          <a:xfrm rot="0">
            <a:off x="6052096" y="3018085"/>
            <a:ext cx="4194721" cy="1458665"/>
          </a:xfrm>
          <a:prstGeom prst="rect">
            <a:avLst/>
          </a:prstGeom>
        </p:spPr>
        <p:txBody>
          <a:bodyPr anchor="t" rtlCol="false" tIns="0" lIns="0" bIns="0" rIns="0">
            <a:spAutoFit/>
          </a:bodyPr>
          <a:lstStyle/>
          <a:p>
            <a:pPr algn="l">
              <a:lnSpc>
                <a:spcPts val="3125"/>
              </a:lnSpc>
            </a:pPr>
            <a:r>
              <a:rPr lang="en-US" sz="1937">
                <a:solidFill>
                  <a:srgbClr val="272525"/>
                </a:solidFill>
                <a:latin typeface="Inter"/>
                <a:ea typeface="Inter"/>
                <a:cs typeface="Inter"/>
                <a:sym typeface="Inter"/>
              </a:rPr>
              <a:t>Competing against Mounjaro, lifestyle interventions, bariatric surgery, and nutraceuticals</a:t>
            </a:r>
          </a:p>
        </p:txBody>
      </p:sp>
      <p:sp>
        <p:nvSpPr>
          <p:cNvPr name="Freeform 15" id="15"/>
          <p:cNvSpPr/>
          <p:nvPr/>
        </p:nvSpPr>
        <p:spPr>
          <a:xfrm flipH="false" flipV="false" rot="0">
            <a:off x="880617" y="5442495"/>
            <a:ext cx="9687877" cy="1470469"/>
          </a:xfrm>
          <a:custGeom>
            <a:avLst/>
            <a:gdLst/>
            <a:ahLst/>
            <a:cxnLst/>
            <a:rect r="r" b="b" t="t" l="l"/>
            <a:pathLst>
              <a:path h="1470469" w="9687877">
                <a:moveTo>
                  <a:pt x="0" y="0"/>
                </a:moveTo>
                <a:lnTo>
                  <a:pt x="9687877" y="0"/>
                </a:lnTo>
                <a:lnTo>
                  <a:pt x="9687877" y="1470469"/>
                </a:lnTo>
                <a:lnTo>
                  <a:pt x="0" y="1470469"/>
                </a:lnTo>
                <a:lnTo>
                  <a:pt x="0" y="0"/>
                </a:lnTo>
                <a:close/>
              </a:path>
            </a:pathLst>
          </a:custGeom>
          <a:blipFill>
            <a:blip r:embed="rId7">
              <a:extLst>
                <a:ext uri="{96DAC541-7B7A-43D3-8B79-37D633B846F1}">
                  <asvg:svgBlip xmlns:asvg="http://schemas.microsoft.com/office/drawing/2016/SVG/main" r:embed="rId8"/>
                </a:ext>
              </a:extLst>
            </a:blip>
            <a:stretch>
              <a:fillRect l="0" t="-156" r="0" b="-156"/>
            </a:stretch>
          </a:blipFill>
        </p:spPr>
      </p:sp>
      <p:sp>
        <p:nvSpPr>
          <p:cNvPr name="TextBox 16" id="16"/>
          <p:cNvSpPr txBox="true"/>
          <p:nvPr/>
        </p:nvSpPr>
        <p:spPr>
          <a:xfrm rot="0">
            <a:off x="1126035" y="5729609"/>
            <a:ext cx="3128219" cy="448121"/>
          </a:xfrm>
          <a:prstGeom prst="rect">
            <a:avLst/>
          </a:prstGeom>
        </p:spPr>
        <p:txBody>
          <a:bodyPr anchor="t" rtlCol="false" tIns="0" lIns="0" bIns="0" rIns="0">
            <a:spAutoFit/>
          </a:bodyPr>
          <a:lstStyle/>
          <a:p>
            <a:pPr algn="l">
              <a:lnSpc>
                <a:spcPts val="3062"/>
              </a:lnSpc>
            </a:pPr>
            <a:r>
              <a:rPr lang="en-US" sz="2436" b="true">
                <a:solidFill>
                  <a:srgbClr val="272525"/>
                </a:solidFill>
                <a:latin typeface="Inter Bold"/>
                <a:ea typeface="Inter Bold"/>
                <a:cs typeface="Inter Bold"/>
                <a:sym typeface="Inter Bold"/>
              </a:rPr>
              <a:t>Patient-Friendly</a:t>
            </a:r>
          </a:p>
        </p:txBody>
      </p:sp>
      <p:sp>
        <p:nvSpPr>
          <p:cNvPr name="TextBox 17" id="17"/>
          <p:cNvSpPr txBox="true"/>
          <p:nvPr/>
        </p:nvSpPr>
        <p:spPr>
          <a:xfrm rot="0">
            <a:off x="1106985" y="6177112"/>
            <a:ext cx="9158883" cy="657671"/>
          </a:xfrm>
          <a:prstGeom prst="rect">
            <a:avLst/>
          </a:prstGeom>
        </p:spPr>
        <p:txBody>
          <a:bodyPr anchor="t" rtlCol="false" tIns="0" lIns="0" bIns="0" rIns="0">
            <a:spAutoFit/>
          </a:bodyPr>
          <a:lstStyle/>
          <a:p>
            <a:pPr algn="l">
              <a:lnSpc>
                <a:spcPts val="3125"/>
              </a:lnSpc>
            </a:pPr>
            <a:r>
              <a:rPr lang="en-US" sz="1937">
                <a:solidFill>
                  <a:srgbClr val="272525"/>
                </a:solidFill>
                <a:latin typeface="Inter"/>
                <a:ea typeface="Inter"/>
                <a:cs typeface="Inter"/>
                <a:sym typeface="Inter"/>
              </a:rPr>
              <a:t>Weekly once injectable format ensures optimal compliance and convenience</a:t>
            </a:r>
          </a:p>
        </p:txBody>
      </p:sp>
      <p:sp>
        <p:nvSpPr>
          <p:cNvPr name="Freeform 18" id="18"/>
          <p:cNvSpPr/>
          <p:nvPr/>
        </p:nvSpPr>
        <p:spPr>
          <a:xfrm flipH="false" flipV="false" rot="0">
            <a:off x="861567" y="7206258"/>
            <a:ext cx="9706927" cy="1928146"/>
          </a:xfrm>
          <a:custGeom>
            <a:avLst/>
            <a:gdLst/>
            <a:ahLst/>
            <a:cxnLst/>
            <a:rect r="r" b="b" t="t" l="l"/>
            <a:pathLst>
              <a:path h="1928146" w="9706927">
                <a:moveTo>
                  <a:pt x="0" y="0"/>
                </a:moveTo>
                <a:lnTo>
                  <a:pt x="9706927" y="0"/>
                </a:lnTo>
                <a:lnTo>
                  <a:pt x="9706927" y="1928146"/>
                </a:lnTo>
                <a:lnTo>
                  <a:pt x="0" y="1928146"/>
                </a:lnTo>
                <a:lnTo>
                  <a:pt x="0" y="0"/>
                </a:lnTo>
                <a:close/>
              </a:path>
            </a:pathLst>
          </a:custGeom>
          <a:blipFill>
            <a:blip r:embed="rId9">
              <a:extLst>
                <a:ext uri="{96DAC541-7B7A-43D3-8B79-37D633B846F1}">
                  <asvg:svgBlip xmlns:asvg="http://schemas.microsoft.com/office/drawing/2016/SVG/main" r:embed="rId10"/>
                </a:ext>
              </a:extLst>
            </a:blip>
            <a:stretch>
              <a:fillRect l="0" t="-96" r="0" b="-96"/>
            </a:stretch>
          </a:blipFill>
        </p:spPr>
      </p:sp>
      <p:sp>
        <p:nvSpPr>
          <p:cNvPr name="TextBox 19" id="19"/>
          <p:cNvSpPr txBox="true"/>
          <p:nvPr/>
        </p:nvSpPr>
        <p:spPr>
          <a:xfrm rot="0">
            <a:off x="1126035" y="7606858"/>
            <a:ext cx="3128219" cy="448121"/>
          </a:xfrm>
          <a:prstGeom prst="rect">
            <a:avLst/>
          </a:prstGeom>
        </p:spPr>
        <p:txBody>
          <a:bodyPr anchor="t" rtlCol="false" tIns="0" lIns="0" bIns="0" rIns="0">
            <a:spAutoFit/>
          </a:bodyPr>
          <a:lstStyle/>
          <a:p>
            <a:pPr algn="l">
              <a:lnSpc>
                <a:spcPts val="3062"/>
              </a:lnSpc>
            </a:pPr>
            <a:r>
              <a:rPr lang="en-US" sz="2436" b="true">
                <a:solidFill>
                  <a:srgbClr val="272525"/>
                </a:solidFill>
                <a:latin typeface="Inter Bold"/>
                <a:ea typeface="Inter Bold"/>
                <a:cs typeface="Inter Bold"/>
                <a:sym typeface="Inter Bold"/>
              </a:rPr>
              <a:t>Eligible Patients</a:t>
            </a:r>
          </a:p>
        </p:txBody>
      </p:sp>
      <p:sp>
        <p:nvSpPr>
          <p:cNvPr name="TextBox 20" id="20"/>
          <p:cNvSpPr txBox="true"/>
          <p:nvPr/>
        </p:nvSpPr>
        <p:spPr>
          <a:xfrm rot="0">
            <a:off x="1126035" y="7998881"/>
            <a:ext cx="9120782" cy="850824"/>
          </a:xfrm>
          <a:prstGeom prst="rect">
            <a:avLst/>
          </a:prstGeom>
        </p:spPr>
        <p:txBody>
          <a:bodyPr anchor="t" rtlCol="false" tIns="0" lIns="0" bIns="0" rIns="0">
            <a:spAutoFit/>
          </a:bodyPr>
          <a:lstStyle/>
          <a:p>
            <a:pPr algn="l">
              <a:lnSpc>
                <a:spcPts val="3125"/>
              </a:lnSpc>
            </a:pPr>
            <a:r>
              <a:rPr lang="en-US" sz="1937">
                <a:solidFill>
                  <a:srgbClr val="272525"/>
                </a:solidFill>
                <a:latin typeface="Inter"/>
                <a:ea typeface="Inter"/>
                <a:cs typeface="Inter"/>
                <a:sym typeface="Inter"/>
              </a:rPr>
              <a:t>BMI ≥ 30, or BMI ≥ 27 with comorbidities including diabetes, hypertension, and cardiovascular risks</a:t>
            </a:r>
          </a:p>
        </p:txBody>
      </p:sp>
      <p:sp>
        <p:nvSpPr>
          <p:cNvPr name="TextBox 21" id="21"/>
          <p:cNvSpPr txBox="true"/>
          <p:nvPr/>
        </p:nvSpPr>
        <p:spPr>
          <a:xfrm rot="0">
            <a:off x="548640" y="9449554"/>
            <a:ext cx="10561320" cy="771525"/>
          </a:xfrm>
          <a:prstGeom prst="rect">
            <a:avLst/>
          </a:prstGeom>
        </p:spPr>
        <p:txBody>
          <a:bodyPr anchor="t" rtlCol="false" tIns="0" lIns="0" bIns="0" rIns="0">
            <a:spAutoFit/>
          </a:bodyPr>
          <a:lstStyle/>
          <a:p>
            <a:pPr algn="l">
              <a:lnSpc>
                <a:spcPts val="1920"/>
              </a:lnSpc>
            </a:pPr>
            <a:r>
              <a:rPr lang="en-US" sz="1600" b="true">
                <a:solidFill>
                  <a:srgbClr val="272525"/>
                </a:solidFill>
                <a:latin typeface="Calibri (MS) Bold"/>
                <a:ea typeface="Calibri (MS) Bold"/>
                <a:cs typeface="Calibri (MS) Bold"/>
                <a:sym typeface="Calibri (MS) Bold"/>
              </a:rPr>
              <a:t>Source:- </a:t>
            </a:r>
            <a:r>
              <a:rPr lang="en-US" sz="1600">
                <a:solidFill>
                  <a:srgbClr val="000000"/>
                </a:solidFill>
                <a:latin typeface="Calibri (MS)"/>
                <a:ea typeface="Calibri (MS)"/>
                <a:cs typeface="Calibri (MS)"/>
                <a:sym typeface="Calibri (MS)"/>
              </a:rPr>
              <a:t>Wegovy. (n.d.). </a:t>
            </a:r>
            <a:r>
              <a:rPr lang="en-US" sz="1600" i="true">
                <a:solidFill>
                  <a:srgbClr val="000000"/>
                </a:solidFill>
                <a:latin typeface="Calibri (MS) Italics"/>
                <a:ea typeface="Calibri (MS) Italics"/>
                <a:cs typeface="Calibri (MS) Italics"/>
                <a:sym typeface="Calibri (MS) Italics"/>
              </a:rPr>
              <a:t>Weight‐Loss Prescription Medication | WegovyTM (semaglutide) Injection 2.4 mg</a:t>
            </a:r>
            <a:r>
              <a:rPr lang="en-US" sz="1600">
                <a:solidFill>
                  <a:srgbClr val="000000"/>
                </a:solidFill>
                <a:latin typeface="Calibri (MS)"/>
                <a:ea typeface="Calibri (MS)"/>
                <a:cs typeface="Calibri (MS)"/>
                <a:sym typeface="Calibri (MS)"/>
              </a:rPr>
              <a:t>. Www.wegovy.com. </a:t>
            </a:r>
            <a:r>
              <a:rPr lang="en-US" sz="1600" u="sng">
                <a:solidFill>
                  <a:srgbClr val="0000FF"/>
                </a:solidFill>
                <a:latin typeface="Calibri (MS)"/>
                <a:ea typeface="Calibri (MS)"/>
                <a:cs typeface="Calibri (MS)"/>
                <a:sym typeface="Calibri (MS)"/>
                <a:hlinkClick r:id="rId11" tooltip="https://www.wegovy.com/"/>
              </a:rPr>
              <a:t>https://www.wegovy.com/</a:t>
            </a:r>
          </a:p>
          <a:p>
            <a:pPr algn="l">
              <a:lnSpc>
                <a:spcPts val="1920"/>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6F4F4"/>
            </a:solidFill>
          </p:spPr>
        </p:sp>
      </p:grpSp>
      <p:grpSp>
        <p:nvGrpSpPr>
          <p:cNvPr name="Group 4" id="4"/>
          <p:cNvGrpSpPr/>
          <p:nvPr/>
        </p:nvGrpSpPr>
        <p:grpSpPr>
          <a:xfrm rot="0">
            <a:off x="9525"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8" y="942975"/>
            <a:ext cx="7088237" cy="971699"/>
          </a:xfrm>
          <a:prstGeom prst="rect">
            <a:avLst/>
          </a:prstGeom>
        </p:spPr>
        <p:txBody>
          <a:bodyPr anchor="t" rtlCol="false" tIns="0" lIns="0" bIns="0" rIns="0">
            <a:spAutoFit/>
          </a:bodyPr>
          <a:lstStyle/>
          <a:p>
            <a:pPr algn="l">
              <a:lnSpc>
                <a:spcPts val="6936"/>
              </a:lnSpc>
            </a:pPr>
            <a:r>
              <a:rPr lang="en-US" sz="5562" b="true">
                <a:solidFill>
                  <a:srgbClr val="000000"/>
                </a:solidFill>
                <a:latin typeface="Inter Bold"/>
                <a:ea typeface="Inter Bold"/>
                <a:cs typeface="Inter Bold"/>
                <a:sym typeface="Inter Bold"/>
              </a:rPr>
              <a:t>Target Population</a:t>
            </a:r>
          </a:p>
        </p:txBody>
      </p:sp>
      <p:sp>
        <p:nvSpPr>
          <p:cNvPr name="TextBox 7" id="7"/>
          <p:cNvSpPr txBox="true"/>
          <p:nvPr/>
        </p:nvSpPr>
        <p:spPr>
          <a:xfrm rot="0">
            <a:off x="1028700" y="2054572"/>
            <a:ext cx="16303526" cy="1123270"/>
          </a:xfrm>
          <a:prstGeom prst="rect">
            <a:avLst/>
          </a:prstGeom>
        </p:spPr>
        <p:txBody>
          <a:bodyPr anchor="t" rtlCol="false" tIns="0" lIns="0" bIns="0" rIns="0">
            <a:spAutoFit/>
          </a:bodyPr>
          <a:lstStyle/>
          <a:p>
            <a:pPr algn="l">
              <a:lnSpc>
                <a:spcPts val="3723"/>
              </a:lnSpc>
            </a:pPr>
            <a:r>
              <a:rPr lang="en-US" sz="2286">
                <a:solidFill>
                  <a:srgbClr val="272525"/>
                </a:solidFill>
                <a:latin typeface="Inter"/>
                <a:ea typeface="Inter"/>
                <a:cs typeface="Inter"/>
                <a:sym typeface="Inter"/>
              </a:rPr>
              <a:t>Indicated for individuals aged 12 years and older who have obesity, or who are overweight with significant comorbidities requiring medical intervention.</a:t>
            </a:r>
          </a:p>
        </p:txBody>
      </p:sp>
      <p:grpSp>
        <p:nvGrpSpPr>
          <p:cNvPr name="Group 8" id="8"/>
          <p:cNvGrpSpPr/>
          <p:nvPr/>
        </p:nvGrpSpPr>
        <p:grpSpPr>
          <a:xfrm rot="0">
            <a:off x="1028700" y="3816251"/>
            <a:ext cx="850582" cy="850582"/>
            <a:chOff x="0" y="0"/>
            <a:chExt cx="1134110" cy="1134110"/>
          </a:xfrm>
        </p:grpSpPr>
        <p:sp>
          <p:nvSpPr>
            <p:cNvPr name="Freeform 9" id="9" descr="preencoded.png"/>
            <p:cNvSpPr/>
            <p:nvPr/>
          </p:nvSpPr>
          <p:spPr>
            <a:xfrm flipH="false" flipV="false" rot="0">
              <a:off x="0" y="0"/>
              <a:ext cx="1134110" cy="1134110"/>
            </a:xfrm>
            <a:custGeom>
              <a:avLst/>
              <a:gdLst/>
              <a:ahLst/>
              <a:cxnLst/>
              <a:rect r="r" b="b" t="t" l="l"/>
              <a:pathLst>
                <a:path h="1134110" w="1134110">
                  <a:moveTo>
                    <a:pt x="0" y="0"/>
                  </a:moveTo>
                  <a:lnTo>
                    <a:pt x="1134110" y="0"/>
                  </a:lnTo>
                  <a:lnTo>
                    <a:pt x="1134110" y="1134110"/>
                  </a:lnTo>
                  <a:lnTo>
                    <a:pt x="0" y="1134110"/>
                  </a:lnTo>
                  <a:lnTo>
                    <a:pt x="0" y="0"/>
                  </a:lnTo>
                  <a:close/>
                </a:path>
              </a:pathLst>
            </a:custGeom>
            <a:blipFill>
              <a:blip r:embed="rId2"/>
              <a:stretch>
                <a:fillRect l="0" t="0" r="0" b="0"/>
              </a:stretch>
            </a:blipFill>
          </p:spPr>
        </p:sp>
      </p:grpSp>
      <p:sp>
        <p:nvSpPr>
          <p:cNvPr name="TextBox 10" id="10"/>
          <p:cNvSpPr txBox="true"/>
          <p:nvPr/>
        </p:nvSpPr>
        <p:spPr>
          <a:xfrm rot="0">
            <a:off x="1028700" y="4864894"/>
            <a:ext cx="3544044" cy="500062"/>
          </a:xfrm>
          <a:prstGeom prst="rect">
            <a:avLst/>
          </a:prstGeom>
        </p:spPr>
        <p:txBody>
          <a:bodyPr anchor="t" rtlCol="false" tIns="0" lIns="0" bIns="0" rIns="0">
            <a:spAutoFit/>
          </a:bodyPr>
          <a:lstStyle/>
          <a:p>
            <a:pPr algn="l">
              <a:lnSpc>
                <a:spcPts val="3436"/>
              </a:lnSpc>
            </a:pPr>
            <a:r>
              <a:rPr lang="en-US" sz="2750" b="true">
                <a:solidFill>
                  <a:srgbClr val="272525"/>
                </a:solidFill>
                <a:latin typeface="Inter Bold"/>
                <a:ea typeface="Inter Bold"/>
                <a:cs typeface="Inter Bold"/>
                <a:sym typeface="Inter Bold"/>
              </a:rPr>
              <a:t>Healthcare Facilities</a:t>
            </a:r>
          </a:p>
        </p:txBody>
      </p:sp>
      <p:sp>
        <p:nvSpPr>
          <p:cNvPr name="TextBox 11" id="11"/>
          <p:cNvSpPr txBox="true"/>
          <p:nvPr/>
        </p:nvSpPr>
        <p:spPr>
          <a:xfrm rot="0">
            <a:off x="992238" y="5614541"/>
            <a:ext cx="5198269" cy="1928813"/>
          </a:xfrm>
          <a:prstGeom prst="rect">
            <a:avLst/>
          </a:prstGeom>
        </p:spPr>
        <p:txBody>
          <a:bodyPr anchor="t" rtlCol="false" tIns="0" lIns="0" bIns="0" rIns="0">
            <a:spAutoFit/>
          </a:bodyPr>
          <a:lstStyle/>
          <a:p>
            <a:pPr algn="l">
              <a:lnSpc>
                <a:spcPts val="3561"/>
              </a:lnSpc>
            </a:pPr>
            <a:r>
              <a:rPr lang="en-US" sz="2187">
                <a:solidFill>
                  <a:srgbClr val="272525"/>
                </a:solidFill>
                <a:latin typeface="Inter"/>
                <a:ea typeface="Inter"/>
                <a:cs typeface="Inter"/>
                <a:sym typeface="Inter"/>
              </a:rPr>
              <a:t>Hospitals, specialized obesity clinics, and wellness centers offering comprehensive weight management programs</a:t>
            </a:r>
          </a:p>
        </p:txBody>
      </p:sp>
      <p:grpSp>
        <p:nvGrpSpPr>
          <p:cNvPr name="Group 12" id="12"/>
          <p:cNvGrpSpPr/>
          <p:nvPr/>
        </p:nvGrpSpPr>
        <p:grpSpPr>
          <a:xfrm rot="0">
            <a:off x="6563097" y="3816251"/>
            <a:ext cx="850583" cy="850582"/>
            <a:chOff x="0" y="0"/>
            <a:chExt cx="1134110" cy="1134110"/>
          </a:xfrm>
        </p:grpSpPr>
        <p:sp>
          <p:nvSpPr>
            <p:cNvPr name="Freeform 13" id="13" descr="preencoded.png"/>
            <p:cNvSpPr/>
            <p:nvPr/>
          </p:nvSpPr>
          <p:spPr>
            <a:xfrm flipH="false" flipV="false" rot="0">
              <a:off x="0" y="0"/>
              <a:ext cx="1134110" cy="1134110"/>
            </a:xfrm>
            <a:custGeom>
              <a:avLst/>
              <a:gdLst/>
              <a:ahLst/>
              <a:cxnLst/>
              <a:rect r="r" b="b" t="t" l="l"/>
              <a:pathLst>
                <a:path h="1134110" w="1134110">
                  <a:moveTo>
                    <a:pt x="0" y="0"/>
                  </a:moveTo>
                  <a:lnTo>
                    <a:pt x="1134110" y="0"/>
                  </a:lnTo>
                  <a:lnTo>
                    <a:pt x="1134110" y="1134110"/>
                  </a:lnTo>
                  <a:lnTo>
                    <a:pt x="0" y="1134110"/>
                  </a:lnTo>
                  <a:lnTo>
                    <a:pt x="0" y="0"/>
                  </a:lnTo>
                  <a:close/>
                </a:path>
              </a:pathLst>
            </a:custGeom>
            <a:blipFill>
              <a:blip r:embed="rId3"/>
              <a:stretch>
                <a:fillRect l="0" t="0" r="0" b="0"/>
              </a:stretch>
            </a:blipFill>
          </p:spPr>
        </p:sp>
      </p:grpSp>
      <p:sp>
        <p:nvSpPr>
          <p:cNvPr name="TextBox 14" id="14"/>
          <p:cNvSpPr txBox="true"/>
          <p:nvPr/>
        </p:nvSpPr>
        <p:spPr>
          <a:xfrm rot="0">
            <a:off x="6563097" y="4864894"/>
            <a:ext cx="3646289" cy="500062"/>
          </a:xfrm>
          <a:prstGeom prst="rect">
            <a:avLst/>
          </a:prstGeom>
        </p:spPr>
        <p:txBody>
          <a:bodyPr anchor="t" rtlCol="false" tIns="0" lIns="0" bIns="0" rIns="0">
            <a:spAutoFit/>
          </a:bodyPr>
          <a:lstStyle/>
          <a:p>
            <a:pPr algn="l">
              <a:lnSpc>
                <a:spcPts val="3436"/>
              </a:lnSpc>
            </a:pPr>
            <a:r>
              <a:rPr lang="en-US" sz="2750" b="true">
                <a:solidFill>
                  <a:srgbClr val="272525"/>
                </a:solidFill>
                <a:latin typeface="Inter Bold"/>
                <a:ea typeface="Inter Bold"/>
                <a:cs typeface="Inter Bold"/>
                <a:sym typeface="Inter Bold"/>
              </a:rPr>
              <a:t>Healthcare Providers</a:t>
            </a:r>
          </a:p>
        </p:txBody>
      </p:sp>
      <p:sp>
        <p:nvSpPr>
          <p:cNvPr name="TextBox 15" id="15"/>
          <p:cNvSpPr txBox="true"/>
          <p:nvPr/>
        </p:nvSpPr>
        <p:spPr>
          <a:xfrm rot="0">
            <a:off x="6544866" y="5614541"/>
            <a:ext cx="5198269" cy="1618060"/>
          </a:xfrm>
          <a:prstGeom prst="rect">
            <a:avLst/>
          </a:prstGeom>
        </p:spPr>
        <p:txBody>
          <a:bodyPr anchor="t" rtlCol="false" tIns="0" lIns="0" bIns="0" rIns="0">
            <a:spAutoFit/>
          </a:bodyPr>
          <a:lstStyle/>
          <a:p>
            <a:pPr algn="l">
              <a:lnSpc>
                <a:spcPts val="3561"/>
              </a:lnSpc>
            </a:pPr>
            <a:r>
              <a:rPr lang="en-US" sz="2187">
                <a:solidFill>
                  <a:srgbClr val="272525"/>
                </a:solidFill>
                <a:latin typeface="Inter"/>
                <a:ea typeface="Inter"/>
                <a:cs typeface="Inter"/>
                <a:sym typeface="Inter"/>
              </a:rPr>
              <a:t>Endocrinologists, obesity specialists, and primary care physicians managing complex metabolic conditions</a:t>
            </a:r>
          </a:p>
        </p:txBody>
      </p:sp>
      <p:grpSp>
        <p:nvGrpSpPr>
          <p:cNvPr name="Group 16" id="16"/>
          <p:cNvGrpSpPr/>
          <p:nvPr/>
        </p:nvGrpSpPr>
        <p:grpSpPr>
          <a:xfrm rot="0">
            <a:off x="12099949" y="3816251"/>
            <a:ext cx="850582" cy="850582"/>
            <a:chOff x="0" y="0"/>
            <a:chExt cx="1134110" cy="1134110"/>
          </a:xfrm>
        </p:grpSpPr>
        <p:sp>
          <p:nvSpPr>
            <p:cNvPr name="Freeform 17" id="17" descr="preencoded.png"/>
            <p:cNvSpPr/>
            <p:nvPr/>
          </p:nvSpPr>
          <p:spPr>
            <a:xfrm flipH="false" flipV="false" rot="0">
              <a:off x="0" y="0"/>
              <a:ext cx="1134110" cy="1134110"/>
            </a:xfrm>
            <a:custGeom>
              <a:avLst/>
              <a:gdLst/>
              <a:ahLst/>
              <a:cxnLst/>
              <a:rect r="r" b="b" t="t" l="l"/>
              <a:pathLst>
                <a:path h="1134110" w="1134110">
                  <a:moveTo>
                    <a:pt x="0" y="0"/>
                  </a:moveTo>
                  <a:lnTo>
                    <a:pt x="1134110" y="0"/>
                  </a:lnTo>
                  <a:lnTo>
                    <a:pt x="1134110" y="1134110"/>
                  </a:lnTo>
                  <a:lnTo>
                    <a:pt x="0" y="1134110"/>
                  </a:lnTo>
                  <a:lnTo>
                    <a:pt x="0" y="0"/>
                  </a:lnTo>
                  <a:close/>
                </a:path>
              </a:pathLst>
            </a:custGeom>
            <a:blipFill>
              <a:blip r:embed="rId4"/>
              <a:stretch>
                <a:fillRect l="0" t="0" r="0" b="0"/>
              </a:stretch>
            </a:blipFill>
          </p:spPr>
        </p:sp>
      </p:grpSp>
      <p:sp>
        <p:nvSpPr>
          <p:cNvPr name="TextBox 18" id="18"/>
          <p:cNvSpPr txBox="true"/>
          <p:nvPr/>
        </p:nvSpPr>
        <p:spPr>
          <a:xfrm rot="0">
            <a:off x="12097494" y="4864894"/>
            <a:ext cx="3544044" cy="500062"/>
          </a:xfrm>
          <a:prstGeom prst="rect">
            <a:avLst/>
          </a:prstGeom>
        </p:spPr>
        <p:txBody>
          <a:bodyPr anchor="t" rtlCol="false" tIns="0" lIns="0" bIns="0" rIns="0">
            <a:spAutoFit/>
          </a:bodyPr>
          <a:lstStyle/>
          <a:p>
            <a:pPr algn="l">
              <a:lnSpc>
                <a:spcPts val="3436"/>
              </a:lnSpc>
            </a:pPr>
            <a:r>
              <a:rPr lang="en-US" sz="2750" b="true">
                <a:solidFill>
                  <a:srgbClr val="272525"/>
                </a:solidFill>
                <a:latin typeface="Inter Bold"/>
                <a:ea typeface="Inter Bold"/>
                <a:cs typeface="Inter Bold"/>
                <a:sym typeface="Inter Bold"/>
              </a:rPr>
              <a:t>Patients</a:t>
            </a:r>
          </a:p>
        </p:txBody>
      </p:sp>
      <p:sp>
        <p:nvSpPr>
          <p:cNvPr name="TextBox 19" id="19"/>
          <p:cNvSpPr txBox="true"/>
          <p:nvPr/>
        </p:nvSpPr>
        <p:spPr>
          <a:xfrm rot="0">
            <a:off x="11927378" y="5471666"/>
            <a:ext cx="5198269" cy="2071687"/>
          </a:xfrm>
          <a:prstGeom prst="rect">
            <a:avLst/>
          </a:prstGeom>
        </p:spPr>
        <p:txBody>
          <a:bodyPr anchor="t" rtlCol="false" tIns="0" lIns="0" bIns="0" rIns="0">
            <a:spAutoFit/>
          </a:bodyPr>
          <a:lstStyle/>
          <a:p>
            <a:pPr algn="l">
              <a:lnSpc>
                <a:spcPts val="3561"/>
              </a:lnSpc>
            </a:pPr>
            <a:r>
              <a:rPr lang="en-US" sz="2187">
                <a:solidFill>
                  <a:srgbClr val="272525"/>
                </a:solidFill>
                <a:latin typeface="Inter"/>
                <a:ea typeface="Inter"/>
                <a:cs typeface="Inter"/>
                <a:sym typeface="Inter"/>
              </a:rPr>
              <a:t>Individuals seeking long-term, medically-supervised weight management solutions beyond traditional diet and exercise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6F4F4"/>
            </a:solidFill>
          </p:spPr>
        </p:sp>
      </p:grpSp>
      <p:sp>
        <p:nvSpPr>
          <p:cNvPr name="TextBox 4" id="4"/>
          <p:cNvSpPr txBox="true"/>
          <p:nvPr/>
        </p:nvSpPr>
        <p:spPr>
          <a:xfrm rot="0">
            <a:off x="685800" y="389585"/>
            <a:ext cx="9445526" cy="1825602"/>
          </a:xfrm>
          <a:prstGeom prst="rect">
            <a:avLst/>
          </a:prstGeom>
        </p:spPr>
        <p:txBody>
          <a:bodyPr anchor="t" rtlCol="false" tIns="0" lIns="0" bIns="0" rIns="0">
            <a:spAutoFit/>
          </a:bodyPr>
          <a:lstStyle/>
          <a:p>
            <a:pPr algn="l">
              <a:lnSpc>
                <a:spcPts val="6936"/>
              </a:lnSpc>
            </a:pPr>
            <a:r>
              <a:rPr lang="en-US" sz="4800" b="true">
                <a:solidFill>
                  <a:srgbClr val="000000"/>
                </a:solidFill>
                <a:latin typeface="Inter Bold"/>
                <a:ea typeface="Inter Bold"/>
                <a:cs typeface="Inter Bold"/>
                <a:sym typeface="Inter Bold"/>
              </a:rPr>
              <a:t>Obesity Prevalence Across India</a:t>
            </a:r>
          </a:p>
        </p:txBody>
      </p:sp>
      <p:sp>
        <p:nvSpPr>
          <p:cNvPr name="TextBox 5" id="5"/>
          <p:cNvSpPr txBox="true"/>
          <p:nvPr/>
        </p:nvSpPr>
        <p:spPr>
          <a:xfrm rot="0">
            <a:off x="685800" y="3016647"/>
            <a:ext cx="8273526" cy="428970"/>
          </a:xfrm>
          <a:prstGeom prst="rect">
            <a:avLst/>
          </a:prstGeom>
        </p:spPr>
        <p:txBody>
          <a:bodyPr anchor="t" rtlCol="false" tIns="0" lIns="0" bIns="0" rIns="0">
            <a:spAutoFit/>
          </a:bodyPr>
          <a:lstStyle/>
          <a:p>
            <a:pPr algn="l">
              <a:lnSpc>
                <a:spcPts val="3436"/>
              </a:lnSpc>
            </a:pPr>
            <a:r>
              <a:rPr lang="en-US" sz="2750" b="true">
                <a:solidFill>
                  <a:srgbClr val="000000"/>
                </a:solidFill>
                <a:latin typeface="Inter Bold"/>
                <a:ea typeface="Inter Bold"/>
                <a:cs typeface="Inter Bold"/>
                <a:sym typeface="Inter Bold"/>
              </a:rPr>
              <a:t>Top States by Number of Obese Patients</a:t>
            </a:r>
          </a:p>
        </p:txBody>
      </p:sp>
      <p:sp>
        <p:nvSpPr>
          <p:cNvPr name="TextBox 6" id="6"/>
          <p:cNvSpPr txBox="true"/>
          <p:nvPr/>
        </p:nvSpPr>
        <p:spPr>
          <a:xfrm rot="0">
            <a:off x="685800" y="3533775"/>
            <a:ext cx="8806926" cy="1882948"/>
          </a:xfrm>
          <a:prstGeom prst="rect">
            <a:avLst/>
          </a:prstGeom>
        </p:spPr>
        <p:txBody>
          <a:bodyPr anchor="t" rtlCol="false" tIns="0" lIns="0" bIns="0" rIns="0">
            <a:spAutoFit/>
          </a:bodyPr>
          <a:lstStyle/>
          <a:p>
            <a:pPr algn="just">
              <a:lnSpc>
                <a:spcPts val="3561"/>
              </a:lnSpc>
            </a:pPr>
            <a:r>
              <a:rPr lang="en-US" sz="2187">
                <a:solidFill>
                  <a:srgbClr val="272525"/>
                </a:solidFill>
                <a:latin typeface="Inter"/>
                <a:ea typeface="Inter"/>
                <a:cs typeface="Inter"/>
                <a:sym typeface="Inter"/>
              </a:rPr>
              <a:t>Maharashtra (4.7M), Tamil Nadu (3.8M), Uttar Pradesh (3.7M), Karnataka (3.5M), and Andhra Pradesh (3.2M) lead in the obesity burden, followed by other states, with urban areas showing higher rates than rural areas.</a:t>
            </a:r>
          </a:p>
        </p:txBody>
      </p:sp>
      <p:sp>
        <p:nvSpPr>
          <p:cNvPr name="TextBox 7" id="7"/>
          <p:cNvSpPr txBox="true"/>
          <p:nvPr/>
        </p:nvSpPr>
        <p:spPr>
          <a:xfrm rot="0">
            <a:off x="685800" y="6133877"/>
            <a:ext cx="4243536" cy="500062"/>
          </a:xfrm>
          <a:prstGeom prst="rect">
            <a:avLst/>
          </a:prstGeom>
        </p:spPr>
        <p:txBody>
          <a:bodyPr anchor="t" rtlCol="false" tIns="0" lIns="0" bIns="0" rIns="0">
            <a:spAutoFit/>
          </a:bodyPr>
          <a:lstStyle/>
          <a:p>
            <a:pPr algn="l">
              <a:lnSpc>
                <a:spcPts val="3436"/>
              </a:lnSpc>
            </a:pPr>
            <a:r>
              <a:rPr lang="en-US" sz="2750" b="true">
                <a:solidFill>
                  <a:srgbClr val="000000"/>
                </a:solidFill>
                <a:latin typeface="Inter Bold"/>
                <a:ea typeface="Inter Bold"/>
                <a:cs typeface="Inter Bold"/>
                <a:sym typeface="Inter Bold"/>
              </a:rPr>
              <a:t>Tier 1 &amp; Tier 2 City Focus</a:t>
            </a:r>
          </a:p>
        </p:txBody>
      </p:sp>
      <p:sp>
        <p:nvSpPr>
          <p:cNvPr name="TextBox 8" id="8"/>
          <p:cNvSpPr txBox="true"/>
          <p:nvPr/>
        </p:nvSpPr>
        <p:spPr>
          <a:xfrm rot="0">
            <a:off x="685800" y="6657975"/>
            <a:ext cx="8806926" cy="1507008"/>
          </a:xfrm>
          <a:prstGeom prst="rect">
            <a:avLst/>
          </a:prstGeom>
        </p:spPr>
        <p:txBody>
          <a:bodyPr anchor="t" rtlCol="false" tIns="0" lIns="0" bIns="0" rIns="0">
            <a:spAutoFit/>
          </a:bodyPr>
          <a:lstStyle/>
          <a:p>
            <a:pPr algn="just">
              <a:lnSpc>
                <a:spcPts val="3561"/>
              </a:lnSpc>
            </a:pPr>
            <a:r>
              <a:rPr lang="en-US" sz="2187">
                <a:solidFill>
                  <a:srgbClr val="272525"/>
                </a:solidFill>
                <a:latin typeface="Inter"/>
                <a:ea typeface="Inter"/>
                <a:cs typeface="Inter"/>
                <a:sym typeface="Inter"/>
              </a:rPr>
              <a:t>City-level distribution enables precise targeting of high-opportunity markets for optimal resource allocation and market penetration strategies.</a:t>
            </a:r>
          </a:p>
        </p:txBody>
      </p:sp>
      <p:sp>
        <p:nvSpPr>
          <p:cNvPr name="TextBox 9" id="9"/>
          <p:cNvSpPr txBox="true"/>
          <p:nvPr/>
        </p:nvSpPr>
        <p:spPr>
          <a:xfrm rot="0">
            <a:off x="666750" y="9683120"/>
            <a:ext cx="9519920" cy="515888"/>
          </a:xfrm>
          <a:prstGeom prst="rect">
            <a:avLst/>
          </a:prstGeom>
        </p:spPr>
        <p:txBody>
          <a:bodyPr anchor="t" rtlCol="false" tIns="0" lIns="0" bIns="0" rIns="0">
            <a:spAutoFit/>
          </a:bodyPr>
          <a:lstStyle/>
          <a:p>
            <a:pPr algn="l">
              <a:lnSpc>
                <a:spcPts val="1920"/>
              </a:lnSpc>
            </a:pPr>
            <a:r>
              <a:rPr lang="en-US" sz="1600" b="true">
                <a:solidFill>
                  <a:srgbClr val="272525"/>
                </a:solidFill>
                <a:latin typeface="Calibri (MS) Bold"/>
                <a:ea typeface="Calibri (MS) Bold"/>
                <a:cs typeface="Calibri (MS) Bold"/>
                <a:sym typeface="Calibri (MS) Bold"/>
              </a:rPr>
              <a:t>Streamlit:- </a:t>
            </a:r>
            <a:r>
              <a:rPr lang="en-US" b="true" sz="1600" u="sng">
                <a:solidFill>
                  <a:srgbClr val="0000FF"/>
                </a:solidFill>
                <a:latin typeface="Calibri (MS) Bold"/>
                <a:ea typeface="Calibri (MS) Bold"/>
                <a:cs typeface="Calibri (MS) Bold"/>
                <a:sym typeface="Calibri (MS) Bold"/>
                <a:hlinkClick r:id="rId2" tooltip="https://novo-nordisk-hackathon2025-8adxnittedsk6gbmrfbgy3.streamlit.app/"/>
              </a:rPr>
              <a:t>https://novo-nordisk-hackathon2025-8adxnittedsk6gbmrfbgy3.streamlit.app/</a:t>
            </a:r>
          </a:p>
          <a:p>
            <a:pPr algn="l">
              <a:lnSpc>
                <a:spcPts val="1920"/>
              </a:lnSpc>
            </a:pPr>
          </a:p>
        </p:txBody>
      </p:sp>
      <p:sp>
        <p:nvSpPr>
          <p:cNvPr name="TextBox 10" id="10"/>
          <p:cNvSpPr txBox="true"/>
          <p:nvPr/>
        </p:nvSpPr>
        <p:spPr>
          <a:xfrm rot="0">
            <a:off x="685800" y="8740470"/>
            <a:ext cx="9519920" cy="1003201"/>
          </a:xfrm>
          <a:prstGeom prst="rect">
            <a:avLst/>
          </a:prstGeom>
        </p:spPr>
        <p:txBody>
          <a:bodyPr anchor="t" rtlCol="false" tIns="0" lIns="0" bIns="0" rIns="0">
            <a:spAutoFit/>
          </a:bodyPr>
          <a:lstStyle/>
          <a:p>
            <a:pPr algn="l">
              <a:lnSpc>
                <a:spcPts val="1920"/>
              </a:lnSpc>
            </a:pPr>
            <a:r>
              <a:rPr lang="en-US" sz="1600" b="true">
                <a:solidFill>
                  <a:srgbClr val="272525"/>
                </a:solidFill>
                <a:latin typeface="Calibri (MS) Bold"/>
                <a:ea typeface="Calibri (MS) Bold"/>
                <a:cs typeface="Calibri (MS) Bold"/>
                <a:sym typeface="Calibri (MS) Bold"/>
              </a:rPr>
              <a:t>Source:- Sung, M., Kumar, A., Mishra, R., Kulkarni, B., Kim, R., &amp; Subramanian, S. V. (2024). Temporal change in prevalence of BMI categories in India: patterns across States and Union territories of India, 1999–2021. BMC Public Health, 24(1). </a:t>
            </a:r>
            <a:r>
              <a:rPr lang="en-US" b="true" sz="1600" u="sng">
                <a:solidFill>
                  <a:srgbClr val="0000FF"/>
                </a:solidFill>
                <a:latin typeface="Calibri (MS) Bold"/>
                <a:ea typeface="Calibri (MS) Bold"/>
                <a:cs typeface="Calibri (MS) Bold"/>
                <a:sym typeface="Calibri (MS) Bold"/>
                <a:hlinkClick r:id="rId3" tooltip="https://doi.org/10.1186/s12889-024-18784-4"/>
              </a:rPr>
              <a:t>https://doi.org/10.1186/s12889-024-18784-4</a:t>
            </a:r>
          </a:p>
          <a:p>
            <a:pPr algn="l">
              <a:lnSpc>
                <a:spcPts val="1920"/>
              </a:lnSpc>
            </a:pPr>
          </a:p>
        </p:txBody>
      </p:sp>
      <p:grpSp>
        <p:nvGrpSpPr>
          <p:cNvPr name="Group 11" id="11"/>
          <p:cNvGrpSpPr/>
          <p:nvPr/>
        </p:nvGrpSpPr>
        <p:grpSpPr>
          <a:xfrm rot="0">
            <a:off x="10398491" y="-35290"/>
            <a:ext cx="7908560" cy="10322290"/>
            <a:chOff x="0" y="0"/>
            <a:chExt cx="10544747" cy="13763053"/>
          </a:xfrm>
        </p:grpSpPr>
        <p:sp>
          <p:nvSpPr>
            <p:cNvPr name="Freeform 12" id="12"/>
            <p:cNvSpPr/>
            <p:nvPr/>
          </p:nvSpPr>
          <p:spPr>
            <a:xfrm flipH="false" flipV="false" rot="0">
              <a:off x="0" y="0"/>
              <a:ext cx="10544810" cy="13762989"/>
            </a:xfrm>
            <a:custGeom>
              <a:avLst/>
              <a:gdLst/>
              <a:ahLst/>
              <a:cxnLst/>
              <a:rect r="r" b="b" t="t" l="l"/>
              <a:pathLst>
                <a:path h="13762989" w="10544810">
                  <a:moveTo>
                    <a:pt x="0" y="0"/>
                  </a:moveTo>
                  <a:lnTo>
                    <a:pt x="10544810" y="0"/>
                  </a:lnTo>
                  <a:lnTo>
                    <a:pt x="10544810" y="13762989"/>
                  </a:lnTo>
                  <a:lnTo>
                    <a:pt x="0" y="13762989"/>
                  </a:lnTo>
                  <a:lnTo>
                    <a:pt x="0" y="0"/>
                  </a:lnTo>
                  <a:close/>
                </a:path>
              </a:pathLst>
            </a:custGeom>
            <a:blipFill>
              <a:blip r:embed="rId4"/>
              <a:stretch>
                <a:fillRect l="-7955" t="0" r="-7954" b="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6F4F4"/>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5883100" y="1214438"/>
            <a:ext cx="7088237" cy="928687"/>
          </a:xfrm>
          <a:prstGeom prst="rect">
            <a:avLst/>
          </a:prstGeom>
        </p:spPr>
        <p:txBody>
          <a:bodyPr anchor="t" rtlCol="false" tIns="0" lIns="0" bIns="0" rIns="0">
            <a:spAutoFit/>
          </a:bodyPr>
          <a:lstStyle/>
          <a:p>
            <a:pPr algn="ctr">
              <a:lnSpc>
                <a:spcPts val="6936"/>
              </a:lnSpc>
            </a:pPr>
            <a:r>
              <a:rPr lang="en-US" sz="5562" b="true">
                <a:solidFill>
                  <a:srgbClr val="000000"/>
                </a:solidFill>
                <a:latin typeface="Inter Bold"/>
                <a:ea typeface="Inter Bold"/>
                <a:cs typeface="Inter Bold"/>
                <a:sym typeface="Inter Bold"/>
              </a:rPr>
              <a:t>Key Insights</a:t>
            </a:r>
          </a:p>
        </p:txBody>
      </p:sp>
      <p:sp>
        <p:nvSpPr>
          <p:cNvPr name="Freeform 7" id="7"/>
          <p:cNvSpPr/>
          <p:nvPr/>
        </p:nvSpPr>
        <p:spPr>
          <a:xfrm flipH="false" flipV="false" rot="0">
            <a:off x="1133773" y="2552700"/>
            <a:ext cx="3720159" cy="4057567"/>
          </a:xfrm>
          <a:custGeom>
            <a:avLst/>
            <a:gdLst/>
            <a:ahLst/>
            <a:cxnLst/>
            <a:rect r="r" b="b" t="t" l="l"/>
            <a:pathLst>
              <a:path h="4057567" w="3720159">
                <a:moveTo>
                  <a:pt x="0" y="0"/>
                </a:moveTo>
                <a:lnTo>
                  <a:pt x="3720159" y="0"/>
                </a:lnTo>
                <a:lnTo>
                  <a:pt x="3720159" y="4057567"/>
                </a:lnTo>
                <a:lnTo>
                  <a:pt x="0" y="4057567"/>
                </a:lnTo>
                <a:lnTo>
                  <a:pt x="0" y="0"/>
                </a:lnTo>
                <a:close/>
              </a:path>
            </a:pathLst>
          </a:custGeom>
          <a:blipFill>
            <a:blip r:embed="rId2">
              <a:extLst>
                <a:ext uri="{96DAC541-7B7A-43D3-8B79-37D633B846F1}">
                  <asvg:svgBlip xmlns:asvg="http://schemas.microsoft.com/office/drawing/2016/SVG/main" r:embed="rId3"/>
                </a:ext>
              </a:extLst>
            </a:blip>
            <a:stretch>
              <a:fillRect l="-54" t="0" r="-54" b="0"/>
            </a:stretch>
          </a:blipFill>
        </p:spPr>
      </p:sp>
      <p:sp>
        <p:nvSpPr>
          <p:cNvPr name="TextBox 8" id="8"/>
          <p:cNvSpPr txBox="true"/>
          <p:nvPr/>
        </p:nvSpPr>
        <p:spPr>
          <a:xfrm rot="0">
            <a:off x="1088827" y="3293031"/>
            <a:ext cx="3810000" cy="802804"/>
          </a:xfrm>
          <a:prstGeom prst="rect">
            <a:avLst/>
          </a:prstGeom>
        </p:spPr>
        <p:txBody>
          <a:bodyPr anchor="t" rtlCol="false" tIns="0" lIns="0" bIns="0" rIns="0">
            <a:spAutoFit/>
          </a:bodyPr>
          <a:lstStyle/>
          <a:p>
            <a:pPr algn="ctr">
              <a:lnSpc>
                <a:spcPts val="7311"/>
              </a:lnSpc>
            </a:pPr>
            <a:r>
              <a:rPr lang="en-US" sz="7312" b="true">
                <a:solidFill>
                  <a:srgbClr val="272525"/>
                </a:solidFill>
                <a:latin typeface="Inter Bold"/>
                <a:ea typeface="Inter Bold"/>
                <a:cs typeface="Inter Bold"/>
                <a:sym typeface="Inter Bold"/>
              </a:rPr>
              <a:t>85M</a:t>
            </a:r>
          </a:p>
        </p:txBody>
      </p:sp>
      <p:sp>
        <p:nvSpPr>
          <p:cNvPr name="TextBox 9" id="9"/>
          <p:cNvSpPr txBox="true"/>
          <p:nvPr/>
        </p:nvSpPr>
        <p:spPr>
          <a:xfrm rot="0">
            <a:off x="1221730" y="4125576"/>
            <a:ext cx="3544044" cy="500062"/>
          </a:xfrm>
          <a:prstGeom prst="rect">
            <a:avLst/>
          </a:prstGeom>
        </p:spPr>
        <p:txBody>
          <a:bodyPr anchor="t" rtlCol="false" tIns="0" lIns="0" bIns="0" rIns="0">
            <a:spAutoFit/>
          </a:bodyPr>
          <a:lstStyle/>
          <a:p>
            <a:pPr algn="ctr">
              <a:lnSpc>
                <a:spcPts val="3436"/>
              </a:lnSpc>
            </a:pPr>
            <a:r>
              <a:rPr lang="en-US" sz="2750" b="true">
                <a:solidFill>
                  <a:srgbClr val="272525"/>
                </a:solidFill>
                <a:latin typeface="Inter Bold"/>
                <a:ea typeface="Inter Bold"/>
                <a:cs typeface="Inter Bold"/>
                <a:sym typeface="Inter Bold"/>
              </a:rPr>
              <a:t>Potential Patients</a:t>
            </a:r>
          </a:p>
        </p:txBody>
      </p:sp>
      <p:sp>
        <p:nvSpPr>
          <p:cNvPr name="TextBox 10" id="10"/>
          <p:cNvSpPr txBox="true"/>
          <p:nvPr/>
        </p:nvSpPr>
        <p:spPr>
          <a:xfrm rot="0">
            <a:off x="1088827" y="4538574"/>
            <a:ext cx="3810000" cy="1618060"/>
          </a:xfrm>
          <a:prstGeom prst="rect">
            <a:avLst/>
          </a:prstGeom>
        </p:spPr>
        <p:txBody>
          <a:bodyPr anchor="t" rtlCol="false" tIns="0" lIns="0" bIns="0" rIns="0">
            <a:spAutoFit/>
          </a:bodyPr>
          <a:lstStyle/>
          <a:p>
            <a:pPr algn="ctr">
              <a:lnSpc>
                <a:spcPts val="3561"/>
              </a:lnSpc>
            </a:pPr>
            <a:r>
              <a:rPr lang="en-US" sz="2187">
                <a:solidFill>
                  <a:srgbClr val="272525"/>
                </a:solidFill>
                <a:latin typeface="Inter"/>
                <a:ea typeface="Inter"/>
                <a:cs typeface="Inter"/>
                <a:sym typeface="Inter"/>
              </a:rPr>
              <a:t>Adults eligible for Wegovy treatment across India based on Obesity</a:t>
            </a:r>
          </a:p>
        </p:txBody>
      </p:sp>
      <p:sp>
        <p:nvSpPr>
          <p:cNvPr name="Freeform 11" id="11"/>
          <p:cNvSpPr/>
          <p:nvPr/>
        </p:nvSpPr>
        <p:spPr>
          <a:xfrm flipH="false" flipV="false" rot="0">
            <a:off x="5253187" y="2552700"/>
            <a:ext cx="3720159" cy="4057567"/>
          </a:xfrm>
          <a:custGeom>
            <a:avLst/>
            <a:gdLst/>
            <a:ahLst/>
            <a:cxnLst/>
            <a:rect r="r" b="b" t="t" l="l"/>
            <a:pathLst>
              <a:path h="4057567" w="3720159">
                <a:moveTo>
                  <a:pt x="0" y="0"/>
                </a:moveTo>
                <a:lnTo>
                  <a:pt x="3720159" y="0"/>
                </a:lnTo>
                <a:lnTo>
                  <a:pt x="3720159" y="4057567"/>
                </a:lnTo>
                <a:lnTo>
                  <a:pt x="0" y="4057567"/>
                </a:lnTo>
                <a:lnTo>
                  <a:pt x="0" y="0"/>
                </a:lnTo>
                <a:close/>
              </a:path>
            </a:pathLst>
          </a:custGeom>
          <a:blipFill>
            <a:blip r:embed="rId2">
              <a:extLst>
                <a:ext uri="{96DAC541-7B7A-43D3-8B79-37D633B846F1}">
                  <asvg:svgBlip xmlns:asvg="http://schemas.microsoft.com/office/drawing/2016/SVG/main" r:embed="rId3"/>
                </a:ext>
              </a:extLst>
            </a:blip>
            <a:stretch>
              <a:fillRect l="-54" t="0" r="-54" b="0"/>
            </a:stretch>
          </a:blipFill>
        </p:spPr>
      </p:sp>
      <p:sp>
        <p:nvSpPr>
          <p:cNvPr name="TextBox 12" id="12"/>
          <p:cNvSpPr txBox="true"/>
          <p:nvPr/>
        </p:nvSpPr>
        <p:spPr>
          <a:xfrm rot="0">
            <a:off x="5253187" y="3293031"/>
            <a:ext cx="3810149" cy="535484"/>
          </a:xfrm>
          <a:prstGeom prst="rect">
            <a:avLst/>
          </a:prstGeom>
        </p:spPr>
        <p:txBody>
          <a:bodyPr anchor="t" rtlCol="false" tIns="0" lIns="0" bIns="0" rIns="0">
            <a:spAutoFit/>
          </a:bodyPr>
          <a:lstStyle/>
          <a:p>
            <a:pPr algn="ctr">
              <a:lnSpc>
                <a:spcPts val="7311"/>
              </a:lnSpc>
            </a:pPr>
            <a:r>
              <a:rPr lang="en-US" sz="7312" b="true">
                <a:solidFill>
                  <a:srgbClr val="272525"/>
                </a:solidFill>
                <a:latin typeface="Inter Bold"/>
                <a:ea typeface="Inter Bold"/>
                <a:cs typeface="Inter Bold"/>
                <a:sym typeface="Inter Bold"/>
              </a:rPr>
              <a:t>5.8%</a:t>
            </a:r>
          </a:p>
        </p:txBody>
      </p:sp>
      <p:sp>
        <p:nvSpPr>
          <p:cNvPr name="TextBox 13" id="13"/>
          <p:cNvSpPr txBox="true"/>
          <p:nvPr/>
        </p:nvSpPr>
        <p:spPr>
          <a:xfrm rot="0">
            <a:off x="5253187" y="4125576"/>
            <a:ext cx="3810149" cy="942975"/>
          </a:xfrm>
          <a:prstGeom prst="rect">
            <a:avLst/>
          </a:prstGeom>
        </p:spPr>
        <p:txBody>
          <a:bodyPr anchor="t" rtlCol="false" tIns="0" lIns="0" bIns="0" rIns="0">
            <a:spAutoFit/>
          </a:bodyPr>
          <a:lstStyle/>
          <a:p>
            <a:pPr algn="ctr">
              <a:lnSpc>
                <a:spcPts val="3436"/>
              </a:lnSpc>
            </a:pPr>
            <a:r>
              <a:rPr lang="en-US" sz="2750" b="true">
                <a:solidFill>
                  <a:srgbClr val="272525"/>
                </a:solidFill>
                <a:latin typeface="Inter Bold"/>
                <a:ea typeface="Inter Bold"/>
                <a:cs typeface="Inter Bold"/>
                <a:sym typeface="Inter Bold"/>
              </a:rPr>
              <a:t>Obesity Prevalence (2021)</a:t>
            </a:r>
          </a:p>
        </p:txBody>
      </p:sp>
      <p:sp>
        <p:nvSpPr>
          <p:cNvPr name="TextBox 14" id="14"/>
          <p:cNvSpPr txBox="true"/>
          <p:nvPr/>
        </p:nvSpPr>
        <p:spPr>
          <a:xfrm rot="0">
            <a:off x="5253187" y="4981486"/>
            <a:ext cx="3810149" cy="710804"/>
          </a:xfrm>
          <a:prstGeom prst="rect">
            <a:avLst/>
          </a:prstGeom>
        </p:spPr>
        <p:txBody>
          <a:bodyPr anchor="t" rtlCol="false" tIns="0" lIns="0" bIns="0" rIns="0">
            <a:spAutoFit/>
          </a:bodyPr>
          <a:lstStyle/>
          <a:p>
            <a:pPr algn="ctr">
              <a:lnSpc>
                <a:spcPts val="3561"/>
              </a:lnSpc>
            </a:pPr>
            <a:r>
              <a:rPr lang="en-US" sz="2187">
                <a:solidFill>
                  <a:srgbClr val="272525"/>
                </a:solidFill>
                <a:latin typeface="Inter"/>
                <a:ea typeface="Inter"/>
                <a:cs typeface="Inter"/>
                <a:sym typeface="Inter"/>
              </a:rPr>
              <a:t>Women: 6.3% | Men: 4.2%</a:t>
            </a:r>
          </a:p>
        </p:txBody>
      </p:sp>
      <p:sp>
        <p:nvSpPr>
          <p:cNvPr name="Freeform 15" id="15"/>
          <p:cNvSpPr/>
          <p:nvPr/>
        </p:nvSpPr>
        <p:spPr>
          <a:xfrm flipH="false" flipV="false" rot="0">
            <a:off x="9372600" y="2552700"/>
            <a:ext cx="3720159" cy="4057567"/>
          </a:xfrm>
          <a:custGeom>
            <a:avLst/>
            <a:gdLst/>
            <a:ahLst/>
            <a:cxnLst/>
            <a:rect r="r" b="b" t="t" l="l"/>
            <a:pathLst>
              <a:path h="4057567" w="3720159">
                <a:moveTo>
                  <a:pt x="0" y="0"/>
                </a:moveTo>
                <a:lnTo>
                  <a:pt x="3720159" y="0"/>
                </a:lnTo>
                <a:lnTo>
                  <a:pt x="3720159" y="4057567"/>
                </a:lnTo>
                <a:lnTo>
                  <a:pt x="0" y="4057567"/>
                </a:lnTo>
                <a:lnTo>
                  <a:pt x="0" y="0"/>
                </a:lnTo>
                <a:close/>
              </a:path>
            </a:pathLst>
          </a:custGeom>
          <a:blipFill>
            <a:blip r:embed="rId2">
              <a:extLst>
                <a:ext uri="{96DAC541-7B7A-43D3-8B79-37D633B846F1}">
                  <asvg:svgBlip xmlns:asvg="http://schemas.microsoft.com/office/drawing/2016/SVG/main" r:embed="rId3"/>
                </a:ext>
              </a:extLst>
            </a:blip>
            <a:stretch>
              <a:fillRect l="-54" t="0" r="-54" b="0"/>
            </a:stretch>
          </a:blipFill>
        </p:spPr>
      </p:sp>
      <p:sp>
        <p:nvSpPr>
          <p:cNvPr name="TextBox 16" id="16"/>
          <p:cNvSpPr txBox="true"/>
          <p:nvPr/>
        </p:nvSpPr>
        <p:spPr>
          <a:xfrm rot="0">
            <a:off x="9239293" y="3200684"/>
            <a:ext cx="3810149" cy="535484"/>
          </a:xfrm>
          <a:prstGeom prst="rect">
            <a:avLst/>
          </a:prstGeom>
        </p:spPr>
        <p:txBody>
          <a:bodyPr anchor="t" rtlCol="false" tIns="0" lIns="0" bIns="0" rIns="0">
            <a:spAutoFit/>
          </a:bodyPr>
          <a:lstStyle/>
          <a:p>
            <a:pPr algn="ctr">
              <a:lnSpc>
                <a:spcPts val="7311"/>
              </a:lnSpc>
            </a:pPr>
            <a:r>
              <a:rPr lang="en-US" sz="7312" b="true">
                <a:solidFill>
                  <a:srgbClr val="272525"/>
                </a:solidFill>
                <a:latin typeface="Inter Bold"/>
                <a:ea typeface="Inter Bold"/>
                <a:cs typeface="Inter Bold"/>
                <a:sym typeface="Inter Bold"/>
              </a:rPr>
              <a:t>2x</a:t>
            </a:r>
          </a:p>
        </p:txBody>
      </p:sp>
      <p:sp>
        <p:nvSpPr>
          <p:cNvPr name="TextBox 17" id="17"/>
          <p:cNvSpPr txBox="true"/>
          <p:nvPr/>
        </p:nvSpPr>
        <p:spPr>
          <a:xfrm rot="0">
            <a:off x="9372345" y="4033229"/>
            <a:ext cx="3544044" cy="500062"/>
          </a:xfrm>
          <a:prstGeom prst="rect">
            <a:avLst/>
          </a:prstGeom>
        </p:spPr>
        <p:txBody>
          <a:bodyPr anchor="t" rtlCol="false" tIns="0" lIns="0" bIns="0" rIns="0">
            <a:spAutoFit/>
          </a:bodyPr>
          <a:lstStyle/>
          <a:p>
            <a:pPr algn="ctr">
              <a:lnSpc>
                <a:spcPts val="3436"/>
              </a:lnSpc>
            </a:pPr>
            <a:r>
              <a:rPr lang="en-US" sz="2750" b="true">
                <a:solidFill>
                  <a:srgbClr val="272525"/>
                </a:solidFill>
                <a:latin typeface="Inter Bold"/>
                <a:ea typeface="Inter Bold"/>
                <a:cs typeface="Inter Bold"/>
                <a:sym typeface="Inter Bold"/>
              </a:rPr>
              <a:t>Urban-Rural Gap</a:t>
            </a:r>
          </a:p>
        </p:txBody>
      </p:sp>
      <p:sp>
        <p:nvSpPr>
          <p:cNvPr name="TextBox 18" id="18"/>
          <p:cNvSpPr txBox="true"/>
          <p:nvPr/>
        </p:nvSpPr>
        <p:spPr>
          <a:xfrm rot="0">
            <a:off x="9417694" y="4538574"/>
            <a:ext cx="3810149" cy="1618060"/>
          </a:xfrm>
          <a:prstGeom prst="rect">
            <a:avLst/>
          </a:prstGeom>
        </p:spPr>
        <p:txBody>
          <a:bodyPr anchor="t" rtlCol="false" tIns="0" lIns="0" bIns="0" rIns="0">
            <a:spAutoFit/>
          </a:bodyPr>
          <a:lstStyle/>
          <a:p>
            <a:pPr algn="ctr">
              <a:lnSpc>
                <a:spcPts val="3561"/>
              </a:lnSpc>
            </a:pPr>
            <a:r>
              <a:rPr lang="en-US" sz="2187">
                <a:solidFill>
                  <a:srgbClr val="272525"/>
                </a:solidFill>
                <a:latin typeface="Inter"/>
                <a:ea typeface="Inter"/>
                <a:cs typeface="Inter"/>
                <a:sym typeface="Inter"/>
              </a:rPr>
              <a:t>Urban areas having twice the obesity prevalence of rural areas</a:t>
            </a:r>
          </a:p>
        </p:txBody>
      </p:sp>
      <p:sp>
        <p:nvSpPr>
          <p:cNvPr name="Freeform 19" id="19"/>
          <p:cNvSpPr/>
          <p:nvPr/>
        </p:nvSpPr>
        <p:spPr>
          <a:xfrm flipH="false" flipV="false" rot="0">
            <a:off x="13512333" y="2552700"/>
            <a:ext cx="3720159" cy="4057567"/>
          </a:xfrm>
          <a:custGeom>
            <a:avLst/>
            <a:gdLst/>
            <a:ahLst/>
            <a:cxnLst/>
            <a:rect r="r" b="b" t="t" l="l"/>
            <a:pathLst>
              <a:path h="4057567" w="3720159">
                <a:moveTo>
                  <a:pt x="0" y="0"/>
                </a:moveTo>
                <a:lnTo>
                  <a:pt x="3720159" y="0"/>
                </a:lnTo>
                <a:lnTo>
                  <a:pt x="3720159" y="4057567"/>
                </a:lnTo>
                <a:lnTo>
                  <a:pt x="0" y="4057567"/>
                </a:lnTo>
                <a:lnTo>
                  <a:pt x="0" y="0"/>
                </a:lnTo>
                <a:close/>
              </a:path>
            </a:pathLst>
          </a:custGeom>
          <a:blipFill>
            <a:blip r:embed="rId2">
              <a:extLst>
                <a:ext uri="{96DAC541-7B7A-43D3-8B79-37D633B846F1}">
                  <asvg:svgBlip xmlns:asvg="http://schemas.microsoft.com/office/drawing/2016/SVG/main" r:embed="rId3"/>
                </a:ext>
              </a:extLst>
            </a:blip>
            <a:stretch>
              <a:fillRect l="-54" t="0" r="-54" b="0"/>
            </a:stretch>
          </a:blipFill>
        </p:spPr>
      </p:sp>
      <p:sp>
        <p:nvSpPr>
          <p:cNvPr name="TextBox 20" id="20"/>
          <p:cNvSpPr txBox="true"/>
          <p:nvPr/>
        </p:nvSpPr>
        <p:spPr>
          <a:xfrm rot="0">
            <a:off x="13403802" y="3200684"/>
            <a:ext cx="3810149" cy="535484"/>
          </a:xfrm>
          <a:prstGeom prst="rect">
            <a:avLst/>
          </a:prstGeom>
        </p:spPr>
        <p:txBody>
          <a:bodyPr anchor="t" rtlCol="false" tIns="0" lIns="0" bIns="0" rIns="0">
            <a:spAutoFit/>
          </a:bodyPr>
          <a:lstStyle/>
          <a:p>
            <a:pPr algn="ctr">
              <a:lnSpc>
                <a:spcPts val="7311"/>
              </a:lnSpc>
            </a:pPr>
            <a:r>
              <a:rPr lang="en-US" sz="7312" b="true">
                <a:solidFill>
                  <a:srgbClr val="272525"/>
                </a:solidFill>
                <a:latin typeface="Inter Bold"/>
                <a:ea typeface="Inter Bold"/>
                <a:cs typeface="Inter Bold"/>
                <a:sym typeface="Inter Bold"/>
              </a:rPr>
              <a:t>2-3x</a:t>
            </a:r>
          </a:p>
        </p:txBody>
      </p:sp>
      <p:sp>
        <p:nvSpPr>
          <p:cNvPr name="TextBox 21" id="21"/>
          <p:cNvSpPr txBox="true"/>
          <p:nvPr/>
        </p:nvSpPr>
        <p:spPr>
          <a:xfrm rot="0">
            <a:off x="13536854" y="4033229"/>
            <a:ext cx="3544044" cy="500062"/>
          </a:xfrm>
          <a:prstGeom prst="rect">
            <a:avLst/>
          </a:prstGeom>
        </p:spPr>
        <p:txBody>
          <a:bodyPr anchor="t" rtlCol="false" tIns="0" lIns="0" bIns="0" rIns="0">
            <a:spAutoFit/>
          </a:bodyPr>
          <a:lstStyle/>
          <a:p>
            <a:pPr algn="ctr">
              <a:lnSpc>
                <a:spcPts val="3436"/>
              </a:lnSpc>
            </a:pPr>
            <a:r>
              <a:rPr lang="en-US" sz="2750" b="true">
                <a:solidFill>
                  <a:srgbClr val="272525"/>
                </a:solidFill>
                <a:latin typeface="Inter Bold"/>
                <a:ea typeface="Inter Bold"/>
                <a:cs typeface="Inter Bold"/>
                <a:sym typeface="Inter Bold"/>
              </a:rPr>
              <a:t>Rising Trend</a:t>
            </a:r>
          </a:p>
        </p:txBody>
      </p:sp>
      <p:sp>
        <p:nvSpPr>
          <p:cNvPr name="TextBox 22" id="22"/>
          <p:cNvSpPr txBox="true"/>
          <p:nvPr/>
        </p:nvSpPr>
        <p:spPr>
          <a:xfrm rot="0">
            <a:off x="13512333" y="4530954"/>
            <a:ext cx="3810149" cy="2071687"/>
          </a:xfrm>
          <a:prstGeom prst="rect">
            <a:avLst/>
          </a:prstGeom>
        </p:spPr>
        <p:txBody>
          <a:bodyPr anchor="t" rtlCol="false" tIns="0" lIns="0" bIns="0" rIns="0">
            <a:spAutoFit/>
          </a:bodyPr>
          <a:lstStyle/>
          <a:p>
            <a:pPr algn="ctr">
              <a:lnSpc>
                <a:spcPts val="3561"/>
              </a:lnSpc>
            </a:pPr>
            <a:r>
              <a:rPr lang="en-US" sz="2187">
                <a:solidFill>
                  <a:srgbClr val="272525"/>
                </a:solidFill>
                <a:latin typeface="Inter"/>
                <a:ea typeface="Inter"/>
                <a:cs typeface="Inter"/>
                <a:sym typeface="Inter"/>
              </a:rPr>
              <a:t>Increase since 2000 showing rapid growth in obesity rates over two decades</a:t>
            </a:r>
          </a:p>
        </p:txBody>
      </p:sp>
      <p:sp>
        <p:nvSpPr>
          <p:cNvPr name="TextBox 23" id="23"/>
          <p:cNvSpPr txBox="true"/>
          <p:nvPr/>
        </p:nvSpPr>
        <p:spPr>
          <a:xfrm rot="0">
            <a:off x="377986" y="9238901"/>
            <a:ext cx="17190720" cy="794352"/>
          </a:xfrm>
          <a:prstGeom prst="rect">
            <a:avLst/>
          </a:prstGeom>
        </p:spPr>
        <p:txBody>
          <a:bodyPr anchor="t" rtlCol="false" tIns="0" lIns="0" bIns="0" rIns="0">
            <a:spAutoFit/>
          </a:bodyPr>
          <a:lstStyle/>
          <a:p>
            <a:pPr algn="just">
              <a:lnSpc>
                <a:spcPts val="2880"/>
              </a:lnSpc>
            </a:pPr>
            <a:r>
              <a:rPr lang="en-US" sz="1600" b="true">
                <a:solidFill>
                  <a:srgbClr val="000000"/>
                </a:solidFill>
                <a:latin typeface="Inter Bold"/>
                <a:ea typeface="Inter Bold"/>
                <a:cs typeface="Inter Bold"/>
                <a:sym typeface="Inter Bold"/>
              </a:rPr>
              <a:t>Source:- </a:t>
            </a:r>
            <a:r>
              <a:rPr lang="en-US" sz="1600">
                <a:solidFill>
                  <a:srgbClr val="000000"/>
                </a:solidFill>
                <a:latin typeface="Inter"/>
                <a:ea typeface="Inter"/>
                <a:cs typeface="Inter"/>
                <a:sym typeface="Inter"/>
              </a:rPr>
              <a:t>Sung, M., Kumar, A., Mishra, R., Kulkarni, B., Kim, R., &amp; Subramanian, S. V. (2024). Temporal change in prevalence of BMI categories in India: patterns across States and Union territories of India, 1999–2021. </a:t>
            </a:r>
            <a:r>
              <a:rPr lang="en-US" sz="1600" i="true">
                <a:solidFill>
                  <a:srgbClr val="000000"/>
                </a:solidFill>
                <a:latin typeface="Inter Italics"/>
                <a:ea typeface="Inter Italics"/>
                <a:cs typeface="Inter Italics"/>
                <a:sym typeface="Inter Italics"/>
              </a:rPr>
              <a:t>BMC Public Health</a:t>
            </a:r>
            <a:r>
              <a:rPr lang="en-US" sz="1600">
                <a:solidFill>
                  <a:srgbClr val="000000"/>
                </a:solidFill>
                <a:latin typeface="Inter"/>
                <a:ea typeface="Inter"/>
                <a:cs typeface="Inter"/>
                <a:sym typeface="Inter"/>
              </a:rPr>
              <a:t>, </a:t>
            </a:r>
            <a:r>
              <a:rPr lang="en-US" sz="1600" i="true">
                <a:solidFill>
                  <a:srgbClr val="000000"/>
                </a:solidFill>
                <a:latin typeface="Inter Italics"/>
                <a:ea typeface="Inter Italics"/>
                <a:cs typeface="Inter Italics"/>
                <a:sym typeface="Inter Italics"/>
              </a:rPr>
              <a:t>24</a:t>
            </a:r>
            <a:r>
              <a:rPr lang="en-US" sz="1600">
                <a:solidFill>
                  <a:srgbClr val="000000"/>
                </a:solidFill>
                <a:latin typeface="Inter"/>
                <a:ea typeface="Inter"/>
                <a:cs typeface="Inter"/>
                <a:sym typeface="Inter"/>
              </a:rPr>
              <a:t>(1). </a:t>
            </a:r>
            <a:r>
              <a:rPr lang="en-US" sz="1600" u="sng">
                <a:solidFill>
                  <a:srgbClr val="0000FF"/>
                </a:solidFill>
                <a:latin typeface="Inter"/>
                <a:ea typeface="Inter"/>
                <a:cs typeface="Inter"/>
                <a:sym typeface="Inter"/>
                <a:hlinkClick r:id="rId4" tooltip="https://doi.org/10.1186/s12889-024-18784-4"/>
              </a:rPr>
              <a:t>https://doi.org/10.1186/s12889-024-18784-4</a:t>
            </a:r>
          </a:p>
        </p:txBody>
      </p:sp>
      <p:sp>
        <p:nvSpPr>
          <p:cNvPr name="TextBox 24" id="24"/>
          <p:cNvSpPr txBox="true"/>
          <p:nvPr/>
        </p:nvSpPr>
        <p:spPr>
          <a:xfrm rot="0">
            <a:off x="4026138" y="3024853"/>
            <a:ext cx="214561" cy="441305"/>
          </a:xfrm>
          <a:prstGeom prst="rect">
            <a:avLst/>
          </a:prstGeom>
        </p:spPr>
        <p:txBody>
          <a:bodyPr anchor="t" rtlCol="false" tIns="0" lIns="0" bIns="0" rIns="0">
            <a:spAutoFit/>
          </a:bodyPr>
          <a:lstStyle/>
          <a:p>
            <a:pPr algn="l">
              <a:lnSpc>
                <a:spcPts val="3359"/>
              </a:lnSpc>
            </a:pPr>
            <a:r>
              <a:rPr lang="en-US" sz="2799" b="true">
                <a:solidFill>
                  <a:srgbClr val="272525"/>
                </a:solidFill>
                <a:latin typeface="Inter Bold"/>
                <a:ea typeface="Inter Bold"/>
                <a:cs typeface="Inter Bold"/>
                <a:sym typeface="Inter Bold"/>
              </a:rPr>
              <a:t>*</a:t>
            </a:r>
          </a:p>
        </p:txBody>
      </p:sp>
      <p:sp>
        <p:nvSpPr>
          <p:cNvPr name="TextBox 25" id="25"/>
          <p:cNvSpPr txBox="true"/>
          <p:nvPr/>
        </p:nvSpPr>
        <p:spPr>
          <a:xfrm rot="0">
            <a:off x="8254905" y="3007073"/>
            <a:ext cx="214561" cy="441305"/>
          </a:xfrm>
          <a:prstGeom prst="rect">
            <a:avLst/>
          </a:prstGeom>
        </p:spPr>
        <p:txBody>
          <a:bodyPr anchor="t" rtlCol="false" tIns="0" lIns="0" bIns="0" rIns="0">
            <a:spAutoFit/>
          </a:bodyPr>
          <a:lstStyle/>
          <a:p>
            <a:pPr algn="l">
              <a:lnSpc>
                <a:spcPts val="3359"/>
              </a:lnSpc>
            </a:pPr>
            <a:r>
              <a:rPr lang="en-US" sz="2799" b="true">
                <a:solidFill>
                  <a:srgbClr val="272525"/>
                </a:solidFill>
                <a:latin typeface="Inter Bold"/>
                <a:ea typeface="Inter Bold"/>
                <a:cs typeface="Inter Bold"/>
                <a:sym typeface="Inter Bold"/>
              </a:rPr>
              <a:t>*</a:t>
            </a:r>
          </a:p>
        </p:txBody>
      </p:sp>
      <p:sp>
        <p:nvSpPr>
          <p:cNvPr name="TextBox 26" id="26"/>
          <p:cNvSpPr txBox="true"/>
          <p:nvPr/>
        </p:nvSpPr>
        <p:spPr>
          <a:xfrm rot="0">
            <a:off x="11776343" y="3007073"/>
            <a:ext cx="214561" cy="441305"/>
          </a:xfrm>
          <a:prstGeom prst="rect">
            <a:avLst/>
          </a:prstGeom>
        </p:spPr>
        <p:txBody>
          <a:bodyPr anchor="t" rtlCol="false" tIns="0" lIns="0" bIns="0" rIns="0">
            <a:spAutoFit/>
          </a:bodyPr>
          <a:lstStyle/>
          <a:p>
            <a:pPr algn="l">
              <a:lnSpc>
                <a:spcPts val="3359"/>
              </a:lnSpc>
            </a:pPr>
            <a:r>
              <a:rPr lang="en-US" sz="2799" b="true">
                <a:solidFill>
                  <a:srgbClr val="272525"/>
                </a:solidFill>
                <a:latin typeface="Inter Bold"/>
                <a:ea typeface="Inter Bold"/>
                <a:cs typeface="Inter Bold"/>
                <a:sym typeface="Inter Bold"/>
              </a:rPr>
              <a:t>*</a:t>
            </a:r>
          </a:p>
        </p:txBody>
      </p:sp>
      <p:sp>
        <p:nvSpPr>
          <p:cNvPr name="TextBox 27" id="27"/>
          <p:cNvSpPr txBox="true"/>
          <p:nvPr/>
        </p:nvSpPr>
        <p:spPr>
          <a:xfrm rot="0">
            <a:off x="16398240" y="3020141"/>
            <a:ext cx="214561" cy="441305"/>
          </a:xfrm>
          <a:prstGeom prst="rect">
            <a:avLst/>
          </a:prstGeom>
        </p:spPr>
        <p:txBody>
          <a:bodyPr anchor="t" rtlCol="false" tIns="0" lIns="0" bIns="0" rIns="0">
            <a:spAutoFit/>
          </a:bodyPr>
          <a:lstStyle/>
          <a:p>
            <a:pPr algn="l">
              <a:lnSpc>
                <a:spcPts val="3359"/>
              </a:lnSpc>
            </a:pPr>
            <a:r>
              <a:rPr lang="en-US" sz="2799" b="true">
                <a:solidFill>
                  <a:srgbClr val="272525"/>
                </a:solidFill>
                <a:latin typeface="Inter Bold"/>
                <a:ea typeface="Inter Bold"/>
                <a:cs typeface="Inter Bold"/>
                <a:sym typeface="Inter Bold"/>
              </a:rPr>
              <a:t>*</a:t>
            </a:r>
          </a:p>
        </p:txBody>
      </p:sp>
      <p:sp>
        <p:nvSpPr>
          <p:cNvPr name="TextBox 28" id="28"/>
          <p:cNvSpPr txBox="true"/>
          <p:nvPr/>
        </p:nvSpPr>
        <p:spPr>
          <a:xfrm rot="0">
            <a:off x="1180267" y="7074165"/>
            <a:ext cx="8961120" cy="277892"/>
          </a:xfrm>
          <a:prstGeom prst="rect">
            <a:avLst/>
          </a:prstGeom>
        </p:spPr>
        <p:txBody>
          <a:bodyPr anchor="t" rtlCol="false" tIns="0" lIns="0" bIns="0" rIns="0">
            <a:spAutoFit/>
          </a:bodyPr>
          <a:lstStyle/>
          <a:p>
            <a:pPr algn="l">
              <a:lnSpc>
                <a:spcPts val="2160"/>
              </a:lnSpc>
            </a:pPr>
            <a:r>
              <a:rPr lang="en-US" sz="1800" b="true">
                <a:solidFill>
                  <a:srgbClr val="272525"/>
                </a:solidFill>
                <a:latin typeface="Inter Bold"/>
                <a:ea typeface="Inter Bold"/>
                <a:cs typeface="Inter Bold"/>
                <a:sym typeface="Inter Bold"/>
              </a:rPr>
              <a:t>* Approximated values</a:t>
            </a:r>
            <a:r>
              <a:rPr lang="en-US" sz="1800" b="true">
                <a:solidFill>
                  <a:srgbClr val="000000"/>
                </a:solidFill>
                <a:latin typeface="Inter Bold"/>
                <a:ea typeface="Inter Bold"/>
                <a:cs typeface="Inter Bold"/>
                <a:sym typeface="Inter Bold"/>
              </a:rPr>
              <a:t>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6F4F4"/>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2"/>
              <a:stretch>
                <a:fillRect l="0" t="0" r="0" b="0"/>
              </a:stretch>
            </a:blipFill>
          </p:spPr>
        </p:sp>
      </p:grpSp>
      <p:sp>
        <p:nvSpPr>
          <p:cNvPr name="TextBox 8" id="8"/>
          <p:cNvSpPr txBox="true"/>
          <p:nvPr/>
        </p:nvSpPr>
        <p:spPr>
          <a:xfrm rot="0">
            <a:off x="7850237" y="4171801"/>
            <a:ext cx="9445526" cy="1857672"/>
          </a:xfrm>
          <a:prstGeom prst="rect">
            <a:avLst/>
          </a:prstGeom>
        </p:spPr>
        <p:txBody>
          <a:bodyPr anchor="t" rtlCol="false" tIns="0" lIns="0" bIns="0" rIns="0">
            <a:spAutoFit/>
          </a:bodyPr>
          <a:lstStyle/>
          <a:p>
            <a:pPr algn="l">
              <a:lnSpc>
                <a:spcPts val="6936"/>
              </a:lnSpc>
            </a:pPr>
            <a:r>
              <a:rPr lang="en-US" sz="5562" b="true">
                <a:solidFill>
                  <a:srgbClr val="000000"/>
                </a:solidFill>
                <a:latin typeface="Inter Bold"/>
                <a:ea typeface="Inter Bold"/>
                <a:cs typeface="Inter Bold"/>
                <a:sym typeface="Inter Bold"/>
              </a:rPr>
              <a:t>Strategic Recommendations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6F4F4"/>
            </a:solidFill>
          </p:spPr>
        </p:sp>
      </p:grpSp>
      <p:grpSp>
        <p:nvGrpSpPr>
          <p:cNvPr name="Group 4" id="4"/>
          <p:cNvGrpSpPr/>
          <p:nvPr/>
        </p:nvGrpSpPr>
        <p:grpSpPr>
          <a:xfrm rot="0">
            <a:off x="9525"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1020551" y="430350"/>
            <a:ext cx="7440487" cy="598350"/>
          </a:xfrm>
          <a:prstGeom prst="rect">
            <a:avLst/>
          </a:prstGeom>
        </p:spPr>
        <p:txBody>
          <a:bodyPr anchor="t" rtlCol="false" tIns="0" lIns="0" bIns="0" rIns="0">
            <a:spAutoFit/>
          </a:bodyPr>
          <a:lstStyle/>
          <a:p>
            <a:pPr algn="l">
              <a:lnSpc>
                <a:spcPts val="4498"/>
              </a:lnSpc>
            </a:pPr>
            <a:r>
              <a:rPr lang="en-US" sz="3611" b="true">
                <a:solidFill>
                  <a:srgbClr val="000000"/>
                </a:solidFill>
                <a:latin typeface="Inter Bold"/>
                <a:ea typeface="Inter Bold"/>
                <a:cs typeface="Inter Bold"/>
                <a:sym typeface="Inter Bold"/>
              </a:rPr>
              <a:t>Obesity Awareness Initiatives</a:t>
            </a:r>
          </a:p>
        </p:txBody>
      </p:sp>
      <p:grpSp>
        <p:nvGrpSpPr>
          <p:cNvPr name="Group 7" id="7"/>
          <p:cNvGrpSpPr/>
          <p:nvPr/>
        </p:nvGrpSpPr>
        <p:grpSpPr>
          <a:xfrm rot="0">
            <a:off x="2227713" y="1233354"/>
            <a:ext cx="12621198" cy="7096696"/>
            <a:chOff x="0" y="0"/>
            <a:chExt cx="16828264" cy="9462262"/>
          </a:xfrm>
        </p:grpSpPr>
        <p:sp>
          <p:nvSpPr>
            <p:cNvPr name="Freeform 8" id="8" descr="preencoded.png"/>
            <p:cNvSpPr/>
            <p:nvPr/>
          </p:nvSpPr>
          <p:spPr>
            <a:xfrm flipH="false" flipV="false" rot="0">
              <a:off x="0" y="0"/>
              <a:ext cx="16828263" cy="9462262"/>
            </a:xfrm>
            <a:custGeom>
              <a:avLst/>
              <a:gdLst/>
              <a:ahLst/>
              <a:cxnLst/>
              <a:rect r="r" b="b" t="t" l="l"/>
              <a:pathLst>
                <a:path h="9462262" w="16828263">
                  <a:moveTo>
                    <a:pt x="0" y="0"/>
                  </a:moveTo>
                  <a:lnTo>
                    <a:pt x="16828263" y="0"/>
                  </a:lnTo>
                  <a:lnTo>
                    <a:pt x="16828263" y="9462262"/>
                  </a:lnTo>
                  <a:lnTo>
                    <a:pt x="0" y="9462262"/>
                  </a:lnTo>
                  <a:lnTo>
                    <a:pt x="0" y="0"/>
                  </a:lnTo>
                  <a:close/>
                </a:path>
              </a:pathLst>
            </a:custGeom>
            <a:blipFill>
              <a:blip r:embed="rId2"/>
              <a:stretch>
                <a:fillRect l="0" t="-129" r="0" b="-129"/>
              </a:stretch>
            </a:blipFill>
          </p:spPr>
        </p:sp>
      </p:grpSp>
      <p:sp>
        <p:nvSpPr>
          <p:cNvPr name="TextBox 9" id="9"/>
          <p:cNvSpPr txBox="true"/>
          <p:nvPr/>
        </p:nvSpPr>
        <p:spPr>
          <a:xfrm rot="0">
            <a:off x="2001127" y="1859823"/>
            <a:ext cx="2730143" cy="346527"/>
          </a:xfrm>
          <a:prstGeom prst="rect">
            <a:avLst/>
          </a:prstGeom>
        </p:spPr>
        <p:txBody>
          <a:bodyPr anchor="t" rtlCol="false" tIns="0" lIns="0" bIns="0" rIns="0">
            <a:spAutoFit/>
          </a:bodyPr>
          <a:lstStyle/>
          <a:p>
            <a:pPr algn="r">
              <a:lnSpc>
                <a:spcPts val="2553"/>
              </a:lnSpc>
            </a:pPr>
            <a:r>
              <a:rPr lang="en-US" sz="2090" b="true">
                <a:solidFill>
                  <a:srgbClr val="272525"/>
                </a:solidFill>
                <a:latin typeface="Inter Bold"/>
                <a:ea typeface="Inter Bold"/>
                <a:cs typeface="Inter Bold"/>
                <a:sym typeface="Inter Bold"/>
              </a:rPr>
              <a:t>Free Health Camps</a:t>
            </a:r>
          </a:p>
        </p:txBody>
      </p:sp>
      <p:sp>
        <p:nvSpPr>
          <p:cNvPr name="TextBox 10" id="10"/>
          <p:cNvSpPr txBox="true"/>
          <p:nvPr/>
        </p:nvSpPr>
        <p:spPr>
          <a:xfrm rot="0">
            <a:off x="12390617" y="1859823"/>
            <a:ext cx="4159616" cy="322496"/>
          </a:xfrm>
          <a:prstGeom prst="rect">
            <a:avLst/>
          </a:prstGeom>
        </p:spPr>
        <p:txBody>
          <a:bodyPr anchor="t" rtlCol="false" tIns="0" lIns="0" bIns="0" rIns="0">
            <a:spAutoFit/>
          </a:bodyPr>
          <a:lstStyle/>
          <a:p>
            <a:pPr algn="l">
              <a:lnSpc>
                <a:spcPts val="2550"/>
              </a:lnSpc>
            </a:pPr>
            <a:r>
              <a:rPr lang="en-US" sz="2087" b="true">
                <a:solidFill>
                  <a:srgbClr val="272525"/>
                </a:solidFill>
                <a:latin typeface="Inter Bold"/>
                <a:ea typeface="Inter Bold"/>
                <a:cs typeface="Inter Bold"/>
                <a:sym typeface="Inter Bold"/>
              </a:rPr>
              <a:t>VR Awareness Campaign</a:t>
            </a:r>
          </a:p>
        </p:txBody>
      </p:sp>
      <p:sp>
        <p:nvSpPr>
          <p:cNvPr name="TextBox 11" id="11"/>
          <p:cNvSpPr txBox="true"/>
          <p:nvPr/>
        </p:nvSpPr>
        <p:spPr>
          <a:xfrm rot="0">
            <a:off x="1792355" y="7400458"/>
            <a:ext cx="3049089" cy="346534"/>
          </a:xfrm>
          <a:prstGeom prst="rect">
            <a:avLst/>
          </a:prstGeom>
        </p:spPr>
        <p:txBody>
          <a:bodyPr anchor="t" rtlCol="false" tIns="0" lIns="0" bIns="0" rIns="0">
            <a:spAutoFit/>
          </a:bodyPr>
          <a:lstStyle/>
          <a:p>
            <a:pPr algn="r">
              <a:lnSpc>
                <a:spcPts val="2550"/>
              </a:lnSpc>
            </a:pPr>
            <a:r>
              <a:rPr lang="en-US" sz="2087" b="true">
                <a:solidFill>
                  <a:srgbClr val="272525"/>
                </a:solidFill>
                <a:latin typeface="Inter Bold"/>
                <a:ea typeface="Inter Bold"/>
                <a:cs typeface="Inter Bold"/>
                <a:sym typeface="Inter Bold"/>
              </a:rPr>
              <a:t>Awareness Posters</a:t>
            </a:r>
          </a:p>
        </p:txBody>
      </p:sp>
      <p:sp>
        <p:nvSpPr>
          <p:cNvPr name="TextBox 12" id="12"/>
          <p:cNvSpPr txBox="true"/>
          <p:nvPr/>
        </p:nvSpPr>
        <p:spPr>
          <a:xfrm rot="0">
            <a:off x="725555" y="8049700"/>
            <a:ext cx="5645534" cy="2006819"/>
          </a:xfrm>
          <a:prstGeom prst="rect">
            <a:avLst/>
          </a:prstGeom>
        </p:spPr>
        <p:txBody>
          <a:bodyPr anchor="t" rtlCol="false" tIns="0" lIns="0" bIns="0" rIns="0">
            <a:spAutoFit/>
          </a:bodyPr>
          <a:lstStyle/>
          <a:p>
            <a:pPr algn="just" marL="554293" indent="-138573" lvl="3">
              <a:lnSpc>
                <a:spcPts val="2608"/>
              </a:lnSpc>
              <a:buFont typeface="Arial"/>
              <a:buChar char="￭"/>
            </a:pPr>
            <a:r>
              <a:rPr lang="en-US" sz="2030">
                <a:solidFill>
                  <a:srgbClr val="272525"/>
                </a:solidFill>
                <a:latin typeface="Inter"/>
                <a:ea typeface="Inter"/>
                <a:cs typeface="Inter"/>
                <a:sym typeface="Inter"/>
              </a:rPr>
              <a:t>Engaging posters &amp; templates</a:t>
            </a:r>
          </a:p>
          <a:p>
            <a:pPr algn="just" marL="554293" indent="-138573" lvl="3">
              <a:lnSpc>
                <a:spcPts val="2608"/>
              </a:lnSpc>
              <a:buFont typeface="Arial"/>
              <a:buChar char="￭"/>
            </a:pPr>
            <a:r>
              <a:rPr lang="en-US" sz="2030">
                <a:solidFill>
                  <a:srgbClr val="272525"/>
                </a:solidFill>
                <a:latin typeface="Inter"/>
                <a:ea typeface="Inter"/>
                <a:cs typeface="Inter"/>
                <a:sym typeface="Inter"/>
              </a:rPr>
              <a:t>Promote a healthy lifestyle</a:t>
            </a:r>
          </a:p>
          <a:p>
            <a:pPr algn="just" marL="554293" indent="-138573" lvl="3">
              <a:lnSpc>
                <a:spcPts val="2608"/>
              </a:lnSpc>
              <a:buFont typeface="Arial"/>
              <a:buChar char="￭"/>
            </a:pPr>
            <a:r>
              <a:rPr lang="en-US" sz="2030">
                <a:solidFill>
                  <a:srgbClr val="272525"/>
                </a:solidFill>
                <a:latin typeface="Inter"/>
                <a:ea typeface="Inter"/>
                <a:cs typeface="Inter"/>
                <a:sym typeface="Inter"/>
              </a:rPr>
              <a:t>Share on social media &amp; boards</a:t>
            </a:r>
          </a:p>
          <a:p>
            <a:pPr algn="just" marL="554293" indent="-138573" lvl="3">
              <a:lnSpc>
                <a:spcPts val="2608"/>
              </a:lnSpc>
              <a:buFont typeface="Arial"/>
              <a:buChar char="￭"/>
            </a:pPr>
            <a:r>
              <a:rPr lang="en-US" sz="2030">
                <a:solidFill>
                  <a:srgbClr val="272525"/>
                </a:solidFill>
                <a:latin typeface="Inter"/>
                <a:ea typeface="Inter"/>
                <a:cs typeface="Inter"/>
                <a:sym typeface="Inter"/>
              </a:rPr>
              <a:t>Educate &amp; motivate</a:t>
            </a:r>
          </a:p>
          <a:p>
            <a:pPr algn="just" marL="554293" indent="-138573" lvl="3">
              <a:lnSpc>
                <a:spcPts val="2608"/>
              </a:lnSpc>
            </a:pPr>
          </a:p>
          <a:p>
            <a:pPr algn="just" marL="554293" indent="-138573" lvl="3">
              <a:lnSpc>
                <a:spcPts val="2610"/>
              </a:lnSpc>
            </a:pPr>
          </a:p>
        </p:txBody>
      </p:sp>
      <p:sp>
        <p:nvSpPr>
          <p:cNvPr name="TextBox 13" id="13"/>
          <p:cNvSpPr txBox="true"/>
          <p:nvPr/>
        </p:nvSpPr>
        <p:spPr>
          <a:xfrm rot="0">
            <a:off x="801755" y="2591589"/>
            <a:ext cx="4470720" cy="1596995"/>
          </a:xfrm>
          <a:prstGeom prst="rect">
            <a:avLst/>
          </a:prstGeom>
        </p:spPr>
        <p:txBody>
          <a:bodyPr anchor="t" rtlCol="false" tIns="0" lIns="0" bIns="0" rIns="0">
            <a:spAutoFit/>
          </a:bodyPr>
          <a:lstStyle/>
          <a:p>
            <a:pPr algn="l" marL="554293" indent="-138573" lvl="3">
              <a:lnSpc>
                <a:spcPts val="2537"/>
              </a:lnSpc>
              <a:buFont typeface="Arial"/>
              <a:buChar char="￭"/>
            </a:pPr>
            <a:r>
              <a:rPr lang="en-US" sz="2030">
                <a:solidFill>
                  <a:srgbClr val="000000"/>
                </a:solidFill>
                <a:latin typeface="Inter"/>
                <a:ea typeface="Inter"/>
                <a:cs typeface="Inter"/>
                <a:sym typeface="Inter"/>
              </a:rPr>
              <a:t>General Blood Test &amp; BMI </a:t>
            </a:r>
          </a:p>
          <a:p>
            <a:pPr algn="l" marL="554293" indent="-138573" lvl="3">
              <a:lnSpc>
                <a:spcPts val="2537"/>
              </a:lnSpc>
              <a:buFont typeface="Arial"/>
              <a:buChar char="￭"/>
            </a:pPr>
            <a:r>
              <a:rPr lang="en-US" sz="2030">
                <a:solidFill>
                  <a:srgbClr val="000000"/>
                </a:solidFill>
                <a:latin typeface="Inter"/>
                <a:ea typeface="Inter"/>
                <a:cs typeface="Inter"/>
                <a:sym typeface="Inter"/>
              </a:rPr>
              <a:t>Provide informative brochures and materials</a:t>
            </a:r>
          </a:p>
          <a:p>
            <a:pPr algn="l" marL="554293" indent="-138573" lvl="3">
              <a:lnSpc>
                <a:spcPts val="2537"/>
              </a:lnSpc>
              <a:buFont typeface="Arial"/>
              <a:buChar char="￭"/>
            </a:pPr>
            <a:r>
              <a:rPr lang="en-US" sz="2030">
                <a:solidFill>
                  <a:srgbClr val="000000"/>
                </a:solidFill>
                <a:latin typeface="Inter"/>
                <a:ea typeface="Inter"/>
                <a:cs typeface="Inter"/>
                <a:sym typeface="Inter"/>
              </a:rPr>
              <a:t>Providing Goodie Bags</a:t>
            </a:r>
          </a:p>
          <a:p>
            <a:pPr algn="l" marL="554293" indent="-138573" lvl="3">
              <a:lnSpc>
                <a:spcPts val="2535"/>
              </a:lnSpc>
            </a:pPr>
          </a:p>
        </p:txBody>
      </p:sp>
      <p:sp>
        <p:nvSpPr>
          <p:cNvPr name="TextBox 14" id="14"/>
          <p:cNvSpPr txBox="true"/>
          <p:nvPr/>
        </p:nvSpPr>
        <p:spPr>
          <a:xfrm rot="0">
            <a:off x="12001761" y="2466532"/>
            <a:ext cx="5754755" cy="1930238"/>
          </a:xfrm>
          <a:prstGeom prst="rect">
            <a:avLst/>
          </a:prstGeom>
        </p:spPr>
        <p:txBody>
          <a:bodyPr anchor="t" rtlCol="false" tIns="0" lIns="0" bIns="0" rIns="0">
            <a:spAutoFit/>
          </a:bodyPr>
          <a:lstStyle/>
          <a:p>
            <a:pPr algn="just" marL="552968" indent="-138242" lvl="3">
              <a:lnSpc>
                <a:spcPts val="2531"/>
              </a:lnSpc>
              <a:buFont typeface="Arial"/>
              <a:buChar char="￭"/>
            </a:pPr>
            <a:r>
              <a:rPr lang="en-US" sz="2025">
                <a:solidFill>
                  <a:srgbClr val="000000"/>
                </a:solidFill>
                <a:latin typeface="Inter"/>
                <a:ea typeface="Inter"/>
                <a:cs typeface="Inter"/>
                <a:sym typeface="Inter"/>
              </a:rPr>
              <a:t>Experience life with poor health choices</a:t>
            </a:r>
          </a:p>
          <a:p>
            <a:pPr algn="just" marL="552968" indent="-138242" lvl="3">
              <a:lnSpc>
                <a:spcPts val="2531"/>
              </a:lnSpc>
              <a:buFont typeface="Arial"/>
              <a:buChar char="￭"/>
            </a:pPr>
            <a:r>
              <a:rPr lang="en-US" sz="2025">
                <a:solidFill>
                  <a:srgbClr val="000000"/>
                </a:solidFill>
                <a:latin typeface="Inter"/>
                <a:ea typeface="Inter"/>
                <a:cs typeface="Inter"/>
                <a:sym typeface="Inter"/>
              </a:rPr>
              <a:t>Overweight users feel long-term struggles</a:t>
            </a:r>
          </a:p>
          <a:p>
            <a:pPr algn="just" marL="552968" indent="-138242" lvl="3">
              <a:lnSpc>
                <a:spcPts val="2531"/>
              </a:lnSpc>
              <a:buFont typeface="Arial"/>
              <a:buChar char="￭"/>
            </a:pPr>
            <a:r>
              <a:rPr lang="en-US" sz="2025">
                <a:solidFill>
                  <a:srgbClr val="000000"/>
                </a:solidFill>
                <a:latin typeface="Inter"/>
                <a:ea typeface="Inter"/>
                <a:cs typeface="Inter"/>
                <a:sym typeface="Inter"/>
              </a:rPr>
              <a:t>Builds empathy — shows impact on loved ones</a:t>
            </a:r>
          </a:p>
          <a:p>
            <a:pPr algn="just" marL="552968" indent="-138242" lvl="3">
              <a:lnSpc>
                <a:spcPts val="2531"/>
              </a:lnSpc>
              <a:buFont typeface="Arial"/>
              <a:buChar char="￭"/>
            </a:pPr>
            <a:r>
              <a:rPr lang="en-US" sz="2025">
                <a:solidFill>
                  <a:srgbClr val="000000"/>
                </a:solidFill>
                <a:latin typeface="Inter"/>
                <a:ea typeface="Inter"/>
                <a:cs typeface="Inter"/>
                <a:sym typeface="Inter"/>
              </a:rPr>
              <a:t>Motivates lifestyle change through emotion &amp; immersion</a:t>
            </a:r>
          </a:p>
        </p:txBody>
      </p:sp>
      <p:sp>
        <p:nvSpPr>
          <p:cNvPr name="TextBox 15" id="15"/>
          <p:cNvSpPr txBox="true"/>
          <p:nvPr/>
        </p:nvSpPr>
        <p:spPr>
          <a:xfrm rot="0">
            <a:off x="12251858" y="7400458"/>
            <a:ext cx="4893142" cy="322496"/>
          </a:xfrm>
          <a:prstGeom prst="rect">
            <a:avLst/>
          </a:prstGeom>
        </p:spPr>
        <p:txBody>
          <a:bodyPr anchor="t" rtlCol="false" tIns="0" lIns="0" bIns="0" rIns="0">
            <a:spAutoFit/>
          </a:bodyPr>
          <a:lstStyle/>
          <a:p>
            <a:pPr algn="l">
              <a:lnSpc>
                <a:spcPts val="2550"/>
              </a:lnSpc>
            </a:pPr>
            <a:r>
              <a:rPr lang="en-US" sz="2087" b="true">
                <a:solidFill>
                  <a:srgbClr val="272525"/>
                </a:solidFill>
                <a:latin typeface="Inter Bold"/>
                <a:ea typeface="Inter Bold"/>
                <a:cs typeface="Inter Bold"/>
                <a:sym typeface="Inter Bold"/>
              </a:rPr>
              <a:t>Potential Patient Target Strategy</a:t>
            </a:r>
          </a:p>
        </p:txBody>
      </p:sp>
      <p:sp>
        <p:nvSpPr>
          <p:cNvPr name="TextBox 16" id="16"/>
          <p:cNvSpPr txBox="true"/>
          <p:nvPr/>
        </p:nvSpPr>
        <p:spPr>
          <a:xfrm rot="0">
            <a:off x="11734800" y="8059225"/>
            <a:ext cx="5754755" cy="1282345"/>
          </a:xfrm>
          <a:prstGeom prst="rect">
            <a:avLst/>
          </a:prstGeom>
        </p:spPr>
        <p:txBody>
          <a:bodyPr anchor="t" rtlCol="false" tIns="0" lIns="0" bIns="0" rIns="0">
            <a:spAutoFit/>
          </a:bodyPr>
          <a:lstStyle/>
          <a:p>
            <a:pPr algn="just" marL="552968" indent="-138242" lvl="3">
              <a:lnSpc>
                <a:spcPts val="2531"/>
              </a:lnSpc>
              <a:buFont typeface="Arial"/>
              <a:buChar char="￭"/>
            </a:pPr>
            <a:r>
              <a:rPr lang="en-US" sz="2025">
                <a:solidFill>
                  <a:srgbClr val="000000"/>
                </a:solidFill>
                <a:latin typeface="Inter"/>
                <a:ea typeface="Inter"/>
                <a:cs typeface="Inter"/>
                <a:sym typeface="Inter"/>
              </a:rPr>
              <a:t>Healthcare Professionals in camps checks the customers family history on obesity.</a:t>
            </a:r>
          </a:p>
          <a:p>
            <a:pPr algn="just" marL="552968" indent="-138242" lvl="3">
              <a:lnSpc>
                <a:spcPts val="2531"/>
              </a:lnSpc>
              <a:buFont typeface="Arial"/>
              <a:buChar char="￭"/>
            </a:pPr>
            <a:r>
              <a:rPr lang="en-US" sz="2025">
                <a:solidFill>
                  <a:srgbClr val="000000"/>
                </a:solidFill>
                <a:latin typeface="Inter"/>
                <a:ea typeface="Inter"/>
                <a:cs typeface="Inter"/>
                <a:sym typeface="Inter"/>
              </a:rPr>
              <a:t>Promotion of doctor profiles to the customers.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6F4F4"/>
            </a:solidFill>
          </p:spPr>
        </p:sp>
      </p:grpSp>
      <p:grpSp>
        <p:nvGrpSpPr>
          <p:cNvPr name="Group 4" id="4"/>
          <p:cNvGrpSpPr/>
          <p:nvPr/>
        </p:nvGrpSpPr>
        <p:grpSpPr>
          <a:xfrm rot="0">
            <a:off x="9525"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3787367" y="1152525"/>
            <a:ext cx="9969840" cy="453256"/>
          </a:xfrm>
          <a:prstGeom prst="rect">
            <a:avLst/>
          </a:prstGeom>
        </p:spPr>
        <p:txBody>
          <a:bodyPr anchor="t" rtlCol="false" tIns="0" lIns="0" bIns="0" rIns="0">
            <a:spAutoFit/>
          </a:bodyPr>
          <a:lstStyle/>
          <a:p>
            <a:pPr algn="ctr">
              <a:lnSpc>
                <a:spcPts val="4498"/>
              </a:lnSpc>
            </a:pPr>
            <a:r>
              <a:rPr lang="en-US" sz="4800" b="true">
                <a:solidFill>
                  <a:srgbClr val="000000"/>
                </a:solidFill>
                <a:latin typeface="Inter Bold"/>
                <a:ea typeface="Inter Bold"/>
                <a:cs typeface="Inter Bold"/>
                <a:sym typeface="Inter Bold"/>
              </a:rPr>
              <a:t>Conferences &amp; Workshops</a:t>
            </a:r>
          </a:p>
        </p:txBody>
      </p:sp>
      <p:sp>
        <p:nvSpPr>
          <p:cNvPr name="Freeform 7" id="7"/>
          <p:cNvSpPr/>
          <p:nvPr/>
        </p:nvSpPr>
        <p:spPr>
          <a:xfrm flipH="false" flipV="false" rot="0">
            <a:off x="685800" y="2324101"/>
            <a:ext cx="8086487" cy="6333837"/>
          </a:xfrm>
          <a:custGeom>
            <a:avLst/>
            <a:gdLst/>
            <a:ahLst/>
            <a:cxnLst/>
            <a:rect r="r" b="b" t="t" l="l"/>
            <a:pathLst>
              <a:path h="6333837" w="8086487">
                <a:moveTo>
                  <a:pt x="0" y="0"/>
                </a:moveTo>
                <a:lnTo>
                  <a:pt x="8086487" y="0"/>
                </a:lnTo>
                <a:lnTo>
                  <a:pt x="8086487" y="6333837"/>
                </a:lnTo>
                <a:lnTo>
                  <a:pt x="0" y="6333837"/>
                </a:lnTo>
                <a:lnTo>
                  <a:pt x="0" y="0"/>
                </a:lnTo>
                <a:close/>
              </a:path>
            </a:pathLst>
          </a:custGeom>
          <a:blipFill>
            <a:blip r:embed="rId2">
              <a:extLst>
                <a:ext uri="{96DAC541-7B7A-43D3-8B79-37D633B846F1}">
                  <asvg:svgBlip xmlns:asvg="http://schemas.microsoft.com/office/drawing/2016/SVG/main" r:embed="rId3"/>
                </a:ext>
              </a:extLst>
            </a:blip>
            <a:stretch>
              <a:fillRect l="-42636" t="0" r="-42636" b="0"/>
            </a:stretch>
          </a:blipFill>
        </p:spPr>
      </p:sp>
      <p:sp>
        <p:nvSpPr>
          <p:cNvPr name="Freeform 8" id="8"/>
          <p:cNvSpPr/>
          <p:nvPr/>
        </p:nvSpPr>
        <p:spPr>
          <a:xfrm flipH="false" flipV="false" rot="0">
            <a:off x="9296400" y="2324100"/>
            <a:ext cx="8305800" cy="6333838"/>
          </a:xfrm>
          <a:custGeom>
            <a:avLst/>
            <a:gdLst/>
            <a:ahLst/>
            <a:cxnLst/>
            <a:rect r="r" b="b" t="t" l="l"/>
            <a:pathLst>
              <a:path h="6333838" w="8305800">
                <a:moveTo>
                  <a:pt x="0" y="0"/>
                </a:moveTo>
                <a:lnTo>
                  <a:pt x="8305800" y="0"/>
                </a:lnTo>
                <a:lnTo>
                  <a:pt x="8305800" y="6333838"/>
                </a:lnTo>
                <a:lnTo>
                  <a:pt x="0" y="6333838"/>
                </a:lnTo>
                <a:lnTo>
                  <a:pt x="0" y="0"/>
                </a:lnTo>
                <a:close/>
              </a:path>
            </a:pathLst>
          </a:custGeom>
          <a:blipFill>
            <a:blip r:embed="rId2">
              <a:extLst>
                <a:ext uri="{96DAC541-7B7A-43D3-8B79-37D633B846F1}">
                  <asvg:svgBlip xmlns:asvg="http://schemas.microsoft.com/office/drawing/2016/SVG/main" r:embed="rId3"/>
                </a:ext>
              </a:extLst>
            </a:blip>
            <a:stretch>
              <a:fillRect l="-40190" t="0" r="-40190" b="0"/>
            </a:stretch>
          </a:blipFill>
        </p:spPr>
      </p:sp>
      <p:sp>
        <p:nvSpPr>
          <p:cNvPr name="TextBox 9" id="9"/>
          <p:cNvSpPr txBox="true"/>
          <p:nvPr/>
        </p:nvSpPr>
        <p:spPr>
          <a:xfrm rot="0">
            <a:off x="640715" y="4092635"/>
            <a:ext cx="7696200" cy="2856830"/>
          </a:xfrm>
          <a:prstGeom prst="rect">
            <a:avLst/>
          </a:prstGeom>
        </p:spPr>
        <p:txBody>
          <a:bodyPr anchor="t" rtlCol="false" tIns="0" lIns="0" bIns="0" rIns="0">
            <a:spAutoFit/>
          </a:bodyPr>
          <a:lstStyle/>
          <a:p>
            <a:pPr algn="l" marL="922189" indent="-230547" lvl="3">
              <a:lnSpc>
                <a:spcPts val="2536"/>
              </a:lnSpc>
              <a:buFont typeface="Arial"/>
              <a:buChar char="￭"/>
            </a:pPr>
            <a:r>
              <a:rPr lang="en-US" sz="2799">
                <a:solidFill>
                  <a:srgbClr val="000000"/>
                </a:solidFill>
                <a:latin typeface="Calibri (MS)"/>
                <a:ea typeface="Calibri (MS)"/>
                <a:cs typeface="Calibri (MS)"/>
                <a:sym typeface="Calibri (MS)"/>
              </a:rPr>
              <a:t>Partner with </a:t>
            </a:r>
            <a:r>
              <a:rPr lang="en-US" b="true" sz="2799">
                <a:solidFill>
                  <a:srgbClr val="000000"/>
                </a:solidFill>
                <a:latin typeface="Calibri (MS) Bold"/>
                <a:ea typeface="Calibri (MS) Bold"/>
                <a:cs typeface="Calibri (MS) Bold"/>
                <a:sym typeface="Calibri (MS) Bold"/>
              </a:rPr>
              <a:t>IMA, RSSDI, and Endocrine Society of India</a:t>
            </a:r>
            <a:r>
              <a:rPr lang="en-US" sz="2799">
                <a:solidFill>
                  <a:srgbClr val="000000"/>
                </a:solidFill>
                <a:latin typeface="Calibri (MS)"/>
                <a:ea typeface="Calibri (MS)"/>
                <a:cs typeface="Calibri (MS)"/>
                <a:sym typeface="Calibri (MS)"/>
              </a:rPr>
              <a:t> to host obesity summits.</a:t>
            </a:r>
          </a:p>
          <a:p>
            <a:pPr algn="l" marL="922189" indent="-230547" lvl="3">
              <a:lnSpc>
                <a:spcPts val="2536"/>
              </a:lnSpc>
            </a:pPr>
          </a:p>
          <a:p>
            <a:pPr algn="l" marL="922189" indent="-230547" lvl="3">
              <a:lnSpc>
                <a:spcPts val="2536"/>
              </a:lnSpc>
              <a:buFont typeface="Arial"/>
              <a:buChar char="￭"/>
            </a:pPr>
            <a:r>
              <a:rPr lang="en-US" sz="2799">
                <a:solidFill>
                  <a:srgbClr val="000000"/>
                </a:solidFill>
                <a:latin typeface="Calibri (MS)"/>
                <a:ea typeface="Calibri (MS)"/>
                <a:cs typeface="Calibri (MS)"/>
                <a:sym typeface="Calibri (MS)"/>
              </a:rPr>
              <a:t>Present </a:t>
            </a:r>
            <a:r>
              <a:rPr lang="en-US" b="true" sz="2799">
                <a:solidFill>
                  <a:srgbClr val="000000"/>
                </a:solidFill>
                <a:latin typeface="Calibri (MS) Bold"/>
                <a:ea typeface="Calibri (MS) Bold"/>
                <a:cs typeface="Calibri (MS) Bold"/>
                <a:sym typeface="Calibri (MS) Bold"/>
              </a:rPr>
              <a:t>Wegovy’s trial data</a:t>
            </a:r>
            <a:r>
              <a:rPr lang="en-US" sz="2799">
                <a:solidFill>
                  <a:srgbClr val="000000"/>
                </a:solidFill>
                <a:latin typeface="Calibri (MS)"/>
                <a:ea typeface="Calibri (MS)"/>
                <a:cs typeface="Calibri (MS)"/>
                <a:sym typeface="Calibri (MS)"/>
              </a:rPr>
              <a:t> on cardiovascular and weight-loss outcomes.</a:t>
            </a:r>
          </a:p>
          <a:p>
            <a:pPr algn="l" marL="922189" indent="-230547" lvl="3">
              <a:lnSpc>
                <a:spcPts val="2536"/>
              </a:lnSpc>
            </a:pPr>
          </a:p>
          <a:p>
            <a:pPr algn="l" marL="922189" indent="-230547" lvl="3">
              <a:lnSpc>
                <a:spcPts val="2536"/>
              </a:lnSpc>
              <a:buFont typeface="Arial"/>
              <a:buChar char="￭"/>
            </a:pPr>
            <a:r>
              <a:rPr lang="en-US" sz="2799">
                <a:solidFill>
                  <a:srgbClr val="000000"/>
                </a:solidFill>
                <a:latin typeface="Calibri (MS)"/>
                <a:ea typeface="Calibri (MS)"/>
                <a:cs typeface="Calibri (MS)"/>
                <a:sym typeface="Calibri (MS)"/>
              </a:rPr>
              <a:t>Feature </a:t>
            </a:r>
            <a:r>
              <a:rPr lang="en-US" b="true" sz="2799">
                <a:solidFill>
                  <a:srgbClr val="000000"/>
                </a:solidFill>
                <a:latin typeface="Calibri (MS) Bold"/>
                <a:ea typeface="Calibri (MS) Bold"/>
                <a:cs typeface="Calibri (MS) Bold"/>
                <a:sym typeface="Calibri (MS) Bold"/>
              </a:rPr>
              <a:t>expert panels</a:t>
            </a:r>
            <a:r>
              <a:rPr lang="en-US" sz="2799">
                <a:solidFill>
                  <a:srgbClr val="000000"/>
                </a:solidFill>
                <a:latin typeface="Calibri (MS)"/>
                <a:ea typeface="Calibri (MS)"/>
                <a:cs typeface="Calibri (MS)"/>
                <a:sym typeface="Calibri (MS)"/>
              </a:rPr>
              <a:t> with endocrinologists, cardiologists, and obesity specialists.</a:t>
            </a:r>
          </a:p>
          <a:p>
            <a:pPr algn="l" marL="922189" indent="-230547" lvl="3">
              <a:lnSpc>
                <a:spcPts val="2535"/>
              </a:lnSpc>
            </a:pPr>
          </a:p>
        </p:txBody>
      </p:sp>
      <p:sp>
        <p:nvSpPr>
          <p:cNvPr name="TextBox 10" id="10"/>
          <p:cNvSpPr txBox="true"/>
          <p:nvPr/>
        </p:nvSpPr>
        <p:spPr>
          <a:xfrm rot="0">
            <a:off x="2844565" y="3047508"/>
            <a:ext cx="4278919" cy="266750"/>
          </a:xfrm>
          <a:prstGeom prst="rect">
            <a:avLst/>
          </a:prstGeom>
        </p:spPr>
        <p:txBody>
          <a:bodyPr anchor="t" rtlCol="false" tIns="0" lIns="0" bIns="0" rIns="0">
            <a:spAutoFit/>
          </a:bodyPr>
          <a:lstStyle/>
          <a:p>
            <a:pPr algn="l">
              <a:lnSpc>
                <a:spcPts val="2550"/>
              </a:lnSpc>
            </a:pPr>
            <a:r>
              <a:rPr lang="en-US" sz="2799" b="true">
                <a:solidFill>
                  <a:srgbClr val="272525"/>
                </a:solidFill>
                <a:latin typeface="Inter Bold"/>
                <a:ea typeface="Inter Bold"/>
                <a:cs typeface="Inter Bold"/>
                <a:sym typeface="Inter Bold"/>
              </a:rPr>
              <a:t>Medical Conferences</a:t>
            </a:r>
          </a:p>
        </p:txBody>
      </p:sp>
      <p:sp>
        <p:nvSpPr>
          <p:cNvPr name="TextBox 11" id="11"/>
          <p:cNvSpPr txBox="true"/>
          <p:nvPr/>
        </p:nvSpPr>
        <p:spPr>
          <a:xfrm rot="0">
            <a:off x="12028150" y="3047508"/>
            <a:ext cx="3733800" cy="267840"/>
          </a:xfrm>
          <a:prstGeom prst="rect">
            <a:avLst/>
          </a:prstGeom>
        </p:spPr>
        <p:txBody>
          <a:bodyPr anchor="t" rtlCol="false" tIns="0" lIns="0" bIns="0" rIns="0">
            <a:spAutoFit/>
          </a:bodyPr>
          <a:lstStyle/>
          <a:p>
            <a:pPr algn="l">
              <a:lnSpc>
                <a:spcPts val="2550"/>
              </a:lnSpc>
            </a:pPr>
            <a:r>
              <a:rPr lang="en-US" sz="2799" b="true">
                <a:solidFill>
                  <a:srgbClr val="272525"/>
                </a:solidFill>
                <a:latin typeface="Inter Bold"/>
                <a:ea typeface="Inter Bold"/>
                <a:cs typeface="Inter Bold"/>
                <a:sym typeface="Inter Bold"/>
              </a:rPr>
              <a:t>Clinical Workshops</a:t>
            </a:r>
          </a:p>
        </p:txBody>
      </p:sp>
      <p:sp>
        <p:nvSpPr>
          <p:cNvPr name="TextBox 12" id="12"/>
          <p:cNvSpPr txBox="true"/>
          <p:nvPr/>
        </p:nvSpPr>
        <p:spPr>
          <a:xfrm rot="0">
            <a:off x="9296400" y="4092635"/>
            <a:ext cx="8251190" cy="2550849"/>
          </a:xfrm>
          <a:prstGeom prst="rect">
            <a:avLst/>
          </a:prstGeom>
        </p:spPr>
        <p:txBody>
          <a:bodyPr anchor="t" rtlCol="false" tIns="0" lIns="0" bIns="0" rIns="0">
            <a:spAutoFit/>
          </a:bodyPr>
          <a:lstStyle/>
          <a:p>
            <a:pPr algn="l" marL="922189" indent="-230547" lvl="3">
              <a:lnSpc>
                <a:spcPts val="2536"/>
              </a:lnSpc>
              <a:buFont typeface="Arial"/>
              <a:buChar char="￭"/>
            </a:pPr>
            <a:r>
              <a:rPr lang="en-US" sz="2799">
                <a:solidFill>
                  <a:srgbClr val="000000"/>
                </a:solidFill>
                <a:latin typeface="Calibri (MS)"/>
                <a:ea typeface="Calibri (MS)"/>
                <a:cs typeface="Calibri (MS)"/>
                <a:sym typeface="Calibri (MS)"/>
              </a:rPr>
              <a:t> Conduct hands-on training in </a:t>
            </a:r>
            <a:r>
              <a:rPr lang="en-US" b="true" sz="2799">
                <a:solidFill>
                  <a:srgbClr val="000000"/>
                </a:solidFill>
                <a:latin typeface="Calibri (MS) Bold"/>
                <a:ea typeface="Calibri (MS) Bold"/>
                <a:cs typeface="Calibri (MS) Bold"/>
                <a:sym typeface="Calibri (MS) Bold"/>
              </a:rPr>
              <a:t>hospitals</a:t>
            </a:r>
            <a:r>
              <a:rPr lang="en-US" sz="2799">
                <a:solidFill>
                  <a:srgbClr val="000000"/>
                </a:solidFill>
                <a:latin typeface="Calibri (MS)"/>
                <a:ea typeface="Calibri (MS)"/>
                <a:cs typeface="Calibri (MS)"/>
                <a:sym typeface="Calibri (MS)"/>
              </a:rPr>
              <a:t> and </a:t>
            </a:r>
            <a:r>
              <a:rPr lang="en-US" b="true" sz="2799">
                <a:solidFill>
                  <a:srgbClr val="000000"/>
                </a:solidFill>
                <a:latin typeface="Calibri (MS) Bold"/>
                <a:ea typeface="Calibri (MS) Bold"/>
                <a:cs typeface="Calibri (MS) Bold"/>
                <a:sym typeface="Calibri (MS) Bold"/>
              </a:rPr>
              <a:t>medical colleges</a:t>
            </a:r>
            <a:r>
              <a:rPr lang="en-US" sz="2799">
                <a:solidFill>
                  <a:srgbClr val="000000"/>
                </a:solidFill>
                <a:latin typeface="Calibri (MS)"/>
                <a:ea typeface="Calibri (MS)"/>
                <a:cs typeface="Calibri (MS)"/>
                <a:sym typeface="Calibri (MS)"/>
              </a:rPr>
              <a:t>.</a:t>
            </a:r>
          </a:p>
          <a:p>
            <a:pPr algn="l" marL="922189" indent="-230547" lvl="3">
              <a:lnSpc>
                <a:spcPts val="2536"/>
              </a:lnSpc>
            </a:pPr>
          </a:p>
          <a:p>
            <a:pPr algn="l" marL="922189" indent="-230547" lvl="3">
              <a:lnSpc>
                <a:spcPts val="2536"/>
              </a:lnSpc>
              <a:buFont typeface="Arial"/>
              <a:buChar char="￭"/>
            </a:pPr>
            <a:r>
              <a:rPr lang="en-US" sz="2799">
                <a:solidFill>
                  <a:srgbClr val="000000"/>
                </a:solidFill>
                <a:latin typeface="Calibri (MS)"/>
                <a:ea typeface="Calibri (MS)"/>
                <a:cs typeface="Calibri (MS)"/>
                <a:sym typeface="Calibri (MS)"/>
              </a:rPr>
              <a:t>Train HCPs on eligibility, dosage, adherence &amp; managing side effects.</a:t>
            </a:r>
          </a:p>
          <a:p>
            <a:pPr algn="l" marL="922189" indent="-230547" lvl="3">
              <a:lnSpc>
                <a:spcPts val="2536"/>
              </a:lnSpc>
            </a:pPr>
          </a:p>
          <a:p>
            <a:pPr algn="l" marL="922189" indent="-230547" lvl="3">
              <a:lnSpc>
                <a:spcPts val="2536"/>
              </a:lnSpc>
              <a:buFont typeface="Arial"/>
              <a:buChar char="￭"/>
            </a:pPr>
            <a:r>
              <a:rPr lang="en-US" sz="2799">
                <a:solidFill>
                  <a:srgbClr val="000000"/>
                </a:solidFill>
                <a:latin typeface="Calibri (MS)"/>
                <a:ea typeface="Calibri (MS)"/>
                <a:cs typeface="Calibri (MS)"/>
                <a:sym typeface="Calibri (MS)"/>
              </a:rPr>
              <a:t>Use </a:t>
            </a:r>
            <a:r>
              <a:rPr lang="en-US" b="true" sz="2799">
                <a:solidFill>
                  <a:srgbClr val="000000"/>
                </a:solidFill>
                <a:latin typeface="Calibri (MS) Bold"/>
                <a:ea typeface="Calibri (MS) Bold"/>
                <a:cs typeface="Calibri (MS) Bold"/>
                <a:sym typeface="Calibri (MS) Bold"/>
              </a:rPr>
              <a:t>demonstrations </a:t>
            </a:r>
            <a:r>
              <a:rPr lang="en-US" sz="2799">
                <a:solidFill>
                  <a:srgbClr val="000000"/>
                </a:solidFill>
                <a:latin typeface="Calibri (MS)"/>
                <a:ea typeface="Calibri (MS)"/>
                <a:cs typeface="Calibri (MS)"/>
                <a:sym typeface="Calibri (MS)"/>
              </a:rPr>
              <a:t>to visualize patient transformation journeys.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341926" y="5829300"/>
            <a:ext cx="8086487" cy="3412123"/>
          </a:xfrm>
          <a:custGeom>
            <a:avLst/>
            <a:gdLst/>
            <a:ahLst/>
            <a:cxnLst/>
            <a:rect r="r" b="b" t="t" l="l"/>
            <a:pathLst>
              <a:path h="3412123" w="8086487">
                <a:moveTo>
                  <a:pt x="0" y="0"/>
                </a:moveTo>
                <a:lnTo>
                  <a:pt x="8086487" y="0"/>
                </a:lnTo>
                <a:lnTo>
                  <a:pt x="8086487" y="3412123"/>
                </a:lnTo>
                <a:lnTo>
                  <a:pt x="0" y="3412123"/>
                </a:lnTo>
                <a:lnTo>
                  <a:pt x="0" y="0"/>
                </a:lnTo>
                <a:close/>
              </a:path>
            </a:pathLst>
          </a:custGeom>
          <a:blipFill>
            <a:blip r:embed="rId2">
              <a:extLst>
                <a:ext uri="{96DAC541-7B7A-43D3-8B79-37D633B846F1}">
                  <asvg:svgBlip xmlns:asvg="http://schemas.microsoft.com/office/drawing/2016/SVG/main" r:embed="rId3"/>
                </a:ext>
              </a:extLst>
            </a:blip>
            <a:stretch>
              <a:fillRect l="0" t="-106" r="0" b="-106"/>
            </a:stretch>
          </a:blipFill>
        </p:spPr>
      </p:sp>
      <p:sp>
        <p:nvSpPr>
          <p:cNvPr name="Freeform 3" id="3"/>
          <p:cNvSpPr/>
          <p:nvPr/>
        </p:nvSpPr>
        <p:spPr>
          <a:xfrm flipH="false" flipV="false" rot="0">
            <a:off x="911121" y="1846608"/>
            <a:ext cx="8086487" cy="3412123"/>
          </a:xfrm>
          <a:custGeom>
            <a:avLst/>
            <a:gdLst/>
            <a:ahLst/>
            <a:cxnLst/>
            <a:rect r="r" b="b" t="t" l="l"/>
            <a:pathLst>
              <a:path h="3412123" w="8086487">
                <a:moveTo>
                  <a:pt x="0" y="0"/>
                </a:moveTo>
                <a:lnTo>
                  <a:pt x="8086487" y="0"/>
                </a:lnTo>
                <a:lnTo>
                  <a:pt x="8086487" y="3412123"/>
                </a:lnTo>
                <a:lnTo>
                  <a:pt x="0" y="3412123"/>
                </a:lnTo>
                <a:lnTo>
                  <a:pt x="0" y="0"/>
                </a:lnTo>
                <a:close/>
              </a:path>
            </a:pathLst>
          </a:custGeom>
          <a:blipFill>
            <a:blip r:embed="rId2">
              <a:extLst>
                <a:ext uri="{96DAC541-7B7A-43D3-8B79-37D633B846F1}">
                  <asvg:svgBlip xmlns:asvg="http://schemas.microsoft.com/office/drawing/2016/SVG/main" r:embed="rId3"/>
                </a:ext>
              </a:extLst>
            </a:blip>
            <a:stretch>
              <a:fillRect l="0" t="-106" r="0" b="-106"/>
            </a:stretch>
          </a:blipFill>
        </p:spPr>
      </p:sp>
      <p:sp>
        <p:nvSpPr>
          <p:cNvPr name="Freeform 4" id="4"/>
          <p:cNvSpPr/>
          <p:nvPr/>
        </p:nvSpPr>
        <p:spPr>
          <a:xfrm flipH="false" flipV="false" rot="0">
            <a:off x="9341926" y="1837294"/>
            <a:ext cx="8086487" cy="3412123"/>
          </a:xfrm>
          <a:custGeom>
            <a:avLst/>
            <a:gdLst/>
            <a:ahLst/>
            <a:cxnLst/>
            <a:rect r="r" b="b" t="t" l="l"/>
            <a:pathLst>
              <a:path h="3412123" w="8086487">
                <a:moveTo>
                  <a:pt x="0" y="0"/>
                </a:moveTo>
                <a:lnTo>
                  <a:pt x="8086487" y="0"/>
                </a:lnTo>
                <a:lnTo>
                  <a:pt x="8086487" y="3412123"/>
                </a:lnTo>
                <a:lnTo>
                  <a:pt x="0" y="3412123"/>
                </a:lnTo>
                <a:lnTo>
                  <a:pt x="0" y="0"/>
                </a:lnTo>
                <a:close/>
              </a:path>
            </a:pathLst>
          </a:custGeom>
          <a:blipFill>
            <a:blip r:embed="rId2">
              <a:extLst>
                <a:ext uri="{96DAC541-7B7A-43D3-8B79-37D633B846F1}">
                  <asvg:svgBlip xmlns:asvg="http://schemas.microsoft.com/office/drawing/2016/SVG/main" r:embed="rId3"/>
                </a:ext>
              </a:extLst>
            </a:blip>
            <a:stretch>
              <a:fillRect l="0" t="-106" r="0" b="-106"/>
            </a:stretch>
          </a:blipFill>
        </p:spPr>
      </p:sp>
      <p:grpSp>
        <p:nvGrpSpPr>
          <p:cNvPr name="Group 5" id="5"/>
          <p:cNvGrpSpPr/>
          <p:nvPr/>
        </p:nvGrpSpPr>
        <p:grpSpPr>
          <a:xfrm rot="0">
            <a:off x="1184336" y="2106842"/>
            <a:ext cx="585026" cy="585026"/>
            <a:chOff x="0" y="0"/>
            <a:chExt cx="780034" cy="780034"/>
          </a:xfrm>
        </p:grpSpPr>
        <p:sp>
          <p:nvSpPr>
            <p:cNvPr name="Freeform 6" id="6"/>
            <p:cNvSpPr/>
            <p:nvPr/>
          </p:nvSpPr>
          <p:spPr>
            <a:xfrm flipH="false" flipV="false" rot="0">
              <a:off x="0" y="0"/>
              <a:ext cx="780034" cy="780034"/>
            </a:xfrm>
            <a:custGeom>
              <a:avLst/>
              <a:gdLst/>
              <a:ahLst/>
              <a:cxnLst/>
              <a:rect r="r" b="b" t="t" l="l"/>
              <a:pathLst>
                <a:path h="780034" w="780034">
                  <a:moveTo>
                    <a:pt x="0" y="390017"/>
                  </a:moveTo>
                  <a:cubicBezTo>
                    <a:pt x="0" y="174625"/>
                    <a:pt x="174625" y="0"/>
                    <a:pt x="390017" y="0"/>
                  </a:cubicBezTo>
                  <a:cubicBezTo>
                    <a:pt x="605409" y="0"/>
                    <a:pt x="780034" y="174625"/>
                    <a:pt x="780034" y="390017"/>
                  </a:cubicBezTo>
                  <a:cubicBezTo>
                    <a:pt x="780034" y="605409"/>
                    <a:pt x="605282" y="780034"/>
                    <a:pt x="390017" y="780034"/>
                  </a:cubicBezTo>
                  <a:cubicBezTo>
                    <a:pt x="174752" y="780034"/>
                    <a:pt x="0" y="605282"/>
                    <a:pt x="0" y="390017"/>
                  </a:cubicBezTo>
                  <a:close/>
                </a:path>
              </a:pathLst>
            </a:custGeom>
            <a:solidFill>
              <a:srgbClr val="4950BC"/>
            </a:solidFill>
          </p:spPr>
        </p:sp>
      </p:grpSp>
      <p:grpSp>
        <p:nvGrpSpPr>
          <p:cNvPr name="Group 7" id="7"/>
          <p:cNvGrpSpPr/>
          <p:nvPr/>
        </p:nvGrpSpPr>
        <p:grpSpPr>
          <a:xfrm rot="0">
            <a:off x="1291988" y="2195345"/>
            <a:ext cx="369665" cy="462153"/>
            <a:chOff x="0" y="0"/>
            <a:chExt cx="492887" cy="616204"/>
          </a:xfrm>
        </p:grpSpPr>
        <p:sp>
          <p:nvSpPr>
            <p:cNvPr name="Freeform 8" id="8" descr="preencoded.png"/>
            <p:cNvSpPr/>
            <p:nvPr/>
          </p:nvSpPr>
          <p:spPr>
            <a:xfrm flipH="false" flipV="false" rot="0">
              <a:off x="0" y="0"/>
              <a:ext cx="492887" cy="616204"/>
            </a:xfrm>
            <a:custGeom>
              <a:avLst/>
              <a:gdLst/>
              <a:ahLst/>
              <a:cxnLst/>
              <a:rect r="r" b="b" t="t" l="l"/>
              <a:pathLst>
                <a:path h="616204" w="492887">
                  <a:moveTo>
                    <a:pt x="0" y="0"/>
                  </a:moveTo>
                  <a:lnTo>
                    <a:pt x="492887" y="0"/>
                  </a:lnTo>
                  <a:lnTo>
                    <a:pt x="492887" y="616204"/>
                  </a:lnTo>
                  <a:lnTo>
                    <a:pt x="0" y="616204"/>
                  </a:lnTo>
                  <a:lnTo>
                    <a:pt x="0" y="0"/>
                  </a:lnTo>
                  <a:close/>
                </a:path>
              </a:pathLst>
            </a:custGeom>
            <a:blipFill>
              <a:blip r:embed="rId4"/>
              <a:stretch>
                <a:fillRect l="0" t="-205" r="0" b="-205"/>
              </a:stretch>
            </a:blipFill>
          </p:spPr>
        </p:sp>
      </p:grpSp>
      <p:sp>
        <p:nvSpPr>
          <p:cNvPr name="TextBox 9" id="9"/>
          <p:cNvSpPr txBox="true"/>
          <p:nvPr/>
        </p:nvSpPr>
        <p:spPr>
          <a:xfrm rot="0">
            <a:off x="9412023" y="2062365"/>
            <a:ext cx="8086435" cy="468312"/>
          </a:xfrm>
          <a:prstGeom prst="rect">
            <a:avLst/>
          </a:prstGeom>
        </p:spPr>
        <p:txBody>
          <a:bodyPr anchor="t" rtlCol="false" tIns="0" lIns="0" bIns="0" rIns="0">
            <a:spAutoFit/>
          </a:bodyPr>
          <a:lstStyle/>
          <a:p>
            <a:pPr algn="ctr">
              <a:lnSpc>
                <a:spcPts val="3436"/>
              </a:lnSpc>
            </a:pPr>
            <a:r>
              <a:rPr lang="en-US" sz="2750" b="true">
                <a:solidFill>
                  <a:srgbClr val="000000"/>
                </a:solidFill>
                <a:latin typeface="Inter Bold"/>
                <a:ea typeface="Inter Bold"/>
                <a:cs typeface="Inter Bold"/>
                <a:sym typeface="Inter Bold"/>
              </a:rPr>
              <a:t>Smart Wellness App &amp; AI Chatbot</a:t>
            </a:r>
          </a:p>
        </p:txBody>
      </p:sp>
      <p:grpSp>
        <p:nvGrpSpPr>
          <p:cNvPr name="Group 10" id="10"/>
          <p:cNvGrpSpPr/>
          <p:nvPr/>
        </p:nvGrpSpPr>
        <p:grpSpPr>
          <a:xfrm rot="0">
            <a:off x="9571759" y="2032600"/>
            <a:ext cx="585026" cy="585026"/>
            <a:chOff x="0" y="0"/>
            <a:chExt cx="780034" cy="780034"/>
          </a:xfrm>
        </p:grpSpPr>
        <p:sp>
          <p:nvSpPr>
            <p:cNvPr name="Freeform 11" id="11"/>
            <p:cNvSpPr/>
            <p:nvPr/>
          </p:nvSpPr>
          <p:spPr>
            <a:xfrm flipH="false" flipV="false" rot="0">
              <a:off x="0" y="0"/>
              <a:ext cx="780034" cy="780034"/>
            </a:xfrm>
            <a:custGeom>
              <a:avLst/>
              <a:gdLst/>
              <a:ahLst/>
              <a:cxnLst/>
              <a:rect r="r" b="b" t="t" l="l"/>
              <a:pathLst>
                <a:path h="780034" w="780034">
                  <a:moveTo>
                    <a:pt x="0" y="390017"/>
                  </a:moveTo>
                  <a:cubicBezTo>
                    <a:pt x="0" y="174625"/>
                    <a:pt x="174625" y="0"/>
                    <a:pt x="390017" y="0"/>
                  </a:cubicBezTo>
                  <a:cubicBezTo>
                    <a:pt x="605409" y="0"/>
                    <a:pt x="780034" y="174625"/>
                    <a:pt x="780034" y="390017"/>
                  </a:cubicBezTo>
                  <a:cubicBezTo>
                    <a:pt x="780034" y="605409"/>
                    <a:pt x="605282" y="780034"/>
                    <a:pt x="390017" y="780034"/>
                  </a:cubicBezTo>
                  <a:cubicBezTo>
                    <a:pt x="174752" y="780034"/>
                    <a:pt x="0" y="605282"/>
                    <a:pt x="0" y="390017"/>
                  </a:cubicBezTo>
                  <a:close/>
                </a:path>
              </a:pathLst>
            </a:custGeom>
            <a:solidFill>
              <a:srgbClr val="4950BC"/>
            </a:solidFill>
          </p:spPr>
        </p:sp>
      </p:grpSp>
      <p:sp>
        <p:nvSpPr>
          <p:cNvPr name="Freeform 12" id="12"/>
          <p:cNvSpPr/>
          <p:nvPr/>
        </p:nvSpPr>
        <p:spPr>
          <a:xfrm flipH="false" flipV="false" rot="0">
            <a:off x="9636051" y="2127549"/>
            <a:ext cx="456408" cy="405463"/>
          </a:xfrm>
          <a:custGeom>
            <a:avLst/>
            <a:gdLst/>
            <a:ahLst/>
            <a:cxnLst/>
            <a:rect r="r" b="b" t="t" l="l"/>
            <a:pathLst>
              <a:path h="405463" w="456408">
                <a:moveTo>
                  <a:pt x="0" y="0"/>
                </a:moveTo>
                <a:lnTo>
                  <a:pt x="456408" y="0"/>
                </a:lnTo>
                <a:lnTo>
                  <a:pt x="456408" y="405463"/>
                </a:lnTo>
                <a:lnTo>
                  <a:pt x="0" y="405463"/>
                </a:lnTo>
                <a:lnTo>
                  <a:pt x="0" y="0"/>
                </a:lnTo>
                <a:close/>
              </a:path>
            </a:pathLst>
          </a:custGeom>
          <a:blipFill>
            <a:blip r:embed="rId5">
              <a:extLst>
                <a:ext uri="{96DAC541-7B7A-43D3-8B79-37D633B846F1}">
                  <asvg:svgBlip xmlns:asvg="http://schemas.microsoft.com/office/drawing/2016/SVG/main" r:embed="rId6"/>
                </a:ext>
              </a:extLst>
            </a:blip>
            <a:stretch>
              <a:fillRect l="0" t="-419" r="0" b="-419"/>
            </a:stretch>
          </a:blipFill>
        </p:spPr>
      </p:sp>
      <p:sp>
        <p:nvSpPr>
          <p:cNvPr name="TextBox 13" id="13"/>
          <p:cNvSpPr txBox="true"/>
          <p:nvPr/>
        </p:nvSpPr>
        <p:spPr>
          <a:xfrm rot="0">
            <a:off x="958602" y="668905"/>
            <a:ext cx="16370796" cy="892164"/>
          </a:xfrm>
          <a:prstGeom prst="rect">
            <a:avLst/>
          </a:prstGeom>
        </p:spPr>
        <p:txBody>
          <a:bodyPr anchor="t" rtlCol="false" tIns="0" lIns="0" bIns="0" rIns="0">
            <a:spAutoFit/>
          </a:bodyPr>
          <a:lstStyle/>
          <a:p>
            <a:pPr algn="ctr">
              <a:lnSpc>
                <a:spcPts val="6687"/>
              </a:lnSpc>
            </a:pPr>
            <a:r>
              <a:rPr lang="en-US" sz="4800" b="true">
                <a:solidFill>
                  <a:srgbClr val="000000"/>
                </a:solidFill>
                <a:latin typeface="Inter Bold"/>
                <a:ea typeface="Inter Bold"/>
                <a:cs typeface="Inter Bold"/>
                <a:sym typeface="Inter Bold"/>
              </a:rPr>
              <a:t>Other Strategy Recommendations</a:t>
            </a:r>
          </a:p>
        </p:txBody>
      </p:sp>
      <p:sp>
        <p:nvSpPr>
          <p:cNvPr name="TextBox 14" id="14"/>
          <p:cNvSpPr txBox="true"/>
          <p:nvPr/>
        </p:nvSpPr>
        <p:spPr>
          <a:xfrm rot="0">
            <a:off x="2079823" y="2081309"/>
            <a:ext cx="5320429" cy="465138"/>
          </a:xfrm>
          <a:prstGeom prst="rect">
            <a:avLst/>
          </a:prstGeom>
        </p:spPr>
        <p:txBody>
          <a:bodyPr anchor="t" rtlCol="false" tIns="0" lIns="0" bIns="0" rIns="0">
            <a:spAutoFit/>
          </a:bodyPr>
          <a:lstStyle/>
          <a:p>
            <a:pPr algn="l">
              <a:lnSpc>
                <a:spcPts val="3311"/>
              </a:lnSpc>
            </a:pPr>
            <a:r>
              <a:rPr lang="en-US" sz="2687" b="true">
                <a:solidFill>
                  <a:srgbClr val="272525"/>
                </a:solidFill>
                <a:latin typeface="Inter Bold"/>
                <a:ea typeface="Inter Bold"/>
                <a:cs typeface="Inter Bold"/>
                <a:sym typeface="Inter Bold"/>
              </a:rPr>
              <a:t>Collaborate with Influencers</a:t>
            </a:r>
          </a:p>
        </p:txBody>
      </p:sp>
      <p:sp>
        <p:nvSpPr>
          <p:cNvPr name="TextBox 15" id="15"/>
          <p:cNvSpPr txBox="true"/>
          <p:nvPr/>
        </p:nvSpPr>
        <p:spPr>
          <a:xfrm rot="0">
            <a:off x="1150479" y="3009563"/>
            <a:ext cx="7626769" cy="2136744"/>
          </a:xfrm>
          <a:prstGeom prst="rect">
            <a:avLst/>
          </a:prstGeom>
        </p:spPr>
        <p:txBody>
          <a:bodyPr anchor="t" rtlCol="false" tIns="0" lIns="0" bIns="0" rIns="0">
            <a:spAutoFit/>
          </a:bodyPr>
          <a:lstStyle/>
          <a:p>
            <a:pPr algn="just">
              <a:lnSpc>
                <a:spcPts val="2728"/>
              </a:lnSpc>
            </a:pPr>
            <a:r>
              <a:rPr lang="en-US" sz="2000">
                <a:solidFill>
                  <a:srgbClr val="000000"/>
                </a:solidFill>
                <a:latin typeface="Inter"/>
                <a:ea typeface="Inter"/>
                <a:cs typeface="Inter"/>
                <a:sym typeface="Inter"/>
              </a:rPr>
              <a:t>Reach millions through influencers and online platforms</a:t>
            </a:r>
          </a:p>
          <a:p>
            <a:pPr algn="just">
              <a:lnSpc>
                <a:spcPts val="2728"/>
              </a:lnSpc>
            </a:pPr>
          </a:p>
          <a:p>
            <a:pPr algn="just">
              <a:lnSpc>
                <a:spcPts val="2728"/>
              </a:lnSpc>
            </a:pPr>
            <a:r>
              <a:rPr lang="en-US" sz="2000">
                <a:solidFill>
                  <a:srgbClr val="000000"/>
                </a:solidFill>
                <a:latin typeface="Inter"/>
                <a:ea typeface="Inter"/>
                <a:cs typeface="Inter"/>
                <a:sym typeface="Inter"/>
              </a:rPr>
              <a:t>Highlight obesity as a major health concern</a:t>
            </a:r>
          </a:p>
          <a:p>
            <a:pPr algn="just">
              <a:lnSpc>
                <a:spcPts val="2728"/>
              </a:lnSpc>
            </a:pPr>
          </a:p>
          <a:p>
            <a:pPr algn="just">
              <a:lnSpc>
                <a:spcPts val="2728"/>
              </a:lnSpc>
            </a:pPr>
            <a:r>
              <a:rPr lang="en-US" sz="2000">
                <a:solidFill>
                  <a:srgbClr val="000000"/>
                </a:solidFill>
                <a:latin typeface="Inter"/>
                <a:ea typeface="Inter"/>
                <a:cs typeface="Inter"/>
                <a:sym typeface="Inter"/>
              </a:rPr>
              <a:t>Promote traditional &amp; modern solutions to inspire action</a:t>
            </a:r>
          </a:p>
          <a:p>
            <a:pPr algn="just">
              <a:lnSpc>
                <a:spcPts val="2728"/>
              </a:lnSpc>
            </a:pPr>
          </a:p>
        </p:txBody>
      </p:sp>
      <p:sp>
        <p:nvSpPr>
          <p:cNvPr name="TextBox 16" id="16"/>
          <p:cNvSpPr txBox="true"/>
          <p:nvPr/>
        </p:nvSpPr>
        <p:spPr>
          <a:xfrm rot="0">
            <a:off x="9571759" y="2993793"/>
            <a:ext cx="7482224" cy="1779794"/>
          </a:xfrm>
          <a:prstGeom prst="rect">
            <a:avLst/>
          </a:prstGeom>
        </p:spPr>
        <p:txBody>
          <a:bodyPr anchor="t" rtlCol="false" tIns="0" lIns="0" bIns="0" rIns="0">
            <a:spAutoFit/>
          </a:bodyPr>
          <a:lstStyle/>
          <a:p>
            <a:pPr algn="l">
              <a:lnSpc>
                <a:spcPts val="2724"/>
              </a:lnSpc>
            </a:pPr>
            <a:r>
              <a:rPr lang="en-US" sz="2000">
                <a:solidFill>
                  <a:srgbClr val="000000"/>
                </a:solidFill>
                <a:latin typeface="Inter"/>
                <a:ea typeface="Inter"/>
                <a:cs typeface="Inter"/>
                <a:sym typeface="Inter"/>
              </a:rPr>
              <a:t>Track weight loss journey &amp; get AI health guidance.</a:t>
            </a:r>
          </a:p>
          <a:p>
            <a:pPr algn="l">
              <a:lnSpc>
                <a:spcPts val="2724"/>
              </a:lnSpc>
            </a:pPr>
          </a:p>
          <a:p>
            <a:pPr algn="l">
              <a:lnSpc>
                <a:spcPts val="2724"/>
              </a:lnSpc>
            </a:pPr>
            <a:r>
              <a:rPr lang="en-US" sz="2000">
                <a:solidFill>
                  <a:srgbClr val="000000"/>
                </a:solidFill>
                <a:latin typeface="Inter"/>
                <a:ea typeface="Inter"/>
                <a:cs typeface="Inter"/>
                <a:sym typeface="Inter"/>
              </a:rPr>
              <a:t>Direct doctor contact &amp; personalized symptom reminders</a:t>
            </a:r>
          </a:p>
          <a:p>
            <a:pPr algn="l">
              <a:lnSpc>
                <a:spcPts val="2724"/>
              </a:lnSpc>
            </a:pPr>
          </a:p>
          <a:p>
            <a:pPr algn="l">
              <a:lnSpc>
                <a:spcPts val="2724"/>
              </a:lnSpc>
            </a:pPr>
            <a:r>
              <a:rPr lang="en-US" sz="2000">
                <a:solidFill>
                  <a:srgbClr val="000000"/>
                </a:solidFill>
                <a:latin typeface="Inter"/>
                <a:ea typeface="Inter"/>
                <a:cs typeface="Inter"/>
                <a:sym typeface="Inter"/>
              </a:rPr>
              <a:t>Log feedback &amp; stay on track with lifestyle goals</a:t>
            </a:r>
          </a:p>
        </p:txBody>
      </p:sp>
      <p:grpSp>
        <p:nvGrpSpPr>
          <p:cNvPr name="Group 17" id="17"/>
          <p:cNvGrpSpPr/>
          <p:nvPr/>
        </p:nvGrpSpPr>
        <p:grpSpPr>
          <a:xfrm rot="0">
            <a:off x="9683356" y="6024606"/>
            <a:ext cx="585026" cy="585025"/>
            <a:chOff x="0" y="0"/>
            <a:chExt cx="780034" cy="780034"/>
          </a:xfrm>
        </p:grpSpPr>
        <p:sp>
          <p:nvSpPr>
            <p:cNvPr name="Freeform 18" id="18"/>
            <p:cNvSpPr/>
            <p:nvPr/>
          </p:nvSpPr>
          <p:spPr>
            <a:xfrm flipH="false" flipV="false" rot="0">
              <a:off x="0" y="0"/>
              <a:ext cx="780034" cy="780034"/>
            </a:xfrm>
            <a:custGeom>
              <a:avLst/>
              <a:gdLst/>
              <a:ahLst/>
              <a:cxnLst/>
              <a:rect r="r" b="b" t="t" l="l"/>
              <a:pathLst>
                <a:path h="780034" w="780034">
                  <a:moveTo>
                    <a:pt x="0" y="390017"/>
                  </a:moveTo>
                  <a:cubicBezTo>
                    <a:pt x="0" y="174625"/>
                    <a:pt x="174625" y="0"/>
                    <a:pt x="390017" y="0"/>
                  </a:cubicBezTo>
                  <a:cubicBezTo>
                    <a:pt x="605409" y="0"/>
                    <a:pt x="780034" y="174625"/>
                    <a:pt x="780034" y="390017"/>
                  </a:cubicBezTo>
                  <a:cubicBezTo>
                    <a:pt x="780034" y="605409"/>
                    <a:pt x="605282" y="780034"/>
                    <a:pt x="390017" y="780034"/>
                  </a:cubicBezTo>
                  <a:cubicBezTo>
                    <a:pt x="174752" y="780034"/>
                    <a:pt x="0" y="605282"/>
                    <a:pt x="0" y="390017"/>
                  </a:cubicBezTo>
                  <a:close/>
                </a:path>
              </a:pathLst>
            </a:custGeom>
            <a:solidFill>
              <a:srgbClr val="4950BC"/>
            </a:solidFill>
          </p:spPr>
        </p:sp>
      </p:grpSp>
      <p:sp>
        <p:nvSpPr>
          <p:cNvPr name="TextBox 19" id="19"/>
          <p:cNvSpPr txBox="true"/>
          <p:nvPr/>
        </p:nvSpPr>
        <p:spPr>
          <a:xfrm rot="0">
            <a:off x="9975868" y="6093576"/>
            <a:ext cx="5416531" cy="428970"/>
          </a:xfrm>
          <a:prstGeom prst="rect">
            <a:avLst/>
          </a:prstGeom>
        </p:spPr>
        <p:txBody>
          <a:bodyPr anchor="t" rtlCol="false" tIns="0" lIns="0" bIns="0" rIns="0">
            <a:spAutoFit/>
          </a:bodyPr>
          <a:lstStyle/>
          <a:p>
            <a:pPr algn="ctr">
              <a:lnSpc>
                <a:spcPts val="3436"/>
              </a:lnSpc>
            </a:pPr>
            <a:r>
              <a:rPr lang="en-US" sz="2750" b="true">
                <a:solidFill>
                  <a:srgbClr val="000000"/>
                </a:solidFill>
                <a:latin typeface="Inter Bold"/>
                <a:ea typeface="Inter Bold"/>
                <a:cs typeface="Inter Bold"/>
                <a:sym typeface="Inter Bold"/>
              </a:rPr>
              <a:t>Patient Retention Strategy </a:t>
            </a:r>
          </a:p>
        </p:txBody>
      </p:sp>
      <p:sp>
        <p:nvSpPr>
          <p:cNvPr name="TextBox 20" id="20"/>
          <p:cNvSpPr txBox="true"/>
          <p:nvPr/>
        </p:nvSpPr>
        <p:spPr>
          <a:xfrm rot="0">
            <a:off x="9744739" y="6856763"/>
            <a:ext cx="7309244" cy="1739493"/>
          </a:xfrm>
          <a:prstGeom prst="rect">
            <a:avLst/>
          </a:prstGeom>
        </p:spPr>
        <p:txBody>
          <a:bodyPr anchor="t" rtlCol="false" tIns="0" lIns="0" bIns="0" rIns="0">
            <a:spAutoFit/>
          </a:bodyPr>
          <a:lstStyle/>
          <a:p>
            <a:pPr algn="l">
              <a:lnSpc>
                <a:spcPts val="2686"/>
              </a:lnSpc>
            </a:pPr>
            <a:r>
              <a:rPr lang="en-US" sz="2000">
                <a:solidFill>
                  <a:srgbClr val="000000"/>
                </a:solidFill>
                <a:latin typeface="Inter"/>
                <a:ea typeface="Inter"/>
                <a:cs typeface="Inter"/>
                <a:sym typeface="Inter"/>
              </a:rPr>
              <a:t>Introduce a </a:t>
            </a:r>
            <a:r>
              <a:rPr lang="en-US" sz="2000" b="true">
                <a:solidFill>
                  <a:srgbClr val="000000"/>
                </a:solidFill>
                <a:latin typeface="Inter Bold"/>
                <a:ea typeface="Inter Bold"/>
                <a:cs typeface="Inter Bold"/>
                <a:sym typeface="Inter Bold"/>
              </a:rPr>
              <a:t>“Wegovy Care” program</a:t>
            </a:r>
            <a:r>
              <a:rPr lang="en-US" sz="2000">
                <a:solidFill>
                  <a:srgbClr val="000000"/>
                </a:solidFill>
                <a:latin typeface="Inter"/>
                <a:ea typeface="Inter"/>
                <a:cs typeface="Inter"/>
                <a:sym typeface="Inter"/>
              </a:rPr>
              <a:t>—with weekly consultations from dieticians and obesity specialists, dose reminders, and reward points.</a:t>
            </a:r>
          </a:p>
          <a:p>
            <a:pPr algn="l">
              <a:lnSpc>
                <a:spcPts val="2686"/>
              </a:lnSpc>
            </a:pPr>
          </a:p>
          <a:p>
            <a:pPr algn="l">
              <a:lnSpc>
                <a:spcPts val="2686"/>
              </a:lnSpc>
            </a:pPr>
            <a:r>
              <a:rPr lang="en-US" sz="2000">
                <a:solidFill>
                  <a:srgbClr val="000000"/>
                </a:solidFill>
                <a:latin typeface="Inter"/>
                <a:ea typeface="Inter"/>
                <a:cs typeface="Inter"/>
                <a:sym typeface="Inter"/>
              </a:rPr>
              <a:t> </a:t>
            </a:r>
          </a:p>
        </p:txBody>
      </p:sp>
      <p:grpSp>
        <p:nvGrpSpPr>
          <p:cNvPr name="Group 21" id="21"/>
          <p:cNvGrpSpPr/>
          <p:nvPr/>
        </p:nvGrpSpPr>
        <p:grpSpPr>
          <a:xfrm rot="0">
            <a:off x="9813667" y="6119555"/>
            <a:ext cx="346995" cy="433863"/>
            <a:chOff x="0" y="0"/>
            <a:chExt cx="462660" cy="578485"/>
          </a:xfrm>
        </p:grpSpPr>
        <p:sp>
          <p:nvSpPr>
            <p:cNvPr name="Freeform 22" id="22" descr="preencoded.png"/>
            <p:cNvSpPr/>
            <p:nvPr/>
          </p:nvSpPr>
          <p:spPr>
            <a:xfrm flipH="false" flipV="false" rot="0">
              <a:off x="0" y="0"/>
              <a:ext cx="462661" cy="578485"/>
            </a:xfrm>
            <a:custGeom>
              <a:avLst/>
              <a:gdLst/>
              <a:ahLst/>
              <a:cxnLst/>
              <a:rect r="r" b="b" t="t" l="l"/>
              <a:pathLst>
                <a:path h="578485" w="462661">
                  <a:moveTo>
                    <a:pt x="0" y="0"/>
                  </a:moveTo>
                  <a:lnTo>
                    <a:pt x="462661" y="0"/>
                  </a:lnTo>
                  <a:lnTo>
                    <a:pt x="462661" y="578485"/>
                  </a:lnTo>
                  <a:lnTo>
                    <a:pt x="0" y="578485"/>
                  </a:lnTo>
                  <a:lnTo>
                    <a:pt x="0" y="0"/>
                  </a:lnTo>
                  <a:close/>
                </a:path>
              </a:pathLst>
            </a:custGeom>
            <a:blipFill>
              <a:blip r:embed="rId7"/>
              <a:stretch>
                <a:fillRect l="0" t="-218" r="0" b="-218"/>
              </a:stretch>
            </a:blipFill>
          </p:spPr>
        </p:sp>
      </p:grpSp>
      <p:sp>
        <p:nvSpPr>
          <p:cNvPr name="Freeform 23" id="23"/>
          <p:cNvSpPr/>
          <p:nvPr/>
        </p:nvSpPr>
        <p:spPr>
          <a:xfrm flipH="false" flipV="false" rot="0">
            <a:off x="911121" y="5829300"/>
            <a:ext cx="8086487" cy="3412123"/>
          </a:xfrm>
          <a:custGeom>
            <a:avLst/>
            <a:gdLst/>
            <a:ahLst/>
            <a:cxnLst/>
            <a:rect r="r" b="b" t="t" l="l"/>
            <a:pathLst>
              <a:path h="3412123" w="8086487">
                <a:moveTo>
                  <a:pt x="0" y="0"/>
                </a:moveTo>
                <a:lnTo>
                  <a:pt x="8086487" y="0"/>
                </a:lnTo>
                <a:lnTo>
                  <a:pt x="8086487" y="3412123"/>
                </a:lnTo>
                <a:lnTo>
                  <a:pt x="0" y="3412123"/>
                </a:lnTo>
                <a:lnTo>
                  <a:pt x="0" y="0"/>
                </a:lnTo>
                <a:close/>
              </a:path>
            </a:pathLst>
          </a:custGeom>
          <a:blipFill>
            <a:blip r:embed="rId2">
              <a:extLst>
                <a:ext uri="{96DAC541-7B7A-43D3-8B79-37D633B846F1}">
                  <asvg:svgBlip xmlns:asvg="http://schemas.microsoft.com/office/drawing/2016/SVG/main" r:embed="rId3"/>
                </a:ext>
              </a:extLst>
            </a:blip>
            <a:stretch>
              <a:fillRect l="0" t="-106" r="0" b="-106"/>
            </a:stretch>
          </a:blipFill>
        </p:spPr>
      </p:sp>
      <p:sp>
        <p:nvSpPr>
          <p:cNvPr name="TextBox 24" id="24"/>
          <p:cNvSpPr txBox="true"/>
          <p:nvPr/>
        </p:nvSpPr>
        <p:spPr>
          <a:xfrm rot="0">
            <a:off x="864667" y="6096323"/>
            <a:ext cx="5724382" cy="428970"/>
          </a:xfrm>
          <a:prstGeom prst="rect">
            <a:avLst/>
          </a:prstGeom>
        </p:spPr>
        <p:txBody>
          <a:bodyPr anchor="t" rtlCol="false" tIns="0" lIns="0" bIns="0" rIns="0">
            <a:spAutoFit/>
          </a:bodyPr>
          <a:lstStyle/>
          <a:p>
            <a:pPr algn="ctr">
              <a:lnSpc>
                <a:spcPts val="3436"/>
              </a:lnSpc>
            </a:pPr>
            <a:r>
              <a:rPr lang="en-US" sz="2750" b="true">
                <a:solidFill>
                  <a:srgbClr val="000000"/>
                </a:solidFill>
                <a:latin typeface="Inter Bold"/>
                <a:ea typeface="Inter Bold"/>
                <a:cs typeface="Inter Bold"/>
                <a:sym typeface="Inter Bold"/>
              </a:rPr>
              <a:t>Incentives Schemes</a:t>
            </a:r>
          </a:p>
        </p:txBody>
      </p:sp>
      <p:grpSp>
        <p:nvGrpSpPr>
          <p:cNvPr name="Group 25" id="25"/>
          <p:cNvGrpSpPr/>
          <p:nvPr/>
        </p:nvGrpSpPr>
        <p:grpSpPr>
          <a:xfrm rot="0">
            <a:off x="1140954" y="6024606"/>
            <a:ext cx="585026" cy="585025"/>
            <a:chOff x="0" y="0"/>
            <a:chExt cx="780034" cy="780034"/>
          </a:xfrm>
        </p:grpSpPr>
        <p:sp>
          <p:nvSpPr>
            <p:cNvPr name="Freeform 26" id="26"/>
            <p:cNvSpPr/>
            <p:nvPr/>
          </p:nvSpPr>
          <p:spPr>
            <a:xfrm flipH="false" flipV="false" rot="0">
              <a:off x="0" y="0"/>
              <a:ext cx="780034" cy="780034"/>
            </a:xfrm>
            <a:custGeom>
              <a:avLst/>
              <a:gdLst/>
              <a:ahLst/>
              <a:cxnLst/>
              <a:rect r="r" b="b" t="t" l="l"/>
              <a:pathLst>
                <a:path h="780034" w="780034">
                  <a:moveTo>
                    <a:pt x="0" y="390017"/>
                  </a:moveTo>
                  <a:cubicBezTo>
                    <a:pt x="0" y="174625"/>
                    <a:pt x="174625" y="0"/>
                    <a:pt x="390017" y="0"/>
                  </a:cubicBezTo>
                  <a:cubicBezTo>
                    <a:pt x="605409" y="0"/>
                    <a:pt x="780034" y="174625"/>
                    <a:pt x="780034" y="390017"/>
                  </a:cubicBezTo>
                  <a:cubicBezTo>
                    <a:pt x="780034" y="605409"/>
                    <a:pt x="605282" y="780034"/>
                    <a:pt x="390017" y="780034"/>
                  </a:cubicBezTo>
                  <a:cubicBezTo>
                    <a:pt x="174752" y="780034"/>
                    <a:pt x="0" y="605282"/>
                    <a:pt x="0" y="390017"/>
                  </a:cubicBezTo>
                  <a:close/>
                </a:path>
              </a:pathLst>
            </a:custGeom>
            <a:solidFill>
              <a:srgbClr val="4950BC"/>
            </a:solidFill>
          </p:spPr>
        </p:sp>
      </p:grpSp>
      <p:sp>
        <p:nvSpPr>
          <p:cNvPr name="Freeform 27" id="27"/>
          <p:cNvSpPr/>
          <p:nvPr/>
        </p:nvSpPr>
        <p:spPr>
          <a:xfrm flipH="false" flipV="false" rot="0">
            <a:off x="1205246" y="6119555"/>
            <a:ext cx="456408" cy="405463"/>
          </a:xfrm>
          <a:custGeom>
            <a:avLst/>
            <a:gdLst/>
            <a:ahLst/>
            <a:cxnLst/>
            <a:rect r="r" b="b" t="t" l="l"/>
            <a:pathLst>
              <a:path h="405463" w="456408">
                <a:moveTo>
                  <a:pt x="0" y="0"/>
                </a:moveTo>
                <a:lnTo>
                  <a:pt x="456408" y="0"/>
                </a:lnTo>
                <a:lnTo>
                  <a:pt x="456408" y="405463"/>
                </a:lnTo>
                <a:lnTo>
                  <a:pt x="0" y="405463"/>
                </a:lnTo>
                <a:lnTo>
                  <a:pt x="0" y="0"/>
                </a:lnTo>
                <a:close/>
              </a:path>
            </a:pathLst>
          </a:custGeom>
          <a:blipFill>
            <a:blip r:embed="rId5">
              <a:extLst>
                <a:ext uri="{96DAC541-7B7A-43D3-8B79-37D633B846F1}">
                  <asvg:svgBlip xmlns:asvg="http://schemas.microsoft.com/office/drawing/2016/SVG/main" r:embed="rId6"/>
                </a:ext>
              </a:extLst>
            </a:blip>
            <a:stretch>
              <a:fillRect l="0" t="-419" r="0" b="-419"/>
            </a:stretch>
          </a:blipFill>
        </p:spPr>
      </p:sp>
      <p:sp>
        <p:nvSpPr>
          <p:cNvPr name="TextBox 28" id="28"/>
          <p:cNvSpPr txBox="true"/>
          <p:nvPr/>
        </p:nvSpPr>
        <p:spPr>
          <a:xfrm rot="0">
            <a:off x="1140954" y="6985799"/>
            <a:ext cx="7482224" cy="704373"/>
          </a:xfrm>
          <a:prstGeom prst="rect">
            <a:avLst/>
          </a:prstGeom>
        </p:spPr>
        <p:txBody>
          <a:bodyPr anchor="t" rtlCol="false" tIns="0" lIns="0" bIns="0" rIns="0">
            <a:spAutoFit/>
          </a:bodyPr>
          <a:lstStyle/>
          <a:p>
            <a:pPr algn="l">
              <a:lnSpc>
                <a:spcPts val="2724"/>
              </a:lnSpc>
            </a:pPr>
            <a:r>
              <a:rPr lang="en-US" sz="2000">
                <a:solidFill>
                  <a:srgbClr val="000000"/>
                </a:solidFill>
                <a:latin typeface="Inter"/>
                <a:ea typeface="Inter"/>
                <a:cs typeface="Inter"/>
                <a:sym typeface="Inter"/>
              </a:rPr>
              <a:t>Recognize top prescribers an opportunity to present at Novo Nordisk–supported medical forums.</a:t>
            </a:r>
          </a:p>
        </p:txBody>
      </p:sp>
      <p:grpSp>
        <p:nvGrpSpPr>
          <p:cNvPr name="Group 29" id="29"/>
          <p:cNvGrpSpPr/>
          <p:nvPr/>
        </p:nvGrpSpPr>
        <p:grpSpPr>
          <a:xfrm rot="0">
            <a:off x="9636051" y="8051370"/>
            <a:ext cx="7417932" cy="1015663"/>
            <a:chOff x="0" y="0"/>
            <a:chExt cx="9890576" cy="1354217"/>
          </a:xfrm>
        </p:grpSpPr>
        <p:sp>
          <p:nvSpPr>
            <p:cNvPr name="Freeform 30" id="30"/>
            <p:cNvSpPr/>
            <p:nvPr/>
          </p:nvSpPr>
          <p:spPr>
            <a:xfrm flipH="false" flipV="false" rot="0">
              <a:off x="0" y="0"/>
              <a:ext cx="9890576" cy="1354217"/>
            </a:xfrm>
            <a:custGeom>
              <a:avLst/>
              <a:gdLst/>
              <a:ahLst/>
              <a:cxnLst/>
              <a:rect r="r" b="b" t="t" l="l"/>
              <a:pathLst>
                <a:path h="1354217" w="9890576">
                  <a:moveTo>
                    <a:pt x="0" y="0"/>
                  </a:moveTo>
                  <a:lnTo>
                    <a:pt x="9890576" y="0"/>
                  </a:lnTo>
                  <a:lnTo>
                    <a:pt x="9890576" y="1354217"/>
                  </a:lnTo>
                  <a:lnTo>
                    <a:pt x="0" y="1354217"/>
                  </a:lnTo>
                  <a:close/>
                </a:path>
              </a:pathLst>
            </a:custGeom>
            <a:solidFill>
              <a:srgbClr val="000000">
                <a:alpha val="0"/>
              </a:srgbClr>
            </a:solidFill>
          </p:spPr>
        </p:sp>
        <p:sp>
          <p:nvSpPr>
            <p:cNvPr name="TextBox 31" id="31"/>
            <p:cNvSpPr txBox="true"/>
            <p:nvPr/>
          </p:nvSpPr>
          <p:spPr>
            <a:xfrm>
              <a:off x="0" y="-9525"/>
              <a:ext cx="9890576" cy="1363742"/>
            </a:xfrm>
            <a:prstGeom prst="rect">
              <a:avLst/>
            </a:prstGeom>
          </p:spPr>
          <p:txBody>
            <a:bodyPr anchor="ctr" rtlCol="false" tIns="0" lIns="0" bIns="0" rIns="0"/>
            <a:lstStyle/>
            <a:p>
              <a:pPr algn="l">
                <a:lnSpc>
                  <a:spcPts val="2400"/>
                </a:lnSpc>
              </a:pPr>
              <a:r>
                <a:rPr lang="en-US" sz="2000">
                  <a:solidFill>
                    <a:srgbClr val="000000"/>
                  </a:solidFill>
                  <a:latin typeface="Inter"/>
                  <a:ea typeface="Inter"/>
                  <a:cs typeface="Inter"/>
                  <a:sym typeface="Inter"/>
                </a:rPr>
                <a:t>Earn wellness points for adherence milestones (3 months, 6 months, 1 year).</a:t>
              </a:r>
            </a:p>
            <a:p>
              <a:pPr algn="l">
                <a:lnSpc>
                  <a:spcPts val="2400"/>
                </a:lnSpc>
              </a:pPr>
            </a:p>
          </p:txBody>
        </p:sp>
      </p:grpSp>
      <p:sp>
        <p:nvSpPr>
          <p:cNvPr name="TextBox 32" id="32"/>
          <p:cNvSpPr txBox="true"/>
          <p:nvPr/>
        </p:nvSpPr>
        <p:spPr>
          <a:xfrm rot="0">
            <a:off x="1149005" y="8031351"/>
            <a:ext cx="7299344" cy="625971"/>
          </a:xfrm>
          <a:prstGeom prst="rect">
            <a:avLst/>
          </a:prstGeom>
        </p:spPr>
        <p:txBody>
          <a:bodyPr anchor="t" rtlCol="false" tIns="0" lIns="0" bIns="0" rIns="0">
            <a:spAutoFit/>
          </a:bodyPr>
          <a:lstStyle/>
          <a:p>
            <a:pPr algn="l">
              <a:lnSpc>
                <a:spcPts val="2400"/>
              </a:lnSpc>
            </a:pPr>
            <a:r>
              <a:rPr lang="en-US" sz="2000">
                <a:solidFill>
                  <a:srgbClr val="000000"/>
                </a:solidFill>
                <a:latin typeface="Inter"/>
                <a:ea typeface="Inter"/>
                <a:cs typeface="Inter"/>
                <a:sym typeface="Inter"/>
              </a:rPr>
              <a:t>Offer </a:t>
            </a:r>
            <a:r>
              <a:rPr lang="en-US" sz="2000" b="true">
                <a:solidFill>
                  <a:srgbClr val="000000"/>
                </a:solidFill>
                <a:latin typeface="Inter Bold"/>
                <a:ea typeface="Inter Bold"/>
                <a:cs typeface="Inter Bold"/>
                <a:sym typeface="Inter Bold"/>
              </a:rPr>
              <a:t>tier-based trade incentives</a:t>
            </a:r>
            <a:r>
              <a:rPr lang="en-US" sz="2000">
                <a:solidFill>
                  <a:srgbClr val="000000"/>
                </a:solidFill>
                <a:latin typeface="Inter"/>
                <a:ea typeface="Inter"/>
                <a:cs typeface="Inter"/>
                <a:sym typeface="Inter"/>
              </a:rPr>
              <a:t> (e.g., silver, gold, platinum tiers) for pharmacies achieving sales or refill milestones.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30179" y="1181100"/>
            <a:ext cx="16619852" cy="8686814"/>
          </a:xfrm>
          <a:custGeom>
            <a:avLst/>
            <a:gdLst/>
            <a:ahLst/>
            <a:cxnLst/>
            <a:rect r="r" b="b" t="t" l="l"/>
            <a:pathLst>
              <a:path h="8686814" w="16619852">
                <a:moveTo>
                  <a:pt x="0" y="0"/>
                </a:moveTo>
                <a:lnTo>
                  <a:pt x="16619852" y="0"/>
                </a:lnTo>
                <a:lnTo>
                  <a:pt x="16619852" y="8686814"/>
                </a:lnTo>
                <a:lnTo>
                  <a:pt x="0" y="8686814"/>
                </a:lnTo>
                <a:lnTo>
                  <a:pt x="0" y="0"/>
                </a:lnTo>
                <a:close/>
              </a:path>
            </a:pathLst>
          </a:custGeom>
          <a:blipFill>
            <a:blip r:embed="rId2">
              <a:extLst>
                <a:ext uri="{96DAC541-7B7A-43D3-8B79-37D633B846F1}">
                  <asvg:svgBlip xmlns:asvg="http://schemas.microsoft.com/office/drawing/2016/SVG/main" r:embed="rId3"/>
                </a:ext>
              </a:extLst>
            </a:blip>
            <a:stretch>
              <a:fillRect l="0" t="-22" r="0" b="-22"/>
            </a:stretch>
          </a:blipFill>
        </p:spPr>
      </p:sp>
      <p:grpSp>
        <p:nvGrpSpPr>
          <p:cNvPr name="Group 3" id="3"/>
          <p:cNvGrpSpPr/>
          <p:nvPr/>
        </p:nvGrpSpPr>
        <p:grpSpPr>
          <a:xfrm rot="0">
            <a:off x="5257800" y="228600"/>
            <a:ext cx="7772400" cy="952500"/>
            <a:chOff x="0" y="0"/>
            <a:chExt cx="10363200" cy="1270000"/>
          </a:xfrm>
        </p:grpSpPr>
        <p:sp>
          <p:nvSpPr>
            <p:cNvPr name="Freeform 4" id="4"/>
            <p:cNvSpPr/>
            <p:nvPr/>
          </p:nvSpPr>
          <p:spPr>
            <a:xfrm flipH="false" flipV="false" rot="0">
              <a:off x="0" y="0"/>
              <a:ext cx="10363200" cy="1270000"/>
            </a:xfrm>
            <a:custGeom>
              <a:avLst/>
              <a:gdLst/>
              <a:ahLst/>
              <a:cxnLst/>
              <a:rect r="r" b="b" t="t" l="l"/>
              <a:pathLst>
                <a:path h="1270000" w="10363200">
                  <a:moveTo>
                    <a:pt x="0" y="0"/>
                  </a:moveTo>
                  <a:lnTo>
                    <a:pt x="10363200" y="0"/>
                  </a:lnTo>
                  <a:lnTo>
                    <a:pt x="10363200" y="1270000"/>
                  </a:lnTo>
                  <a:lnTo>
                    <a:pt x="0" y="1270000"/>
                  </a:lnTo>
                  <a:close/>
                </a:path>
              </a:pathLst>
            </a:custGeom>
            <a:solidFill>
              <a:srgbClr val="000000">
                <a:alpha val="0"/>
              </a:srgbClr>
            </a:solidFill>
          </p:spPr>
        </p:sp>
        <p:sp>
          <p:nvSpPr>
            <p:cNvPr name="TextBox 5" id="5"/>
            <p:cNvSpPr txBox="true"/>
            <p:nvPr/>
          </p:nvSpPr>
          <p:spPr>
            <a:xfrm>
              <a:off x="0" y="0"/>
              <a:ext cx="10363200" cy="1270000"/>
            </a:xfrm>
            <a:prstGeom prst="rect">
              <a:avLst/>
            </a:prstGeom>
          </p:spPr>
          <p:txBody>
            <a:bodyPr anchor="ctr" rtlCol="false" tIns="0" lIns="0" bIns="0" rIns="0"/>
            <a:lstStyle/>
            <a:p>
              <a:pPr algn="ctr">
                <a:lnSpc>
                  <a:spcPts val="5280"/>
                </a:lnSpc>
              </a:pPr>
              <a:r>
                <a:rPr lang="en-US" sz="4400" b="true">
                  <a:solidFill>
                    <a:srgbClr val="000000"/>
                  </a:solidFill>
                  <a:latin typeface="Inter Bold"/>
                  <a:ea typeface="Inter Bold"/>
                  <a:cs typeface="Inter Bold"/>
                  <a:sym typeface="Inter Bold"/>
                </a:rPr>
                <a:t>References</a:t>
              </a:r>
            </a:p>
          </p:txBody>
        </p:sp>
      </p:grpSp>
      <p:sp>
        <p:nvSpPr>
          <p:cNvPr name="TextBox 6" id="6"/>
          <p:cNvSpPr txBox="true"/>
          <p:nvPr/>
        </p:nvSpPr>
        <p:spPr>
          <a:xfrm rot="0">
            <a:off x="1066800" y="1571625"/>
            <a:ext cx="16047720" cy="12217784"/>
          </a:xfrm>
          <a:prstGeom prst="rect">
            <a:avLst/>
          </a:prstGeom>
        </p:spPr>
        <p:txBody>
          <a:bodyPr anchor="t" rtlCol="false" tIns="0" lIns="0" bIns="0" rIns="0">
            <a:spAutoFit/>
          </a:bodyPr>
          <a:lstStyle/>
          <a:p>
            <a:pPr algn="just" marL="434340" indent="-144780" lvl="2">
              <a:lnSpc>
                <a:spcPts val="4320"/>
              </a:lnSpc>
              <a:buAutoNum type="arabicPeriod" startAt="1"/>
            </a:pPr>
            <a:r>
              <a:rPr lang="en-US" sz="2400">
                <a:solidFill>
                  <a:srgbClr val="000000"/>
                </a:solidFill>
                <a:latin typeface="Inter"/>
                <a:ea typeface="Inter"/>
                <a:cs typeface="Inter"/>
                <a:sym typeface="Inter"/>
              </a:rPr>
              <a:t>Sung, M., Kumar, A., Mishra, R., Kulkarni, B., Kim, R., &amp; Subramanian, S. V. (2024). Temporal change in prevalence of BMI categories in India: patterns across States and Union territories of India, 1999–2021. </a:t>
            </a:r>
            <a:r>
              <a:rPr lang="en-US" sz="2400" i="true">
                <a:solidFill>
                  <a:srgbClr val="000000"/>
                </a:solidFill>
                <a:latin typeface="Inter Italics"/>
                <a:ea typeface="Inter Italics"/>
                <a:cs typeface="Inter Italics"/>
                <a:sym typeface="Inter Italics"/>
              </a:rPr>
              <a:t>BMC Public Health</a:t>
            </a:r>
            <a:r>
              <a:rPr lang="en-US" sz="2400">
                <a:solidFill>
                  <a:srgbClr val="000000"/>
                </a:solidFill>
                <a:latin typeface="Inter"/>
                <a:ea typeface="Inter"/>
                <a:cs typeface="Inter"/>
                <a:sym typeface="Inter"/>
              </a:rPr>
              <a:t>, </a:t>
            </a:r>
            <a:r>
              <a:rPr lang="en-US" sz="2400" i="true">
                <a:solidFill>
                  <a:srgbClr val="000000"/>
                </a:solidFill>
                <a:latin typeface="Inter Italics"/>
                <a:ea typeface="Inter Italics"/>
                <a:cs typeface="Inter Italics"/>
                <a:sym typeface="Inter Italics"/>
              </a:rPr>
              <a:t>24</a:t>
            </a:r>
            <a:r>
              <a:rPr lang="en-US" sz="2400">
                <a:solidFill>
                  <a:srgbClr val="000000"/>
                </a:solidFill>
                <a:latin typeface="Inter"/>
                <a:ea typeface="Inter"/>
                <a:cs typeface="Inter"/>
                <a:sym typeface="Inter"/>
              </a:rPr>
              <a:t>(1). </a:t>
            </a:r>
            <a:r>
              <a:rPr lang="en-US" sz="2400" u="sng">
                <a:solidFill>
                  <a:srgbClr val="0000FF"/>
                </a:solidFill>
                <a:latin typeface="Inter"/>
                <a:ea typeface="Inter"/>
                <a:cs typeface="Inter"/>
                <a:sym typeface="Inter"/>
                <a:hlinkClick r:id="rId4" tooltip="https://doi.org/10.1186/s12889-024-18784-4"/>
              </a:rPr>
              <a:t>https://doi.org/10.1186/s12889-024-18784-4</a:t>
            </a:r>
          </a:p>
          <a:p>
            <a:pPr algn="just" marL="434340" indent="-144780" lvl="2">
              <a:lnSpc>
                <a:spcPts val="4320"/>
              </a:lnSpc>
            </a:pPr>
          </a:p>
          <a:p>
            <a:pPr algn="just" marL="434340" indent="-144780" lvl="2">
              <a:lnSpc>
                <a:spcPts val="4320"/>
              </a:lnSpc>
            </a:pPr>
            <a:r>
              <a:rPr lang="en-US" sz="2400">
                <a:solidFill>
                  <a:srgbClr val="000000"/>
                </a:solidFill>
                <a:latin typeface="Inter"/>
                <a:ea typeface="Inter"/>
                <a:cs typeface="Inter"/>
                <a:sym typeface="Inter"/>
              </a:rPr>
              <a:t>2. Chakrabarty, M., &amp; Let, S. (2024). Spatial clustering of overweight/obesity among women in India: Insights from the latest National Family Health Survey. </a:t>
            </a:r>
            <a:r>
              <a:rPr lang="en-US" sz="2400" i="true">
                <a:solidFill>
                  <a:srgbClr val="000000"/>
                </a:solidFill>
                <a:latin typeface="Inter Italics"/>
                <a:ea typeface="Inter Italics"/>
                <a:cs typeface="Inter Italics"/>
                <a:sym typeface="Inter Italics"/>
              </a:rPr>
              <a:t>PLoS ONE</a:t>
            </a:r>
            <a:r>
              <a:rPr lang="en-US" sz="2400">
                <a:solidFill>
                  <a:srgbClr val="000000"/>
                </a:solidFill>
                <a:latin typeface="Inter"/>
                <a:ea typeface="Inter"/>
                <a:cs typeface="Inter"/>
                <a:sym typeface="Inter"/>
              </a:rPr>
              <a:t>, </a:t>
            </a:r>
            <a:r>
              <a:rPr lang="en-US" sz="2400" i="true">
                <a:solidFill>
                  <a:srgbClr val="000000"/>
                </a:solidFill>
                <a:latin typeface="Inter Italics"/>
                <a:ea typeface="Inter Italics"/>
                <a:cs typeface="Inter Italics"/>
                <a:sym typeface="Inter Italics"/>
              </a:rPr>
              <a:t>19</a:t>
            </a:r>
            <a:r>
              <a:rPr lang="en-US" sz="2400">
                <a:solidFill>
                  <a:srgbClr val="000000"/>
                </a:solidFill>
                <a:latin typeface="Inter"/>
                <a:ea typeface="Inter"/>
                <a:cs typeface="Inter"/>
                <a:sym typeface="Inter"/>
              </a:rPr>
              <a:t>(7), e0305205–e0305205. </a:t>
            </a:r>
            <a:r>
              <a:rPr lang="en-US" sz="2400" u="sng">
                <a:solidFill>
                  <a:srgbClr val="0000FF"/>
                </a:solidFill>
                <a:latin typeface="Inter"/>
                <a:ea typeface="Inter"/>
                <a:cs typeface="Inter"/>
                <a:sym typeface="Inter"/>
                <a:hlinkClick r:id="rId5" tooltip="https://doi.org/10.1371/journal.pone.0305205"/>
              </a:rPr>
              <a:t>https://doi.org/10.1371/journal.pone.0305205</a:t>
            </a:r>
          </a:p>
          <a:p>
            <a:pPr algn="just" marL="434340" indent="-144780" lvl="2">
              <a:lnSpc>
                <a:spcPts val="4320"/>
              </a:lnSpc>
            </a:pPr>
          </a:p>
          <a:p>
            <a:pPr algn="just" marL="434340" indent="-144780" lvl="2">
              <a:lnSpc>
                <a:spcPts val="4320"/>
              </a:lnSpc>
            </a:pPr>
            <a:r>
              <a:rPr lang="en-US" sz="2400">
                <a:solidFill>
                  <a:srgbClr val="000000"/>
                </a:solidFill>
                <a:latin typeface="Inter"/>
                <a:ea typeface="Inter"/>
                <a:cs typeface="Inter"/>
                <a:sym typeface="Inter"/>
              </a:rPr>
              <a:t>3. Stifel. (2023, July 1). </a:t>
            </a:r>
            <a:r>
              <a:rPr lang="en-US" sz="2400" i="true">
                <a:solidFill>
                  <a:srgbClr val="000000"/>
                </a:solidFill>
                <a:latin typeface="Inter Italics"/>
                <a:ea typeface="Inter Italics"/>
                <a:cs typeface="Inter Italics"/>
                <a:sym typeface="Inter Italics"/>
              </a:rPr>
              <a:t>Obesity drug review</a:t>
            </a:r>
            <a:r>
              <a:rPr lang="en-US" sz="2400">
                <a:solidFill>
                  <a:srgbClr val="000000"/>
                </a:solidFill>
                <a:latin typeface="Inter"/>
                <a:ea typeface="Inter"/>
                <a:cs typeface="Inter"/>
                <a:sym typeface="Inter"/>
              </a:rPr>
              <a:t>. Stifel Nicolaus &amp; Company. </a:t>
            </a:r>
            <a:r>
              <a:rPr lang="en-US" sz="2400" u="sng">
                <a:solidFill>
                  <a:srgbClr val="0000FF"/>
                </a:solidFill>
                <a:latin typeface="Inter"/>
                <a:ea typeface="Inter"/>
                <a:cs typeface="Inter"/>
                <a:sym typeface="Inter"/>
                <a:hlinkClick r:id="rId6" tooltip="https://www.stifel.com/"/>
              </a:rPr>
              <a:t>https://www.stifel.com/</a:t>
            </a:r>
          </a:p>
          <a:p>
            <a:pPr algn="just" marL="434340" indent="-144780" lvl="2">
              <a:lnSpc>
                <a:spcPts val="4320"/>
              </a:lnSpc>
            </a:pPr>
          </a:p>
          <a:p>
            <a:pPr algn="just" marL="434340" indent="-144780" lvl="2">
              <a:lnSpc>
                <a:spcPts val="4320"/>
              </a:lnSpc>
            </a:pPr>
            <a:r>
              <a:rPr lang="en-US" sz="2400">
                <a:solidFill>
                  <a:srgbClr val="000000"/>
                </a:solidFill>
                <a:latin typeface="Inter"/>
                <a:ea typeface="Inter"/>
                <a:cs typeface="Inter"/>
                <a:sym typeface="Inter"/>
              </a:rPr>
              <a:t>4. Stifel. (2024, July 8). </a:t>
            </a:r>
            <a:r>
              <a:rPr lang="en-US" sz="2400" i="true">
                <a:solidFill>
                  <a:srgbClr val="000000"/>
                </a:solidFill>
                <a:latin typeface="Inter Italics"/>
                <a:ea typeface="Inter Italics"/>
                <a:cs typeface="Inter Italics"/>
                <a:sym typeface="Inter Italics"/>
              </a:rPr>
              <a:t>Obesity market review</a:t>
            </a:r>
            <a:r>
              <a:rPr lang="en-US" sz="2400">
                <a:solidFill>
                  <a:srgbClr val="000000"/>
                </a:solidFill>
                <a:latin typeface="Inter"/>
                <a:ea typeface="Inter"/>
                <a:cs typeface="Inter"/>
                <a:sym typeface="Inter"/>
              </a:rPr>
              <a:t>. Stifel Nicolaus &amp; Company. </a:t>
            </a:r>
            <a:r>
              <a:rPr lang="en-US" sz="2400" u="sng">
                <a:solidFill>
                  <a:srgbClr val="0000FF"/>
                </a:solidFill>
                <a:latin typeface="Inter"/>
                <a:ea typeface="Inter"/>
                <a:cs typeface="Inter"/>
                <a:sym typeface="Inter"/>
                <a:hlinkClick r:id="rId7" tooltip="https://www.stifel.com/"/>
              </a:rPr>
              <a:t>https://www.stifel.com/</a:t>
            </a:r>
          </a:p>
          <a:p>
            <a:pPr algn="just" marL="434340" indent="-144780" lvl="2">
              <a:lnSpc>
                <a:spcPts val="4320"/>
              </a:lnSpc>
            </a:pPr>
          </a:p>
          <a:p>
            <a:pPr algn="just" marL="434340" indent="-144780" lvl="2">
              <a:lnSpc>
                <a:spcPts val="4320"/>
              </a:lnSpc>
            </a:pPr>
            <a:r>
              <a:rPr lang="en-US" sz="2400">
                <a:solidFill>
                  <a:srgbClr val="000000"/>
                </a:solidFill>
                <a:latin typeface="Inter"/>
                <a:ea typeface="Inter"/>
                <a:cs typeface="Inter"/>
                <a:sym typeface="Inter"/>
              </a:rPr>
              <a:t>5. L.E.K. Consulting. (2025). </a:t>
            </a:r>
            <a:r>
              <a:rPr lang="en-US" sz="2400" i="true">
                <a:solidFill>
                  <a:srgbClr val="000000"/>
                </a:solidFill>
                <a:latin typeface="Inter Italics"/>
                <a:ea typeface="Inter Italics"/>
                <a:cs typeface="Inter Italics"/>
                <a:sym typeface="Inter Italics"/>
              </a:rPr>
              <a:t>Future outlook for the anti-obesity medication (AOM) market</a:t>
            </a:r>
            <a:r>
              <a:rPr lang="en-US" sz="2400">
                <a:solidFill>
                  <a:srgbClr val="000000"/>
                </a:solidFill>
                <a:latin typeface="Inter"/>
                <a:ea typeface="Inter"/>
                <a:cs typeface="Inter"/>
                <a:sym typeface="Inter"/>
              </a:rPr>
              <a:t>. Autho</a:t>
            </a:r>
            <a:r>
              <a:rPr lang="en-US" sz="2400">
                <a:solidFill>
                  <a:srgbClr val="898989"/>
                </a:solidFill>
                <a:latin typeface="Inter"/>
                <a:ea typeface="Inter"/>
                <a:cs typeface="Inter"/>
                <a:sym typeface="Inter"/>
              </a:rPr>
              <a:t>r. </a:t>
            </a:r>
            <a:r>
              <a:rPr lang="en-US" sz="2400" u="sng">
                <a:solidFill>
                  <a:srgbClr val="0000FF"/>
                </a:solidFill>
                <a:latin typeface="Inter"/>
                <a:ea typeface="Inter"/>
                <a:cs typeface="Inter"/>
                <a:sym typeface="Inter"/>
                <a:hlinkClick r:id="rId8" tooltip="https://www.lek.com/"/>
              </a:rPr>
              <a:t>https://www.lek.com</a:t>
            </a:r>
          </a:p>
          <a:p>
            <a:pPr algn="just" marL="434340" indent="-144780" lvl="2">
              <a:lnSpc>
                <a:spcPts val="4320"/>
              </a:lnSpc>
            </a:pPr>
          </a:p>
          <a:p>
            <a:pPr algn="ctr" marL="434340" indent="-144780" lvl="2">
              <a:lnSpc>
                <a:spcPts val="4320"/>
              </a:lnSpc>
            </a:pPr>
            <a:r>
              <a:rPr lang="en-US" sz="2400">
                <a:solidFill>
                  <a:srgbClr val="898989"/>
                </a:solidFill>
                <a:latin typeface="Calibri (MS)"/>
                <a:ea typeface="Calibri (MS)"/>
                <a:cs typeface="Calibri (MS)"/>
                <a:sym typeface="Calibri (MS)"/>
              </a:rPr>
              <a:t>‌</a:t>
            </a:r>
          </a:p>
          <a:p>
            <a:pPr algn="just" marL="434340" indent="-144780" lvl="2">
              <a:lnSpc>
                <a:spcPts val="4320"/>
              </a:lnSpc>
            </a:pPr>
          </a:p>
          <a:p>
            <a:pPr algn="just" marL="434340" indent="-144780" lvl="2">
              <a:lnSpc>
                <a:spcPts val="4320"/>
              </a:lnSpc>
            </a:pPr>
          </a:p>
          <a:p>
            <a:pPr algn="ctr" marL="434340" indent="-144780" lvl="2">
              <a:lnSpc>
                <a:spcPts val="4320"/>
              </a:lnSpc>
            </a:pPr>
            <a:r>
              <a:rPr lang="en-US" sz="2400">
                <a:solidFill>
                  <a:srgbClr val="000000"/>
                </a:solidFill>
                <a:latin typeface="Calibri (MS)"/>
                <a:ea typeface="Calibri (MS)"/>
                <a:cs typeface="Calibri (MS)"/>
                <a:sym typeface="Calibri (MS)"/>
              </a:rPr>
              <a:t>‌</a:t>
            </a:r>
          </a:p>
          <a:p>
            <a:pPr algn="just" marL="434340" indent="-144780" lvl="2">
              <a:lnSpc>
                <a:spcPts val="4320"/>
              </a:lnSpc>
            </a:pPr>
          </a:p>
          <a:p>
            <a:pPr algn="just" marL="434340" indent="-144780" lvl="2">
              <a:lnSpc>
                <a:spcPts val="4320"/>
              </a:lnSpc>
            </a:pPr>
            <a:r>
              <a:rPr lang="en-US" sz="2400">
                <a:solidFill>
                  <a:srgbClr val="000000"/>
                </a:solidFill>
                <a:latin typeface="Calibri (MS)"/>
                <a:ea typeface="Calibri (MS)"/>
                <a:cs typeface="Calibri (MS)"/>
                <a:sym typeface="Calibri (MS)"/>
              </a:rPr>
              <a:t>‌</a:t>
            </a:r>
          </a:p>
          <a:p>
            <a:pPr algn="just" marL="434340" indent="-144780" lvl="2">
              <a:lnSpc>
                <a:spcPts val="4320"/>
              </a:lnSpc>
            </a:pP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DADBF1"/>
        </a:solidFill>
      </p:bgPr>
    </p:bg>
    <p:spTree>
      <p:nvGrpSpPr>
        <p:cNvPr id="1" name=""/>
        <p:cNvGrpSpPr/>
        <p:nvPr/>
      </p:nvGrpSpPr>
      <p:grpSpPr>
        <a:xfrm>
          <a:off x="0" y="0"/>
          <a:ext cx="0" cy="0"/>
          <a:chOff x="0" y="0"/>
          <a:chExt cx="0" cy="0"/>
        </a:xfrm>
      </p:grpSpPr>
      <p:grpSp>
        <p:nvGrpSpPr>
          <p:cNvPr name="Group 2" id="2"/>
          <p:cNvGrpSpPr/>
          <p:nvPr/>
        </p:nvGrpSpPr>
        <p:grpSpPr>
          <a:xfrm rot="0">
            <a:off x="1440341" y="520226"/>
            <a:ext cx="14556266" cy="5571015"/>
            <a:chOff x="0" y="0"/>
            <a:chExt cx="1095048" cy="419100"/>
          </a:xfrm>
        </p:grpSpPr>
        <p:sp>
          <p:nvSpPr>
            <p:cNvPr name="Freeform 3" id="3"/>
            <p:cNvSpPr/>
            <p:nvPr/>
          </p:nvSpPr>
          <p:spPr>
            <a:xfrm flipH="false" flipV="false" rot="0">
              <a:off x="0" y="0"/>
              <a:ext cx="1095048" cy="419100"/>
            </a:xfrm>
            <a:custGeom>
              <a:avLst/>
              <a:gdLst/>
              <a:ahLst/>
              <a:cxnLst/>
              <a:rect r="r" b="b" t="t" l="l"/>
              <a:pathLst>
                <a:path h="419100" w="1095048">
                  <a:moveTo>
                    <a:pt x="10388" y="0"/>
                  </a:moveTo>
                  <a:lnTo>
                    <a:pt x="1084660" y="0"/>
                  </a:lnTo>
                  <a:cubicBezTo>
                    <a:pt x="1090397" y="0"/>
                    <a:pt x="1095048" y="4651"/>
                    <a:pt x="1095048" y="10388"/>
                  </a:cubicBezTo>
                  <a:lnTo>
                    <a:pt x="1095048" y="408712"/>
                  </a:lnTo>
                  <a:cubicBezTo>
                    <a:pt x="1095048" y="411467"/>
                    <a:pt x="1093954" y="414109"/>
                    <a:pt x="1092006" y="416057"/>
                  </a:cubicBezTo>
                  <a:cubicBezTo>
                    <a:pt x="1090058" y="418006"/>
                    <a:pt x="1087415" y="419100"/>
                    <a:pt x="1084660" y="419100"/>
                  </a:cubicBezTo>
                  <a:lnTo>
                    <a:pt x="10388" y="419100"/>
                  </a:lnTo>
                  <a:cubicBezTo>
                    <a:pt x="4651" y="419100"/>
                    <a:pt x="0" y="414449"/>
                    <a:pt x="0" y="408712"/>
                  </a:cubicBezTo>
                  <a:lnTo>
                    <a:pt x="0" y="10388"/>
                  </a:lnTo>
                  <a:cubicBezTo>
                    <a:pt x="0" y="4651"/>
                    <a:pt x="4651" y="0"/>
                    <a:pt x="10388" y="0"/>
                  </a:cubicBezTo>
                  <a:close/>
                </a:path>
              </a:pathLst>
            </a:custGeom>
            <a:solidFill>
              <a:srgbClr val="F6F4F4"/>
            </a:solidFill>
          </p:spPr>
        </p:sp>
        <p:sp>
          <p:nvSpPr>
            <p:cNvPr name="TextBox 4" id="4"/>
            <p:cNvSpPr txBox="true"/>
            <p:nvPr/>
          </p:nvSpPr>
          <p:spPr>
            <a:xfrm>
              <a:off x="0" y="-85725"/>
              <a:ext cx="1095048" cy="504825"/>
            </a:xfrm>
            <a:prstGeom prst="rect">
              <a:avLst/>
            </a:prstGeom>
          </p:spPr>
          <p:txBody>
            <a:bodyPr anchor="ctr" rtlCol="false" tIns="50800" lIns="50800" bIns="50800" rIns="50800"/>
            <a:lstStyle/>
            <a:p>
              <a:pPr algn="ctr">
                <a:lnSpc>
                  <a:spcPts val="3561"/>
                </a:lnSpc>
              </a:pPr>
            </a:p>
          </p:txBody>
        </p:sp>
      </p:grpSp>
      <p:sp>
        <p:nvSpPr>
          <p:cNvPr name="TextBox 5" id="5"/>
          <p:cNvSpPr txBox="true"/>
          <p:nvPr/>
        </p:nvSpPr>
        <p:spPr>
          <a:xfrm rot="0">
            <a:off x="1834314" y="2564034"/>
            <a:ext cx="15057120" cy="2579466"/>
          </a:xfrm>
          <a:prstGeom prst="rect">
            <a:avLst/>
          </a:prstGeom>
        </p:spPr>
        <p:txBody>
          <a:bodyPr anchor="t" rtlCol="false" tIns="0" lIns="0" bIns="0" rIns="0">
            <a:spAutoFit/>
          </a:bodyPr>
          <a:lstStyle/>
          <a:p>
            <a:pPr algn="l">
              <a:lnSpc>
                <a:spcPts val="2204"/>
              </a:lnSpc>
            </a:pPr>
            <a:r>
              <a:rPr lang="en-US" sz="2700" b="true">
                <a:solidFill>
                  <a:srgbClr val="272525"/>
                </a:solidFill>
                <a:latin typeface="Calibri (MS) Bold"/>
                <a:ea typeface="Calibri (MS) Bold"/>
                <a:cs typeface="Calibri (MS) Bold"/>
                <a:sym typeface="Calibri (MS) Bold"/>
              </a:rPr>
              <a:t>Manish M Kumar(Coding -Streamlit and URLs web scraping )-Team Leader</a:t>
            </a:r>
          </a:p>
          <a:p>
            <a:pPr algn="l">
              <a:lnSpc>
                <a:spcPts val="2204"/>
              </a:lnSpc>
            </a:pPr>
          </a:p>
          <a:p>
            <a:pPr algn="l">
              <a:lnSpc>
                <a:spcPts val="2204"/>
              </a:lnSpc>
            </a:pPr>
            <a:r>
              <a:rPr lang="en-US" sz="2700" b="true">
                <a:solidFill>
                  <a:srgbClr val="272525"/>
                </a:solidFill>
                <a:latin typeface="Calibri (MS) Bold"/>
                <a:ea typeface="Calibri (MS) Bold"/>
                <a:cs typeface="Calibri (MS) Bold"/>
                <a:sym typeface="Calibri (MS) Bold"/>
              </a:rPr>
              <a:t>Neela KS (Presenter)</a:t>
            </a:r>
          </a:p>
          <a:p>
            <a:pPr algn="l">
              <a:lnSpc>
                <a:spcPts val="2204"/>
              </a:lnSpc>
            </a:pPr>
          </a:p>
          <a:p>
            <a:pPr algn="l">
              <a:lnSpc>
                <a:spcPts val="2204"/>
              </a:lnSpc>
            </a:pPr>
            <a:r>
              <a:rPr lang="en-US" sz="2700" b="true">
                <a:solidFill>
                  <a:srgbClr val="272525"/>
                </a:solidFill>
                <a:latin typeface="Calibri (MS) Bold"/>
                <a:ea typeface="Calibri (MS) Bold"/>
                <a:cs typeface="Calibri (MS) Bold"/>
                <a:sym typeface="Calibri (MS) Bold"/>
              </a:rPr>
              <a:t>Elna Sara Sanu (Framing Market Strategies,PPT Generation)</a:t>
            </a:r>
          </a:p>
          <a:p>
            <a:pPr algn="l">
              <a:lnSpc>
                <a:spcPts val="2204"/>
              </a:lnSpc>
            </a:pPr>
          </a:p>
          <a:p>
            <a:pPr algn="l">
              <a:lnSpc>
                <a:spcPts val="2204"/>
              </a:lnSpc>
            </a:pPr>
            <a:r>
              <a:rPr lang="en-US" sz="2700" b="true">
                <a:solidFill>
                  <a:srgbClr val="272525"/>
                </a:solidFill>
                <a:latin typeface="Calibri (MS) Bold"/>
                <a:ea typeface="Calibri (MS) Bold"/>
                <a:cs typeface="Calibri (MS) Bold"/>
                <a:sym typeface="Calibri (MS) Bold"/>
              </a:rPr>
              <a:t>Beven Nelson(Data Collection, Obesity Prevalence Research,PPT Generation)</a:t>
            </a:r>
          </a:p>
          <a:p>
            <a:pPr algn="l">
              <a:lnSpc>
                <a:spcPts val="2204"/>
              </a:lnSpc>
            </a:pPr>
          </a:p>
          <a:p>
            <a:pPr algn="l">
              <a:lnSpc>
                <a:spcPts val="2204"/>
              </a:lnSpc>
            </a:pPr>
            <a:r>
              <a:rPr lang="en-US" sz="2700" b="true">
                <a:solidFill>
                  <a:srgbClr val="272525"/>
                </a:solidFill>
                <a:latin typeface="Calibri (MS) Bold"/>
                <a:ea typeface="Calibri (MS) Bold"/>
                <a:cs typeface="Calibri (MS) Bold"/>
                <a:sym typeface="Calibri (MS) Bold"/>
              </a:rPr>
              <a:t>Abhisekh Ramesh Shettigar(GLP-1 Market Research)</a:t>
            </a:r>
          </a:p>
        </p:txBody>
      </p:sp>
      <p:sp>
        <p:nvSpPr>
          <p:cNvPr name="TextBox 6" id="6"/>
          <p:cNvSpPr txBox="true"/>
          <p:nvPr/>
        </p:nvSpPr>
        <p:spPr>
          <a:xfrm rot="0">
            <a:off x="4504574" y="1028700"/>
            <a:ext cx="7930609" cy="666750"/>
          </a:xfrm>
          <a:prstGeom prst="rect">
            <a:avLst/>
          </a:prstGeom>
        </p:spPr>
        <p:txBody>
          <a:bodyPr anchor="t" rtlCol="false" tIns="0" lIns="0" bIns="0" rIns="0">
            <a:spAutoFit/>
          </a:bodyPr>
          <a:lstStyle/>
          <a:p>
            <a:pPr algn="ctr">
              <a:lnSpc>
                <a:spcPts val="5280"/>
              </a:lnSpc>
            </a:pPr>
            <a:r>
              <a:rPr lang="en-US" sz="4400" b="true">
                <a:solidFill>
                  <a:srgbClr val="000000"/>
                </a:solidFill>
                <a:latin typeface="Inter Bold"/>
                <a:ea typeface="Inter Bold"/>
                <a:cs typeface="Inter Bold"/>
                <a:sym typeface="Inter Bold"/>
              </a:rPr>
              <a:t>Team Members</a:t>
            </a:r>
          </a:p>
        </p:txBody>
      </p:sp>
      <p:grpSp>
        <p:nvGrpSpPr>
          <p:cNvPr name="Group 7" id="7"/>
          <p:cNvGrpSpPr/>
          <p:nvPr/>
        </p:nvGrpSpPr>
        <p:grpSpPr>
          <a:xfrm rot="0">
            <a:off x="4957906" y="6470190"/>
            <a:ext cx="7871333" cy="3012539"/>
            <a:chOff x="0" y="0"/>
            <a:chExt cx="1095048" cy="419100"/>
          </a:xfrm>
        </p:grpSpPr>
        <p:sp>
          <p:nvSpPr>
            <p:cNvPr name="Freeform 8" id="8"/>
            <p:cNvSpPr/>
            <p:nvPr/>
          </p:nvSpPr>
          <p:spPr>
            <a:xfrm flipH="false" flipV="false" rot="0">
              <a:off x="0" y="0"/>
              <a:ext cx="1095048" cy="419100"/>
            </a:xfrm>
            <a:custGeom>
              <a:avLst/>
              <a:gdLst/>
              <a:ahLst/>
              <a:cxnLst/>
              <a:rect r="r" b="b" t="t" l="l"/>
              <a:pathLst>
                <a:path h="419100" w="1095048">
                  <a:moveTo>
                    <a:pt x="19210" y="0"/>
                  </a:moveTo>
                  <a:lnTo>
                    <a:pt x="1075838" y="0"/>
                  </a:lnTo>
                  <a:cubicBezTo>
                    <a:pt x="1086448" y="0"/>
                    <a:pt x="1095048" y="8601"/>
                    <a:pt x="1095048" y="19210"/>
                  </a:cubicBezTo>
                  <a:lnTo>
                    <a:pt x="1095048" y="399890"/>
                  </a:lnTo>
                  <a:cubicBezTo>
                    <a:pt x="1095048" y="404985"/>
                    <a:pt x="1093024" y="409871"/>
                    <a:pt x="1089422" y="413474"/>
                  </a:cubicBezTo>
                  <a:cubicBezTo>
                    <a:pt x="1085819" y="417076"/>
                    <a:pt x="1080933" y="419100"/>
                    <a:pt x="1075838" y="419100"/>
                  </a:cubicBezTo>
                  <a:lnTo>
                    <a:pt x="19210" y="419100"/>
                  </a:lnTo>
                  <a:cubicBezTo>
                    <a:pt x="14115" y="419100"/>
                    <a:pt x="9229" y="417076"/>
                    <a:pt x="5627" y="413474"/>
                  </a:cubicBezTo>
                  <a:cubicBezTo>
                    <a:pt x="2024" y="409871"/>
                    <a:pt x="0" y="404985"/>
                    <a:pt x="0" y="399890"/>
                  </a:cubicBezTo>
                  <a:lnTo>
                    <a:pt x="0" y="19210"/>
                  </a:lnTo>
                  <a:cubicBezTo>
                    <a:pt x="0" y="14115"/>
                    <a:pt x="2024" y="9229"/>
                    <a:pt x="5627" y="5627"/>
                  </a:cubicBezTo>
                  <a:cubicBezTo>
                    <a:pt x="9229" y="2024"/>
                    <a:pt x="14115" y="0"/>
                    <a:pt x="19210" y="0"/>
                  </a:cubicBezTo>
                  <a:close/>
                </a:path>
              </a:pathLst>
            </a:custGeom>
            <a:solidFill>
              <a:srgbClr val="F6F4F4"/>
            </a:solidFill>
          </p:spPr>
        </p:sp>
        <p:sp>
          <p:nvSpPr>
            <p:cNvPr name="TextBox 9" id="9"/>
            <p:cNvSpPr txBox="true"/>
            <p:nvPr/>
          </p:nvSpPr>
          <p:spPr>
            <a:xfrm>
              <a:off x="0" y="-85725"/>
              <a:ext cx="1095048" cy="504825"/>
            </a:xfrm>
            <a:prstGeom prst="rect">
              <a:avLst/>
            </a:prstGeom>
          </p:spPr>
          <p:txBody>
            <a:bodyPr anchor="ctr" rtlCol="false" tIns="50800" lIns="50800" bIns="50800" rIns="50800"/>
            <a:lstStyle/>
            <a:p>
              <a:pPr algn="ctr">
                <a:lnSpc>
                  <a:spcPts val="3561"/>
                </a:lnSpc>
              </a:pPr>
            </a:p>
          </p:txBody>
        </p:sp>
      </p:grpSp>
      <p:sp>
        <p:nvSpPr>
          <p:cNvPr name="TextBox 10" id="10"/>
          <p:cNvSpPr txBox="true"/>
          <p:nvPr/>
        </p:nvSpPr>
        <p:spPr>
          <a:xfrm rot="0">
            <a:off x="6424872" y="6705969"/>
            <a:ext cx="4937403" cy="2202133"/>
          </a:xfrm>
          <a:prstGeom prst="rect">
            <a:avLst/>
          </a:prstGeom>
        </p:spPr>
        <p:txBody>
          <a:bodyPr anchor="t" rtlCol="false" tIns="0" lIns="0" bIns="0" rIns="0">
            <a:spAutoFit/>
          </a:bodyPr>
          <a:lstStyle/>
          <a:p>
            <a:pPr algn="ctr">
              <a:lnSpc>
                <a:spcPts val="3434"/>
              </a:lnSpc>
              <a:spcBef>
                <a:spcPct val="0"/>
              </a:spcBef>
            </a:pPr>
            <a:r>
              <a:rPr lang="en-US" b="true" sz="2750">
                <a:solidFill>
                  <a:srgbClr val="000000"/>
                </a:solidFill>
                <a:latin typeface="Calibri (MS) Bold"/>
                <a:ea typeface="Calibri (MS) Bold"/>
                <a:cs typeface="Calibri (MS) Bold"/>
                <a:sym typeface="Calibri (MS) Bold"/>
              </a:rPr>
              <a:t>Acknowledgments</a:t>
            </a:r>
          </a:p>
          <a:p>
            <a:pPr algn="l">
              <a:lnSpc>
                <a:spcPts val="3435"/>
              </a:lnSpc>
              <a:spcBef>
                <a:spcPct val="0"/>
              </a:spcBef>
            </a:pPr>
          </a:p>
          <a:p>
            <a:pPr algn="l">
              <a:lnSpc>
                <a:spcPts val="3435"/>
              </a:lnSpc>
              <a:spcBef>
                <a:spcPct val="0"/>
              </a:spcBef>
            </a:pPr>
            <a:r>
              <a:rPr lang="en-US" b="true" sz="2750">
                <a:solidFill>
                  <a:srgbClr val="000000"/>
                </a:solidFill>
                <a:latin typeface="Calibri (MS) Bold"/>
                <a:ea typeface="Calibri (MS) Bold"/>
                <a:cs typeface="Calibri (MS) Bold"/>
                <a:sym typeface="Calibri (MS) Bold"/>
              </a:rPr>
              <a:t>Varun Kumar S G (Faculty Mentor)</a:t>
            </a:r>
          </a:p>
          <a:p>
            <a:pPr algn="l">
              <a:lnSpc>
                <a:spcPts val="3435"/>
              </a:lnSpc>
              <a:spcBef>
                <a:spcPct val="0"/>
              </a:spcBef>
            </a:pPr>
            <a:r>
              <a:rPr lang="en-US" b="true" sz="2750">
                <a:solidFill>
                  <a:srgbClr val="000000"/>
                </a:solidFill>
                <a:latin typeface="Calibri (MS) Bold"/>
                <a:ea typeface="Calibri (MS) Bold"/>
                <a:cs typeface="Calibri (MS) Bold"/>
                <a:sym typeface="Calibri (MS) Bold"/>
              </a:rPr>
              <a:t>Dibyajyoti Samantaray (Mentor)</a:t>
            </a:r>
          </a:p>
          <a:p>
            <a:pPr algn="l">
              <a:lnSpc>
                <a:spcPts val="3435"/>
              </a:lnSpc>
              <a:spcBef>
                <a:spcPct val="0"/>
              </a:spcBef>
            </a:pPr>
            <a:r>
              <a:rPr lang="en-US" b="true" sz="2750">
                <a:solidFill>
                  <a:srgbClr val="000000"/>
                </a:solidFill>
                <a:latin typeface="Calibri (MS) Bold"/>
                <a:ea typeface="Calibri (MS) Bold"/>
                <a:cs typeface="Calibri (MS) Bold"/>
                <a:sym typeface="Calibri (MS) Bold"/>
              </a:rPr>
              <a:t>Vikas Agrawal (Mentor)</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DADBF1"/>
        </a:solidFill>
      </p:bgPr>
    </p:bg>
    <p:spTree>
      <p:nvGrpSpPr>
        <p:cNvPr id="1" name=""/>
        <p:cNvGrpSpPr/>
        <p:nvPr/>
      </p:nvGrpSpPr>
      <p:grpSpPr>
        <a:xfrm>
          <a:off x="0" y="0"/>
          <a:ext cx="0" cy="0"/>
          <a:chOff x="0" y="0"/>
          <a:chExt cx="0" cy="0"/>
        </a:xfrm>
      </p:grpSpPr>
      <p:sp>
        <p:nvSpPr>
          <p:cNvPr name="Freeform 2" id="2"/>
          <p:cNvSpPr/>
          <p:nvPr/>
        </p:nvSpPr>
        <p:spPr>
          <a:xfrm flipH="false" flipV="false" rot="0">
            <a:off x="-7658002" y="-3706458"/>
            <a:ext cx="19701376" cy="19701376"/>
          </a:xfrm>
          <a:custGeom>
            <a:avLst/>
            <a:gdLst/>
            <a:ahLst/>
            <a:cxnLst/>
            <a:rect r="r" b="b" t="t" l="l"/>
            <a:pathLst>
              <a:path h="19701376" w="19701376">
                <a:moveTo>
                  <a:pt x="0" y="0"/>
                </a:moveTo>
                <a:lnTo>
                  <a:pt x="19701376" y="0"/>
                </a:lnTo>
                <a:lnTo>
                  <a:pt x="19701376" y="19701376"/>
                </a:lnTo>
                <a:lnTo>
                  <a:pt x="0" y="197013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021857" y="4588731"/>
            <a:ext cx="10244285" cy="1143093"/>
          </a:xfrm>
          <a:prstGeom prst="rect">
            <a:avLst/>
          </a:prstGeom>
        </p:spPr>
        <p:txBody>
          <a:bodyPr anchor="t" rtlCol="false" tIns="0" lIns="0" bIns="0" rIns="0">
            <a:spAutoFit/>
          </a:bodyPr>
          <a:lstStyle/>
          <a:p>
            <a:pPr algn="ctr">
              <a:lnSpc>
                <a:spcPts val="12003"/>
              </a:lnSpc>
            </a:pPr>
            <a:r>
              <a:rPr lang="en-US" sz="12003" b="true">
                <a:solidFill>
                  <a:srgbClr val="000000"/>
                </a:solidFill>
                <a:latin typeface="Montserrat Bold"/>
                <a:ea typeface="Montserrat Bold"/>
                <a:cs typeface="Montserrat Bold"/>
                <a:sym typeface="Montserrat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DAG1qteUYL0</dc:identifier>
  <dcterms:modified xsi:type="dcterms:W3CDTF">2011-08-01T06:04:30Z</dcterms:modified>
  <cp:revision>1</cp:revision>
  <dc:title>Team Members: MANISH M KUMAR(Coding -Streamlit and URLs web scraping )- Team Leader NEELA KS(presenter) ELNA SARA SANU(Framing market strategies) BEVEN NELSON(Data collection , obesity prevalence research) ABHISHEK RAMESH SHETTIGAR(GLP-1 market research)</dc:title>
</cp:coreProperties>
</file>