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7" r:id="rId9"/>
    <p:sldId id="263" r:id="rId10"/>
    <p:sldId id="264" r:id="rId11"/>
    <p:sldId id="265" r:id="rId12"/>
    <p:sldId id="266" r:id="rId13"/>
  </p:sldIdLst>
  <p:sldSz cx="18288000" cy="10287000"/>
  <p:notesSz cx="6858000" cy="9144000"/>
  <p:embeddedFontLst>
    <p:embeddedFont>
      <p:font typeface="Calibri (MS)" panose="020B0604020202020204" charset="0"/>
      <p:regular r:id="rId14"/>
    </p:embeddedFont>
    <p:embeddedFont>
      <p:font typeface="Calibri (MS) Bold" panose="020B0604020202020204" charset="0"/>
      <p:regular r:id="rId15"/>
    </p:embeddedFont>
    <p:embeddedFont>
      <p:font typeface="Calibri (MS) Italics" panose="020B0604020202020204" charset="0"/>
      <p:regular r:id="rId16"/>
    </p:embeddedFont>
    <p:embeddedFont>
      <p:font typeface="Canva Sans Bold" panose="020B0604020202020204" charset="0"/>
      <p:regular r:id="rId17"/>
    </p:embeddedFont>
    <p:embeddedFont>
      <p:font typeface="Inter" panose="020B0604020202020204" charset="0"/>
      <p:regular r:id="rId18"/>
    </p:embeddedFont>
    <p:embeddedFont>
      <p:font typeface="Inter Bold" panose="020B0604020202020204" charset="0"/>
      <p:regular r:id="rId19"/>
    </p:embeddedFont>
    <p:embeddedFont>
      <p:font typeface="Inter Italics" panose="020B0604020202020204" charset="0"/>
      <p:regular r:id="rId20"/>
    </p:embeddedFont>
    <p:embeddedFont>
      <p:font typeface="Montserrat" panose="00000500000000000000" pitchFamily="2" charset="0"/>
      <p:regular r:id="rId21"/>
      <p:bold r:id="rId22"/>
      <p:italic r:id="rId23"/>
      <p:boldItalic r:id="rId24"/>
    </p:embeddedFont>
    <p:embeddedFont>
      <p:font typeface="Montserrat Bold" panose="00000800000000000000" pitchFamily="2" charset="0"/>
      <p:regular r:id="rId25"/>
      <p:bold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483"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10/5/2025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hyperlink" Target="https://www.wegovy.com/" TargetMode="External"/><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hyperlink" Target="https://doi.org/10.1186/s12889-024-18784-4" TargetMode="External"/><Relationship Id="rId2" Type="http://schemas.openxmlformats.org/officeDocument/2006/relationships/hyperlink" Target="https://novo-nordisk-hackathon2025-8adxnittedsk6gbmrfbgy3.streamlit.app/" TargetMode="Externa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hyperlink" Target="https://doi.org/10.1186/s12889-024-18784-4"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hyperlink" Target="https://www.lek.com/" TargetMode="External"/><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hyperlink" Target="https://www.stifel.com/" TargetMode="External"/><Relationship Id="rId5" Type="http://schemas.openxmlformats.org/officeDocument/2006/relationships/hyperlink" Target="https://doi.org/10.1371/journal.pone.0305205" TargetMode="External"/><Relationship Id="rId4" Type="http://schemas.openxmlformats.org/officeDocument/2006/relationships/hyperlink" Target="https://doi.org/10.1186/s12889-024-18784-4"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txBody>
            <a:bodyPr/>
            <a:lstStyle/>
            <a:p>
              <a:endParaRPr lang="en-IN" dirty="0"/>
            </a:p>
          </p:txBody>
        </p:sp>
      </p:grpSp>
      <p:grpSp>
        <p:nvGrpSpPr>
          <p:cNvPr id="4" name="Group 4"/>
          <p:cNvGrpSpPr/>
          <p:nvPr/>
        </p:nvGrpSpPr>
        <p:grpSpPr>
          <a:xfrm>
            <a:off x="28575"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dirty="0"/>
            </a:p>
          </p:txBody>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2"/>
              <a:stretch>
                <a:fillRect/>
              </a:stretch>
            </a:blipFill>
          </p:spPr>
          <p:txBody>
            <a:bodyPr/>
            <a:lstStyle/>
            <a:p>
              <a:endParaRPr lang="en-IN" dirty="0"/>
            </a:p>
          </p:txBody>
        </p:sp>
      </p:grpSp>
      <p:sp>
        <p:nvSpPr>
          <p:cNvPr id="8" name="TextBox 8"/>
          <p:cNvSpPr txBox="1"/>
          <p:nvPr/>
        </p:nvSpPr>
        <p:spPr>
          <a:xfrm>
            <a:off x="7391400" y="2123015"/>
            <a:ext cx="10550426" cy="883595"/>
          </a:xfrm>
          <a:prstGeom prst="rect">
            <a:avLst/>
          </a:prstGeom>
        </p:spPr>
        <p:txBody>
          <a:bodyPr lIns="0" tIns="0" rIns="0" bIns="0" rtlCol="0" anchor="t">
            <a:spAutoFit/>
          </a:bodyPr>
          <a:lstStyle/>
          <a:p>
            <a:pPr algn="ctr">
              <a:lnSpc>
                <a:spcPts val="6936"/>
              </a:lnSpc>
            </a:pPr>
            <a:r>
              <a:rPr lang="en-US" sz="5400" b="1" dirty="0">
                <a:solidFill>
                  <a:srgbClr val="000000"/>
                </a:solidFill>
                <a:latin typeface="Inter Bold"/>
                <a:ea typeface="Inter Bold"/>
                <a:cs typeface="Inter Bold"/>
                <a:sym typeface="Inter Bold"/>
              </a:rPr>
              <a:t>Wegovy Market Analysis</a:t>
            </a:r>
          </a:p>
        </p:txBody>
      </p:sp>
      <p:sp>
        <p:nvSpPr>
          <p:cNvPr id="9" name="TextBox 9"/>
          <p:cNvSpPr txBox="1"/>
          <p:nvPr/>
        </p:nvSpPr>
        <p:spPr>
          <a:xfrm>
            <a:off x="7850237" y="4210050"/>
            <a:ext cx="9445526" cy="1555073"/>
          </a:xfrm>
          <a:prstGeom prst="rect">
            <a:avLst/>
          </a:prstGeom>
        </p:spPr>
        <p:txBody>
          <a:bodyPr lIns="0" tIns="0" rIns="0" bIns="0" rtlCol="0" anchor="t">
            <a:spAutoFit/>
          </a:bodyPr>
          <a:lstStyle/>
          <a:p>
            <a:pPr algn="l">
              <a:lnSpc>
                <a:spcPts val="3888"/>
              </a:lnSpc>
            </a:pPr>
            <a:r>
              <a:rPr lang="en-US" sz="2400" dirty="0">
                <a:solidFill>
                  <a:srgbClr val="272525"/>
                </a:solidFill>
                <a:latin typeface="Inter"/>
                <a:ea typeface="Inter"/>
                <a:cs typeface="Inter"/>
                <a:sym typeface="Inter"/>
              </a:rPr>
              <a:t>A comprehensive market analysis to quantify obesity prevalence, patient profiles, and treatment patterns in India, providing data-driven insights to suggest the commercial strategy for Wegovy.</a:t>
            </a:r>
          </a:p>
        </p:txBody>
      </p:sp>
      <p:sp>
        <p:nvSpPr>
          <p:cNvPr id="10" name="TextBox 10"/>
          <p:cNvSpPr txBox="1"/>
          <p:nvPr/>
        </p:nvSpPr>
        <p:spPr>
          <a:xfrm>
            <a:off x="8305800" y="9229725"/>
            <a:ext cx="9445526" cy="529635"/>
          </a:xfrm>
          <a:prstGeom prst="rect">
            <a:avLst/>
          </a:prstGeom>
        </p:spPr>
        <p:txBody>
          <a:bodyPr lIns="0" tIns="0" rIns="0" bIns="0" rtlCol="0" anchor="t">
            <a:spAutoFit/>
          </a:bodyPr>
          <a:lstStyle/>
          <a:p>
            <a:pPr algn="r">
              <a:lnSpc>
                <a:spcPts val="3724"/>
              </a:lnSpc>
            </a:pPr>
            <a:r>
              <a:rPr lang="en-US" sz="2286" dirty="0">
                <a:solidFill>
                  <a:srgbClr val="272525"/>
                </a:solidFill>
                <a:latin typeface="Inter"/>
                <a:ea typeface="Inter"/>
                <a:cs typeface="Inter"/>
                <a:sym typeface="Inter"/>
              </a:rPr>
              <a:t>                                                             Presented by-  Team </a:t>
            </a:r>
            <a:r>
              <a:rPr lang="en-US" sz="2286" b="1" dirty="0">
                <a:solidFill>
                  <a:srgbClr val="272525"/>
                </a:solidFill>
                <a:latin typeface="Inter Bold"/>
                <a:ea typeface="Inter Bold"/>
                <a:cs typeface="Inter Bold"/>
                <a:sym typeface="Inter Bold"/>
              </a:rPr>
              <a:t>St, MAHE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txBody>
            <a:bodyPr/>
            <a:lstStyle/>
            <a:p>
              <a:endParaRPr lang="en-IN" dirty="0"/>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dirty="0"/>
            </a:p>
          </p:txBody>
        </p:sp>
      </p:grpSp>
      <p:sp>
        <p:nvSpPr>
          <p:cNvPr id="6" name="TextBox 6"/>
          <p:cNvSpPr txBox="1"/>
          <p:nvPr/>
        </p:nvSpPr>
        <p:spPr>
          <a:xfrm>
            <a:off x="992238" y="1058615"/>
            <a:ext cx="8671471" cy="943124"/>
          </a:xfrm>
          <a:prstGeom prst="rect">
            <a:avLst/>
          </a:prstGeom>
        </p:spPr>
        <p:txBody>
          <a:bodyPr lIns="0" tIns="0" rIns="0" bIns="0" rtlCol="0" anchor="t">
            <a:spAutoFit/>
          </a:bodyPr>
          <a:lstStyle/>
          <a:p>
            <a:pPr algn="l">
              <a:lnSpc>
                <a:spcPts val="6936"/>
              </a:lnSpc>
            </a:pPr>
            <a:r>
              <a:rPr lang="en-US" sz="5562" b="1" dirty="0">
                <a:solidFill>
                  <a:srgbClr val="000000"/>
                </a:solidFill>
                <a:latin typeface="Inter Bold"/>
                <a:ea typeface="Inter Bold"/>
                <a:cs typeface="Inter Bold"/>
                <a:sym typeface="Inter Bold"/>
              </a:rPr>
              <a:t>The Indian Obesity Crisis</a:t>
            </a:r>
          </a:p>
        </p:txBody>
      </p:sp>
      <p:sp>
        <p:nvSpPr>
          <p:cNvPr id="7" name="TextBox 7"/>
          <p:cNvSpPr txBox="1"/>
          <p:nvPr/>
        </p:nvSpPr>
        <p:spPr>
          <a:xfrm>
            <a:off x="1007478" y="2765972"/>
            <a:ext cx="4252912" cy="588764"/>
          </a:xfrm>
          <a:prstGeom prst="rect">
            <a:avLst/>
          </a:prstGeom>
        </p:spPr>
        <p:txBody>
          <a:bodyPr lIns="0" tIns="0" rIns="0" bIns="0" rtlCol="0" anchor="t">
            <a:spAutoFit/>
          </a:bodyPr>
          <a:lstStyle/>
          <a:p>
            <a:pPr algn="l">
              <a:lnSpc>
                <a:spcPts val="4125"/>
              </a:lnSpc>
            </a:pPr>
            <a:r>
              <a:rPr lang="en-US" sz="3311" b="1" dirty="0">
                <a:solidFill>
                  <a:srgbClr val="000000"/>
                </a:solidFill>
                <a:latin typeface="Inter Bold"/>
                <a:ea typeface="Inter Bold"/>
                <a:cs typeface="Inter Bold"/>
                <a:sym typeface="Inter Bold"/>
              </a:rPr>
              <a:t>Rising Challenge</a:t>
            </a:r>
          </a:p>
        </p:txBody>
      </p:sp>
      <p:sp>
        <p:nvSpPr>
          <p:cNvPr id="8" name="TextBox 8"/>
          <p:cNvSpPr txBox="1"/>
          <p:nvPr/>
        </p:nvSpPr>
        <p:spPr>
          <a:xfrm>
            <a:off x="992238" y="3807618"/>
            <a:ext cx="9505355" cy="1532335"/>
          </a:xfrm>
          <a:prstGeom prst="rect">
            <a:avLst/>
          </a:prstGeom>
        </p:spPr>
        <p:txBody>
          <a:bodyPr lIns="0" tIns="0" rIns="0" bIns="0" rtlCol="0" anchor="t">
            <a:spAutoFit/>
          </a:bodyPr>
          <a:lstStyle/>
          <a:p>
            <a:pPr algn="l">
              <a:lnSpc>
                <a:spcPts val="3561"/>
              </a:lnSpc>
            </a:pPr>
            <a:r>
              <a:rPr lang="en-US" sz="2187" dirty="0">
                <a:solidFill>
                  <a:srgbClr val="272525"/>
                </a:solidFill>
                <a:latin typeface="Inter"/>
                <a:ea typeface="Inter"/>
                <a:cs typeface="Inter"/>
                <a:sym typeface="Inter"/>
              </a:rPr>
              <a:t>India faces an unprecedented obesity epidemic with limited structured treatment adoption and widespread lack of awareness among both patients and healthcare providers.</a:t>
            </a:r>
          </a:p>
        </p:txBody>
      </p:sp>
      <p:grpSp>
        <p:nvGrpSpPr>
          <p:cNvPr id="9" name="Group 9"/>
          <p:cNvGrpSpPr/>
          <p:nvPr/>
        </p:nvGrpSpPr>
        <p:grpSpPr>
          <a:xfrm>
            <a:off x="925912" y="5905500"/>
            <a:ext cx="9505378" cy="2111978"/>
            <a:chOff x="0" y="0"/>
            <a:chExt cx="12673838" cy="2815971"/>
          </a:xfrm>
        </p:grpSpPr>
        <p:sp>
          <p:nvSpPr>
            <p:cNvPr id="10" name="Freeform 10"/>
            <p:cNvSpPr/>
            <p:nvPr/>
          </p:nvSpPr>
          <p:spPr>
            <a:xfrm>
              <a:off x="0" y="0"/>
              <a:ext cx="12673838" cy="2815971"/>
            </a:xfrm>
            <a:custGeom>
              <a:avLst/>
              <a:gdLst/>
              <a:ahLst/>
              <a:cxnLst/>
              <a:rect l="l" t="t" r="r" b="b"/>
              <a:pathLst>
                <a:path w="12673838" h="2815971">
                  <a:moveTo>
                    <a:pt x="0" y="158750"/>
                  </a:moveTo>
                  <a:cubicBezTo>
                    <a:pt x="0" y="71120"/>
                    <a:pt x="71120" y="0"/>
                    <a:pt x="158750" y="0"/>
                  </a:cubicBezTo>
                  <a:lnTo>
                    <a:pt x="12515088" y="0"/>
                  </a:lnTo>
                  <a:cubicBezTo>
                    <a:pt x="12602718" y="0"/>
                    <a:pt x="12673838" y="71120"/>
                    <a:pt x="12673838" y="158750"/>
                  </a:cubicBezTo>
                  <a:lnTo>
                    <a:pt x="12673838" y="2657221"/>
                  </a:lnTo>
                  <a:cubicBezTo>
                    <a:pt x="12673838" y="2744851"/>
                    <a:pt x="12602718" y="2815971"/>
                    <a:pt x="12515088" y="2815971"/>
                  </a:cubicBezTo>
                  <a:lnTo>
                    <a:pt x="158750" y="2815971"/>
                  </a:lnTo>
                  <a:cubicBezTo>
                    <a:pt x="71120" y="2815971"/>
                    <a:pt x="0" y="2744851"/>
                    <a:pt x="0" y="2657221"/>
                  </a:cubicBezTo>
                  <a:close/>
                </a:path>
              </a:pathLst>
            </a:custGeom>
            <a:solidFill>
              <a:srgbClr val="FFB3B4"/>
            </a:solidFill>
          </p:spPr>
          <p:txBody>
            <a:bodyPr/>
            <a:lstStyle/>
            <a:p>
              <a:endParaRPr lang="en-IN" dirty="0"/>
            </a:p>
          </p:txBody>
        </p:sp>
      </p:grpSp>
      <p:grpSp>
        <p:nvGrpSpPr>
          <p:cNvPr id="11" name="Group 11"/>
          <p:cNvGrpSpPr/>
          <p:nvPr/>
        </p:nvGrpSpPr>
        <p:grpSpPr>
          <a:xfrm>
            <a:off x="1209429" y="6335614"/>
            <a:ext cx="354330" cy="283560"/>
            <a:chOff x="0" y="0"/>
            <a:chExt cx="472440" cy="378080"/>
          </a:xfrm>
        </p:grpSpPr>
        <p:sp>
          <p:nvSpPr>
            <p:cNvPr id="12" name="Freeform 12" descr="preencoded.png"/>
            <p:cNvSpPr/>
            <p:nvPr/>
          </p:nvSpPr>
          <p:spPr>
            <a:xfrm>
              <a:off x="0" y="0"/>
              <a:ext cx="472440" cy="378079"/>
            </a:xfrm>
            <a:custGeom>
              <a:avLst/>
              <a:gdLst/>
              <a:ahLst/>
              <a:cxnLst/>
              <a:rect l="l" t="t" r="r" b="b"/>
              <a:pathLst>
                <a:path w="472440" h="378079">
                  <a:moveTo>
                    <a:pt x="0" y="0"/>
                  </a:moveTo>
                  <a:lnTo>
                    <a:pt x="472440" y="0"/>
                  </a:lnTo>
                  <a:lnTo>
                    <a:pt x="472440" y="378079"/>
                  </a:lnTo>
                  <a:lnTo>
                    <a:pt x="0" y="378079"/>
                  </a:lnTo>
                  <a:lnTo>
                    <a:pt x="0" y="0"/>
                  </a:lnTo>
                  <a:close/>
                </a:path>
              </a:pathLst>
            </a:custGeom>
            <a:blipFill>
              <a:blip r:embed="rId2"/>
              <a:stretch>
                <a:fillRect l="-16" r="-16"/>
              </a:stretch>
            </a:blipFill>
          </p:spPr>
          <p:txBody>
            <a:bodyPr/>
            <a:lstStyle/>
            <a:p>
              <a:endParaRPr lang="en-IN" dirty="0"/>
            </a:p>
          </p:txBody>
        </p:sp>
      </p:grpSp>
      <p:sp>
        <p:nvSpPr>
          <p:cNvPr id="13" name="TextBox 13"/>
          <p:cNvSpPr txBox="1"/>
          <p:nvPr/>
        </p:nvSpPr>
        <p:spPr>
          <a:xfrm>
            <a:off x="1847306" y="6088410"/>
            <a:ext cx="8300442" cy="1532335"/>
          </a:xfrm>
          <a:prstGeom prst="rect">
            <a:avLst/>
          </a:prstGeom>
        </p:spPr>
        <p:txBody>
          <a:bodyPr lIns="0" tIns="0" rIns="0" bIns="0" rtlCol="0" anchor="t">
            <a:spAutoFit/>
          </a:bodyPr>
          <a:lstStyle/>
          <a:p>
            <a:pPr algn="l">
              <a:lnSpc>
                <a:spcPts val="3561"/>
              </a:lnSpc>
            </a:pPr>
            <a:r>
              <a:rPr lang="en-US" sz="2187" b="1" dirty="0">
                <a:solidFill>
                  <a:srgbClr val="000000"/>
                </a:solidFill>
                <a:latin typeface="Inter Bold"/>
                <a:ea typeface="Inter Bold"/>
                <a:cs typeface="Inter Bold"/>
                <a:sym typeface="Inter Bold"/>
              </a:rPr>
              <a:t>Critical Gap:</a:t>
            </a:r>
            <a:r>
              <a:rPr lang="en-US" sz="2187" dirty="0">
                <a:solidFill>
                  <a:srgbClr val="000000"/>
                </a:solidFill>
                <a:latin typeface="Inter"/>
                <a:ea typeface="Inter"/>
                <a:cs typeface="Inter"/>
                <a:sym typeface="Inter"/>
              </a:rPr>
              <a:t> Traditional approaches are failing to address the scale and complexity of obesity management in India's diverse healthcare landscape.</a:t>
            </a:r>
          </a:p>
        </p:txBody>
      </p:sp>
      <p:grpSp>
        <p:nvGrpSpPr>
          <p:cNvPr id="14" name="Group 14"/>
          <p:cNvGrpSpPr/>
          <p:nvPr/>
        </p:nvGrpSpPr>
        <p:grpSpPr>
          <a:xfrm>
            <a:off x="11198870" y="2001739"/>
            <a:ext cx="6555749" cy="6850429"/>
            <a:chOff x="0" y="0"/>
            <a:chExt cx="8740999" cy="9133905"/>
          </a:xfrm>
        </p:grpSpPr>
        <p:sp>
          <p:nvSpPr>
            <p:cNvPr id="15" name="Freeform 15" descr="preencoded.png"/>
            <p:cNvSpPr/>
            <p:nvPr/>
          </p:nvSpPr>
          <p:spPr>
            <a:xfrm>
              <a:off x="0" y="0"/>
              <a:ext cx="8741029" cy="9133967"/>
            </a:xfrm>
            <a:custGeom>
              <a:avLst/>
              <a:gdLst/>
              <a:ahLst/>
              <a:cxnLst/>
              <a:rect l="l" t="t" r="r" b="b"/>
              <a:pathLst>
                <a:path w="8741029" h="9133967">
                  <a:moveTo>
                    <a:pt x="0" y="0"/>
                  </a:moveTo>
                  <a:lnTo>
                    <a:pt x="8741029" y="0"/>
                  </a:lnTo>
                  <a:lnTo>
                    <a:pt x="8741029" y="9133967"/>
                  </a:lnTo>
                  <a:lnTo>
                    <a:pt x="0" y="9133967"/>
                  </a:lnTo>
                  <a:lnTo>
                    <a:pt x="0" y="0"/>
                  </a:lnTo>
                  <a:close/>
                </a:path>
              </a:pathLst>
            </a:custGeom>
            <a:blipFill>
              <a:blip r:embed="rId3"/>
              <a:stretch>
                <a:fillRect l="-2247" r="-2247"/>
              </a:stretch>
            </a:blipFill>
          </p:spPr>
          <p:txBody>
            <a:bodyPr/>
            <a:lstStyle/>
            <a:p>
              <a:endParaRPr lang="en-IN"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txBody>
            <a:bodyPr/>
            <a:lstStyle/>
            <a:p>
              <a:endParaRPr lang="en-IN" dirty="0"/>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dirty="0"/>
            </a:p>
          </p:txBody>
        </p:sp>
      </p:grpSp>
      <p:grpSp>
        <p:nvGrpSpPr>
          <p:cNvPr id="6" name="Group 6"/>
          <p:cNvGrpSpPr/>
          <p:nvPr/>
        </p:nvGrpSpPr>
        <p:grpSpPr>
          <a:xfrm>
            <a:off x="1143000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2"/>
              <a:stretch>
                <a:fillRect/>
              </a:stretch>
            </a:blipFill>
          </p:spPr>
          <p:txBody>
            <a:bodyPr/>
            <a:lstStyle/>
            <a:p>
              <a:endParaRPr lang="en-IN" dirty="0"/>
            </a:p>
          </p:txBody>
        </p:sp>
      </p:grpSp>
      <p:sp>
        <p:nvSpPr>
          <p:cNvPr id="8" name="TextBox 8"/>
          <p:cNvSpPr txBox="1"/>
          <p:nvPr/>
        </p:nvSpPr>
        <p:spPr>
          <a:xfrm>
            <a:off x="2558134" y="749724"/>
            <a:ext cx="6256585" cy="858291"/>
          </a:xfrm>
          <a:prstGeom prst="rect">
            <a:avLst/>
          </a:prstGeom>
        </p:spPr>
        <p:txBody>
          <a:bodyPr lIns="0" tIns="0" rIns="0" bIns="0" rtlCol="0" anchor="t">
            <a:spAutoFit/>
          </a:bodyPr>
          <a:lstStyle/>
          <a:p>
            <a:pPr algn="l">
              <a:lnSpc>
                <a:spcPts val="6125"/>
              </a:lnSpc>
            </a:pPr>
            <a:r>
              <a:rPr lang="en-US" sz="4875" b="1" dirty="0">
                <a:solidFill>
                  <a:srgbClr val="000000"/>
                </a:solidFill>
                <a:latin typeface="Inter Bold"/>
                <a:ea typeface="Inter Bold"/>
                <a:cs typeface="Inter Bold"/>
                <a:sym typeface="Inter Bold"/>
              </a:rPr>
              <a:t>Introducing Wegovy</a:t>
            </a:r>
          </a:p>
        </p:txBody>
      </p:sp>
      <p:sp>
        <p:nvSpPr>
          <p:cNvPr id="9" name="Freeform 9"/>
          <p:cNvSpPr/>
          <p:nvPr/>
        </p:nvSpPr>
        <p:spPr>
          <a:xfrm>
            <a:off x="861567" y="2074740"/>
            <a:ext cx="4723543" cy="3072480"/>
          </a:xfrm>
          <a:custGeom>
            <a:avLst/>
            <a:gdLst/>
            <a:ahLst/>
            <a:cxnLst/>
            <a:rect l="l" t="t" r="r" b="b"/>
            <a:pathLst>
              <a:path w="4723543" h="3072480">
                <a:moveTo>
                  <a:pt x="0" y="0"/>
                </a:moveTo>
                <a:lnTo>
                  <a:pt x="4723543" y="0"/>
                </a:lnTo>
                <a:lnTo>
                  <a:pt x="4723543" y="3072480"/>
                </a:lnTo>
                <a:lnTo>
                  <a:pt x="0" y="30724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sp>
        <p:nvSpPr>
          <p:cNvPr id="10" name="TextBox 10"/>
          <p:cNvSpPr txBox="1"/>
          <p:nvPr/>
        </p:nvSpPr>
        <p:spPr>
          <a:xfrm>
            <a:off x="1126035" y="2297459"/>
            <a:ext cx="3128219" cy="429071"/>
          </a:xfrm>
          <a:prstGeom prst="rect">
            <a:avLst/>
          </a:prstGeom>
        </p:spPr>
        <p:txBody>
          <a:bodyPr lIns="0" tIns="0" rIns="0" bIns="0" rtlCol="0" anchor="t">
            <a:spAutoFit/>
          </a:bodyPr>
          <a:lstStyle/>
          <a:p>
            <a:pPr algn="l">
              <a:lnSpc>
                <a:spcPts val="3062"/>
              </a:lnSpc>
            </a:pPr>
            <a:r>
              <a:rPr lang="en-US" sz="2436" b="1" dirty="0">
                <a:solidFill>
                  <a:srgbClr val="272525"/>
                </a:solidFill>
                <a:latin typeface="Inter Bold"/>
                <a:ea typeface="Inter Bold"/>
                <a:cs typeface="Inter Bold"/>
                <a:sym typeface="Inter Bold"/>
              </a:rPr>
              <a:t>Proven Efficacy</a:t>
            </a:r>
          </a:p>
        </p:txBody>
      </p:sp>
      <p:sp>
        <p:nvSpPr>
          <p:cNvPr id="11" name="TextBox 11"/>
          <p:cNvSpPr txBox="1"/>
          <p:nvPr/>
        </p:nvSpPr>
        <p:spPr>
          <a:xfrm>
            <a:off x="1126035" y="2755105"/>
            <a:ext cx="4194572" cy="2173932"/>
          </a:xfrm>
          <a:prstGeom prst="rect">
            <a:avLst/>
          </a:prstGeom>
        </p:spPr>
        <p:txBody>
          <a:bodyPr lIns="0" tIns="0" rIns="0" bIns="0" rtlCol="0" anchor="t">
            <a:spAutoFit/>
          </a:bodyPr>
          <a:lstStyle/>
          <a:p>
            <a:pPr algn="l">
              <a:lnSpc>
                <a:spcPts val="3125"/>
              </a:lnSpc>
            </a:pPr>
            <a:r>
              <a:rPr lang="en-US" sz="1937" dirty="0">
                <a:solidFill>
                  <a:srgbClr val="272525"/>
                </a:solidFill>
                <a:latin typeface="Inter"/>
                <a:ea typeface="Inter"/>
                <a:cs typeface="Inter"/>
                <a:sym typeface="Inter"/>
              </a:rPr>
              <a:t>Wegovy has been clinically proven to deliver significant weight-loss and metabolic benefits, achieving an average weight reduction of about 15% in adults</a:t>
            </a:r>
          </a:p>
        </p:txBody>
      </p:sp>
      <p:sp>
        <p:nvSpPr>
          <p:cNvPr id="12" name="Freeform 12"/>
          <p:cNvSpPr/>
          <p:nvPr/>
        </p:nvSpPr>
        <p:spPr>
          <a:xfrm>
            <a:off x="5844856" y="2129433"/>
            <a:ext cx="4723638" cy="3072480"/>
          </a:xfrm>
          <a:custGeom>
            <a:avLst/>
            <a:gdLst/>
            <a:ahLst/>
            <a:cxnLst/>
            <a:rect l="l" t="t" r="r" b="b"/>
            <a:pathLst>
              <a:path w="4723638" h="3072480">
                <a:moveTo>
                  <a:pt x="0" y="0"/>
                </a:moveTo>
                <a:lnTo>
                  <a:pt x="4723638" y="0"/>
                </a:lnTo>
                <a:lnTo>
                  <a:pt x="4723638" y="3072480"/>
                </a:lnTo>
                <a:lnTo>
                  <a:pt x="0" y="307248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dirty="0"/>
          </a:p>
        </p:txBody>
      </p:sp>
      <p:sp>
        <p:nvSpPr>
          <p:cNvPr id="13" name="TextBox 13"/>
          <p:cNvSpPr txBox="1"/>
          <p:nvPr/>
        </p:nvSpPr>
        <p:spPr>
          <a:xfrm>
            <a:off x="6052096" y="2411759"/>
            <a:ext cx="3609677" cy="429071"/>
          </a:xfrm>
          <a:prstGeom prst="rect">
            <a:avLst/>
          </a:prstGeom>
        </p:spPr>
        <p:txBody>
          <a:bodyPr lIns="0" tIns="0" rIns="0" bIns="0" rtlCol="0" anchor="t">
            <a:spAutoFit/>
          </a:bodyPr>
          <a:lstStyle/>
          <a:p>
            <a:pPr algn="l">
              <a:lnSpc>
                <a:spcPts val="3062"/>
              </a:lnSpc>
            </a:pPr>
            <a:r>
              <a:rPr lang="en-US" sz="2436" b="1" dirty="0">
                <a:solidFill>
                  <a:srgbClr val="272525"/>
                </a:solidFill>
                <a:latin typeface="Inter Bold"/>
                <a:ea typeface="Inter Bold"/>
                <a:cs typeface="Inter Bold"/>
                <a:sym typeface="Inter Bold"/>
              </a:rPr>
              <a:t>Competitive Landscape</a:t>
            </a:r>
          </a:p>
        </p:txBody>
      </p:sp>
      <p:sp>
        <p:nvSpPr>
          <p:cNvPr id="14" name="TextBox 14"/>
          <p:cNvSpPr txBox="1"/>
          <p:nvPr/>
        </p:nvSpPr>
        <p:spPr>
          <a:xfrm>
            <a:off x="6052096" y="3103810"/>
            <a:ext cx="4194721" cy="1372940"/>
          </a:xfrm>
          <a:prstGeom prst="rect">
            <a:avLst/>
          </a:prstGeom>
        </p:spPr>
        <p:txBody>
          <a:bodyPr lIns="0" tIns="0" rIns="0" bIns="0" rtlCol="0" anchor="t">
            <a:spAutoFit/>
          </a:bodyPr>
          <a:lstStyle/>
          <a:p>
            <a:pPr algn="l">
              <a:lnSpc>
                <a:spcPts val="3125"/>
              </a:lnSpc>
            </a:pPr>
            <a:r>
              <a:rPr lang="en-US" sz="1937" dirty="0">
                <a:solidFill>
                  <a:srgbClr val="272525"/>
                </a:solidFill>
                <a:latin typeface="Inter"/>
                <a:ea typeface="Inter"/>
                <a:cs typeface="Inter"/>
                <a:sym typeface="Inter"/>
              </a:rPr>
              <a:t>Competing against Mounjaro, lifestyle interventions, bariatric surgery, and nutraceuticals</a:t>
            </a:r>
          </a:p>
        </p:txBody>
      </p:sp>
      <p:sp>
        <p:nvSpPr>
          <p:cNvPr id="15" name="Freeform 15"/>
          <p:cNvSpPr/>
          <p:nvPr/>
        </p:nvSpPr>
        <p:spPr>
          <a:xfrm>
            <a:off x="880617" y="5442495"/>
            <a:ext cx="9687877" cy="1470469"/>
          </a:xfrm>
          <a:custGeom>
            <a:avLst/>
            <a:gdLst/>
            <a:ahLst/>
            <a:cxnLst/>
            <a:rect l="l" t="t" r="r" b="b"/>
            <a:pathLst>
              <a:path w="9687877" h="1470469">
                <a:moveTo>
                  <a:pt x="0" y="0"/>
                </a:moveTo>
                <a:lnTo>
                  <a:pt x="9687877" y="0"/>
                </a:lnTo>
                <a:lnTo>
                  <a:pt x="9687877" y="1470469"/>
                </a:lnTo>
                <a:lnTo>
                  <a:pt x="0" y="147046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dirty="0"/>
          </a:p>
        </p:txBody>
      </p:sp>
      <p:sp>
        <p:nvSpPr>
          <p:cNvPr id="16" name="TextBox 16"/>
          <p:cNvSpPr txBox="1"/>
          <p:nvPr/>
        </p:nvSpPr>
        <p:spPr>
          <a:xfrm>
            <a:off x="1126035" y="5748659"/>
            <a:ext cx="3128219" cy="429071"/>
          </a:xfrm>
          <a:prstGeom prst="rect">
            <a:avLst/>
          </a:prstGeom>
        </p:spPr>
        <p:txBody>
          <a:bodyPr lIns="0" tIns="0" rIns="0" bIns="0" rtlCol="0" anchor="t">
            <a:spAutoFit/>
          </a:bodyPr>
          <a:lstStyle/>
          <a:p>
            <a:pPr algn="l">
              <a:lnSpc>
                <a:spcPts val="3062"/>
              </a:lnSpc>
            </a:pPr>
            <a:r>
              <a:rPr lang="en-US" sz="2436" b="1" dirty="0">
                <a:solidFill>
                  <a:srgbClr val="272525"/>
                </a:solidFill>
                <a:latin typeface="Inter Bold"/>
                <a:ea typeface="Inter Bold"/>
                <a:cs typeface="Inter Bold"/>
                <a:sym typeface="Inter Bold"/>
              </a:rPr>
              <a:t>Patient-Friendly</a:t>
            </a:r>
          </a:p>
        </p:txBody>
      </p:sp>
      <p:sp>
        <p:nvSpPr>
          <p:cNvPr id="17" name="TextBox 17"/>
          <p:cNvSpPr txBox="1"/>
          <p:nvPr/>
        </p:nvSpPr>
        <p:spPr>
          <a:xfrm>
            <a:off x="1106985" y="6262837"/>
            <a:ext cx="9158883" cy="571946"/>
          </a:xfrm>
          <a:prstGeom prst="rect">
            <a:avLst/>
          </a:prstGeom>
        </p:spPr>
        <p:txBody>
          <a:bodyPr lIns="0" tIns="0" rIns="0" bIns="0" rtlCol="0" anchor="t">
            <a:spAutoFit/>
          </a:bodyPr>
          <a:lstStyle/>
          <a:p>
            <a:pPr algn="l">
              <a:lnSpc>
                <a:spcPts val="3125"/>
              </a:lnSpc>
            </a:pPr>
            <a:r>
              <a:rPr lang="en-US" sz="1937" dirty="0">
                <a:solidFill>
                  <a:srgbClr val="272525"/>
                </a:solidFill>
                <a:latin typeface="Inter"/>
                <a:ea typeface="Inter"/>
                <a:cs typeface="Inter"/>
                <a:sym typeface="Inter"/>
              </a:rPr>
              <a:t>Weekly once injectable format ensures optimal compliance and convenience</a:t>
            </a:r>
          </a:p>
        </p:txBody>
      </p:sp>
      <p:sp>
        <p:nvSpPr>
          <p:cNvPr id="18" name="Freeform 18"/>
          <p:cNvSpPr/>
          <p:nvPr/>
        </p:nvSpPr>
        <p:spPr>
          <a:xfrm>
            <a:off x="861567" y="7206258"/>
            <a:ext cx="9706927" cy="1928146"/>
          </a:xfrm>
          <a:custGeom>
            <a:avLst/>
            <a:gdLst/>
            <a:ahLst/>
            <a:cxnLst/>
            <a:rect l="l" t="t" r="r" b="b"/>
            <a:pathLst>
              <a:path w="9706927" h="1928146">
                <a:moveTo>
                  <a:pt x="0" y="0"/>
                </a:moveTo>
                <a:lnTo>
                  <a:pt x="9706927" y="0"/>
                </a:lnTo>
                <a:lnTo>
                  <a:pt x="9706927" y="1928146"/>
                </a:lnTo>
                <a:lnTo>
                  <a:pt x="0" y="192814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N" dirty="0"/>
          </a:p>
        </p:txBody>
      </p:sp>
      <p:sp>
        <p:nvSpPr>
          <p:cNvPr id="19" name="TextBox 19"/>
          <p:cNvSpPr txBox="1"/>
          <p:nvPr/>
        </p:nvSpPr>
        <p:spPr>
          <a:xfrm>
            <a:off x="1126035" y="7625908"/>
            <a:ext cx="3128219" cy="429071"/>
          </a:xfrm>
          <a:prstGeom prst="rect">
            <a:avLst/>
          </a:prstGeom>
        </p:spPr>
        <p:txBody>
          <a:bodyPr lIns="0" tIns="0" rIns="0" bIns="0" rtlCol="0" anchor="t">
            <a:spAutoFit/>
          </a:bodyPr>
          <a:lstStyle/>
          <a:p>
            <a:pPr algn="l">
              <a:lnSpc>
                <a:spcPts val="3062"/>
              </a:lnSpc>
            </a:pPr>
            <a:r>
              <a:rPr lang="en-US" sz="2436" b="1" dirty="0">
                <a:solidFill>
                  <a:srgbClr val="272525"/>
                </a:solidFill>
                <a:latin typeface="Inter Bold"/>
                <a:ea typeface="Inter Bold"/>
                <a:cs typeface="Inter Bold"/>
                <a:sym typeface="Inter Bold"/>
              </a:rPr>
              <a:t>Eligible Patients</a:t>
            </a:r>
          </a:p>
        </p:txBody>
      </p:sp>
      <p:sp>
        <p:nvSpPr>
          <p:cNvPr id="20" name="TextBox 20"/>
          <p:cNvSpPr txBox="1"/>
          <p:nvPr/>
        </p:nvSpPr>
        <p:spPr>
          <a:xfrm>
            <a:off x="1126035" y="8084606"/>
            <a:ext cx="9120782" cy="765099"/>
          </a:xfrm>
          <a:prstGeom prst="rect">
            <a:avLst/>
          </a:prstGeom>
        </p:spPr>
        <p:txBody>
          <a:bodyPr lIns="0" tIns="0" rIns="0" bIns="0" rtlCol="0" anchor="t">
            <a:spAutoFit/>
          </a:bodyPr>
          <a:lstStyle/>
          <a:p>
            <a:pPr algn="l">
              <a:lnSpc>
                <a:spcPts val="3125"/>
              </a:lnSpc>
            </a:pPr>
            <a:r>
              <a:rPr lang="en-US" sz="1937" dirty="0">
                <a:solidFill>
                  <a:srgbClr val="272525"/>
                </a:solidFill>
                <a:latin typeface="Inter"/>
                <a:ea typeface="Inter"/>
                <a:cs typeface="Inter"/>
                <a:sym typeface="Inter"/>
              </a:rPr>
              <a:t>BMI ≥ 30, or BMI ≥ 27 with comorbidities including diabetes, hypertension, and cardiovascular risks</a:t>
            </a:r>
          </a:p>
        </p:txBody>
      </p:sp>
      <p:sp>
        <p:nvSpPr>
          <p:cNvPr id="21" name="TextBox 21"/>
          <p:cNvSpPr txBox="1"/>
          <p:nvPr/>
        </p:nvSpPr>
        <p:spPr>
          <a:xfrm>
            <a:off x="548640" y="9478129"/>
            <a:ext cx="10561320" cy="742950"/>
          </a:xfrm>
          <a:prstGeom prst="rect">
            <a:avLst/>
          </a:prstGeom>
        </p:spPr>
        <p:txBody>
          <a:bodyPr lIns="0" tIns="0" rIns="0" bIns="0" rtlCol="0" anchor="t">
            <a:spAutoFit/>
          </a:bodyPr>
          <a:lstStyle/>
          <a:p>
            <a:pPr algn="l">
              <a:lnSpc>
                <a:spcPts val="1920"/>
              </a:lnSpc>
            </a:pPr>
            <a:r>
              <a:rPr lang="en-US" sz="1600" b="1" dirty="0">
                <a:solidFill>
                  <a:srgbClr val="272525"/>
                </a:solidFill>
                <a:latin typeface="Calibri (MS) Bold"/>
                <a:ea typeface="Calibri (MS) Bold"/>
                <a:cs typeface="Calibri (MS) Bold"/>
                <a:sym typeface="Calibri (MS) Bold"/>
              </a:rPr>
              <a:t>Source:- </a:t>
            </a:r>
            <a:r>
              <a:rPr lang="en-US" sz="1600" dirty="0">
                <a:solidFill>
                  <a:srgbClr val="000000"/>
                </a:solidFill>
                <a:latin typeface="Calibri (MS)"/>
                <a:ea typeface="Calibri (MS)"/>
                <a:cs typeface="Calibri (MS)"/>
                <a:sym typeface="Calibri (MS)"/>
              </a:rPr>
              <a:t>Wegovy. (n.d.). </a:t>
            </a:r>
            <a:r>
              <a:rPr lang="en-US" sz="1600" i="1" dirty="0">
                <a:solidFill>
                  <a:srgbClr val="000000"/>
                </a:solidFill>
                <a:latin typeface="Calibri (MS) Italics"/>
                <a:ea typeface="Calibri (MS) Italics"/>
                <a:cs typeface="Calibri (MS) Italics"/>
                <a:sym typeface="Calibri (MS) Italics"/>
              </a:rPr>
              <a:t>Weight‐Loss Prescription Medication | WegovyTM (semaglutide) Injection 2.4 mg</a:t>
            </a:r>
            <a:r>
              <a:rPr lang="en-US" sz="1600" dirty="0">
                <a:solidFill>
                  <a:srgbClr val="000000"/>
                </a:solidFill>
                <a:latin typeface="Calibri (MS)"/>
                <a:ea typeface="Calibri (MS)"/>
                <a:cs typeface="Calibri (MS)"/>
                <a:sym typeface="Calibri (MS)"/>
              </a:rPr>
              <a:t>. Www.wegovy.com. </a:t>
            </a:r>
            <a:r>
              <a:rPr lang="en-US" sz="1600" u="sng" dirty="0">
                <a:solidFill>
                  <a:srgbClr val="0000FF"/>
                </a:solidFill>
                <a:latin typeface="Calibri (MS)"/>
                <a:ea typeface="Calibri (MS)"/>
                <a:cs typeface="Calibri (MS)"/>
                <a:sym typeface="Calibri (MS)"/>
                <a:hlinkClick r:id="rId11" tooltip="https://www.wegovy.com/"/>
              </a:rPr>
              <a:t>https://www.wegovy.com/</a:t>
            </a:r>
          </a:p>
          <a:p>
            <a:pPr algn="l">
              <a:lnSpc>
                <a:spcPts val="1920"/>
              </a:lnSpc>
            </a:pPr>
            <a:endParaRPr lang="en-US" sz="1600" u="sng" dirty="0">
              <a:solidFill>
                <a:srgbClr val="0000FF"/>
              </a:solidFill>
              <a:latin typeface="Calibri (MS)"/>
              <a:ea typeface="Calibri (MS)"/>
              <a:cs typeface="Calibri (MS)"/>
              <a:sym typeface="Calibri (MS)"/>
              <a:hlinkClick r:id="rId11" tooltip="https://www.wegovy.co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txBody>
            <a:bodyPr/>
            <a:lstStyle/>
            <a:p>
              <a:endParaRPr lang="en-IN" dirty="0"/>
            </a:p>
          </p:txBody>
        </p:sp>
      </p:grpSp>
      <p:grpSp>
        <p:nvGrpSpPr>
          <p:cNvPr id="4" name="Group 4"/>
          <p:cNvGrpSpPr/>
          <p:nvPr/>
        </p:nvGrpSpPr>
        <p:grpSpPr>
          <a:xfrm>
            <a:off x="9525"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dirty="0"/>
            </a:p>
          </p:txBody>
        </p:sp>
      </p:grpSp>
      <p:sp>
        <p:nvSpPr>
          <p:cNvPr id="6" name="TextBox 6"/>
          <p:cNvSpPr txBox="1"/>
          <p:nvPr/>
        </p:nvSpPr>
        <p:spPr>
          <a:xfrm>
            <a:off x="992238" y="971550"/>
            <a:ext cx="7088237" cy="943124"/>
          </a:xfrm>
          <a:prstGeom prst="rect">
            <a:avLst/>
          </a:prstGeom>
        </p:spPr>
        <p:txBody>
          <a:bodyPr lIns="0" tIns="0" rIns="0" bIns="0" rtlCol="0" anchor="t">
            <a:spAutoFit/>
          </a:bodyPr>
          <a:lstStyle/>
          <a:p>
            <a:pPr algn="l">
              <a:lnSpc>
                <a:spcPts val="6936"/>
              </a:lnSpc>
            </a:pPr>
            <a:r>
              <a:rPr lang="en-US" sz="5562" b="1" dirty="0">
                <a:solidFill>
                  <a:srgbClr val="000000"/>
                </a:solidFill>
                <a:latin typeface="Inter Bold"/>
                <a:ea typeface="Inter Bold"/>
                <a:cs typeface="Inter Bold"/>
                <a:sym typeface="Inter Bold"/>
              </a:rPr>
              <a:t>Target Population</a:t>
            </a:r>
          </a:p>
        </p:txBody>
      </p:sp>
      <p:sp>
        <p:nvSpPr>
          <p:cNvPr id="7" name="TextBox 7"/>
          <p:cNvSpPr txBox="1"/>
          <p:nvPr/>
        </p:nvSpPr>
        <p:spPr>
          <a:xfrm>
            <a:off x="1028700" y="2159347"/>
            <a:ext cx="16303526" cy="1018495"/>
          </a:xfrm>
          <a:prstGeom prst="rect">
            <a:avLst/>
          </a:prstGeom>
        </p:spPr>
        <p:txBody>
          <a:bodyPr lIns="0" tIns="0" rIns="0" bIns="0" rtlCol="0" anchor="t">
            <a:spAutoFit/>
          </a:bodyPr>
          <a:lstStyle/>
          <a:p>
            <a:pPr algn="l">
              <a:lnSpc>
                <a:spcPts val="3724"/>
              </a:lnSpc>
            </a:pPr>
            <a:r>
              <a:rPr lang="en-US" sz="2286" dirty="0">
                <a:solidFill>
                  <a:srgbClr val="272525"/>
                </a:solidFill>
                <a:latin typeface="Inter"/>
                <a:ea typeface="Inter"/>
                <a:cs typeface="Inter"/>
                <a:sym typeface="Inter"/>
              </a:rPr>
              <a:t>Indicated for individuals aged 12 years and older who have obesity, or who are overweight with significant comorbidities requiring medical intervention.</a:t>
            </a:r>
          </a:p>
        </p:txBody>
      </p:sp>
      <p:grpSp>
        <p:nvGrpSpPr>
          <p:cNvPr id="8" name="Group 8"/>
          <p:cNvGrpSpPr/>
          <p:nvPr/>
        </p:nvGrpSpPr>
        <p:grpSpPr>
          <a:xfrm>
            <a:off x="1028700" y="3816251"/>
            <a:ext cx="850583" cy="850583"/>
            <a:chOff x="0" y="0"/>
            <a:chExt cx="1134111" cy="1134111"/>
          </a:xfrm>
        </p:grpSpPr>
        <p:sp>
          <p:nvSpPr>
            <p:cNvPr id="9" name="Freeform 9" descr="preencoded.png"/>
            <p:cNvSpPr/>
            <p:nvPr/>
          </p:nvSpPr>
          <p:spPr>
            <a:xfrm>
              <a:off x="0" y="0"/>
              <a:ext cx="1134110" cy="1134110"/>
            </a:xfrm>
            <a:custGeom>
              <a:avLst/>
              <a:gdLst/>
              <a:ahLst/>
              <a:cxnLst/>
              <a:rect l="l" t="t" r="r" b="b"/>
              <a:pathLst>
                <a:path w="1134110" h="1134110">
                  <a:moveTo>
                    <a:pt x="0" y="0"/>
                  </a:moveTo>
                  <a:lnTo>
                    <a:pt x="1134110" y="0"/>
                  </a:lnTo>
                  <a:lnTo>
                    <a:pt x="1134110" y="1134110"/>
                  </a:lnTo>
                  <a:lnTo>
                    <a:pt x="0" y="1134110"/>
                  </a:lnTo>
                  <a:lnTo>
                    <a:pt x="0" y="0"/>
                  </a:lnTo>
                  <a:close/>
                </a:path>
              </a:pathLst>
            </a:custGeom>
            <a:blipFill>
              <a:blip r:embed="rId2"/>
              <a:stretch>
                <a:fillRect/>
              </a:stretch>
            </a:blipFill>
          </p:spPr>
          <p:txBody>
            <a:bodyPr/>
            <a:lstStyle/>
            <a:p>
              <a:endParaRPr lang="en-IN" dirty="0"/>
            </a:p>
          </p:txBody>
        </p:sp>
      </p:grpSp>
      <p:sp>
        <p:nvSpPr>
          <p:cNvPr id="10" name="TextBox 10"/>
          <p:cNvSpPr txBox="1"/>
          <p:nvPr/>
        </p:nvSpPr>
        <p:spPr>
          <a:xfrm>
            <a:off x="1028700" y="4883944"/>
            <a:ext cx="3544044" cy="481012"/>
          </a:xfrm>
          <a:prstGeom prst="rect">
            <a:avLst/>
          </a:prstGeom>
        </p:spPr>
        <p:txBody>
          <a:bodyPr lIns="0" tIns="0" rIns="0" bIns="0" rtlCol="0" anchor="t">
            <a:spAutoFit/>
          </a:bodyPr>
          <a:lstStyle/>
          <a:p>
            <a:pPr algn="l">
              <a:lnSpc>
                <a:spcPts val="3436"/>
              </a:lnSpc>
            </a:pPr>
            <a:r>
              <a:rPr lang="en-US" sz="2750" b="1" dirty="0">
                <a:solidFill>
                  <a:srgbClr val="272525"/>
                </a:solidFill>
                <a:latin typeface="Inter Bold"/>
                <a:ea typeface="Inter Bold"/>
                <a:cs typeface="Inter Bold"/>
                <a:sym typeface="Inter Bold"/>
              </a:rPr>
              <a:t>Healthcare Facilities</a:t>
            </a:r>
          </a:p>
        </p:txBody>
      </p:sp>
      <p:sp>
        <p:nvSpPr>
          <p:cNvPr id="11" name="TextBox 11"/>
          <p:cNvSpPr txBox="1"/>
          <p:nvPr/>
        </p:nvSpPr>
        <p:spPr>
          <a:xfrm>
            <a:off x="992238" y="5700266"/>
            <a:ext cx="5198269" cy="1843088"/>
          </a:xfrm>
          <a:prstGeom prst="rect">
            <a:avLst/>
          </a:prstGeom>
        </p:spPr>
        <p:txBody>
          <a:bodyPr lIns="0" tIns="0" rIns="0" bIns="0" rtlCol="0" anchor="t">
            <a:spAutoFit/>
          </a:bodyPr>
          <a:lstStyle/>
          <a:p>
            <a:pPr algn="l">
              <a:lnSpc>
                <a:spcPts val="3561"/>
              </a:lnSpc>
            </a:pPr>
            <a:r>
              <a:rPr lang="en-US" sz="2187" dirty="0">
                <a:solidFill>
                  <a:srgbClr val="272525"/>
                </a:solidFill>
                <a:latin typeface="Inter"/>
                <a:ea typeface="Inter"/>
                <a:cs typeface="Inter"/>
                <a:sym typeface="Inter"/>
              </a:rPr>
              <a:t>Hospitals, specialized obesity clinics, and wellness centers offering comprehensive weight management programs</a:t>
            </a:r>
          </a:p>
        </p:txBody>
      </p:sp>
      <p:grpSp>
        <p:nvGrpSpPr>
          <p:cNvPr id="12" name="Group 12"/>
          <p:cNvGrpSpPr/>
          <p:nvPr/>
        </p:nvGrpSpPr>
        <p:grpSpPr>
          <a:xfrm>
            <a:off x="6563097" y="3816251"/>
            <a:ext cx="850582" cy="850583"/>
            <a:chOff x="0" y="0"/>
            <a:chExt cx="1134109" cy="1134111"/>
          </a:xfrm>
        </p:grpSpPr>
        <p:sp>
          <p:nvSpPr>
            <p:cNvPr id="13" name="Freeform 13" descr="preencoded.png"/>
            <p:cNvSpPr/>
            <p:nvPr/>
          </p:nvSpPr>
          <p:spPr>
            <a:xfrm>
              <a:off x="0" y="0"/>
              <a:ext cx="1134110" cy="1134110"/>
            </a:xfrm>
            <a:custGeom>
              <a:avLst/>
              <a:gdLst/>
              <a:ahLst/>
              <a:cxnLst/>
              <a:rect l="l" t="t" r="r" b="b"/>
              <a:pathLst>
                <a:path w="1134110" h="1134110">
                  <a:moveTo>
                    <a:pt x="0" y="0"/>
                  </a:moveTo>
                  <a:lnTo>
                    <a:pt x="1134110" y="0"/>
                  </a:lnTo>
                  <a:lnTo>
                    <a:pt x="1134110" y="1134110"/>
                  </a:lnTo>
                  <a:lnTo>
                    <a:pt x="0" y="1134110"/>
                  </a:lnTo>
                  <a:lnTo>
                    <a:pt x="0" y="0"/>
                  </a:lnTo>
                  <a:close/>
                </a:path>
              </a:pathLst>
            </a:custGeom>
            <a:blipFill>
              <a:blip r:embed="rId3"/>
              <a:stretch>
                <a:fillRect/>
              </a:stretch>
            </a:blipFill>
          </p:spPr>
          <p:txBody>
            <a:bodyPr/>
            <a:lstStyle/>
            <a:p>
              <a:endParaRPr lang="en-IN" dirty="0"/>
            </a:p>
          </p:txBody>
        </p:sp>
      </p:grpSp>
      <p:sp>
        <p:nvSpPr>
          <p:cNvPr id="14" name="TextBox 14"/>
          <p:cNvSpPr txBox="1"/>
          <p:nvPr/>
        </p:nvSpPr>
        <p:spPr>
          <a:xfrm>
            <a:off x="6563097" y="4883944"/>
            <a:ext cx="3646289" cy="481012"/>
          </a:xfrm>
          <a:prstGeom prst="rect">
            <a:avLst/>
          </a:prstGeom>
        </p:spPr>
        <p:txBody>
          <a:bodyPr lIns="0" tIns="0" rIns="0" bIns="0" rtlCol="0" anchor="t">
            <a:spAutoFit/>
          </a:bodyPr>
          <a:lstStyle/>
          <a:p>
            <a:pPr algn="l">
              <a:lnSpc>
                <a:spcPts val="3436"/>
              </a:lnSpc>
            </a:pPr>
            <a:r>
              <a:rPr lang="en-US" sz="2750" b="1" dirty="0">
                <a:solidFill>
                  <a:srgbClr val="272525"/>
                </a:solidFill>
                <a:latin typeface="Inter Bold"/>
                <a:ea typeface="Inter Bold"/>
                <a:cs typeface="Inter Bold"/>
                <a:sym typeface="Inter Bold"/>
              </a:rPr>
              <a:t>Healthcare Providers</a:t>
            </a:r>
          </a:p>
        </p:txBody>
      </p:sp>
      <p:sp>
        <p:nvSpPr>
          <p:cNvPr id="15" name="TextBox 15"/>
          <p:cNvSpPr txBox="1"/>
          <p:nvPr/>
        </p:nvSpPr>
        <p:spPr>
          <a:xfrm>
            <a:off x="6544866" y="5700266"/>
            <a:ext cx="5198269" cy="1532335"/>
          </a:xfrm>
          <a:prstGeom prst="rect">
            <a:avLst/>
          </a:prstGeom>
        </p:spPr>
        <p:txBody>
          <a:bodyPr lIns="0" tIns="0" rIns="0" bIns="0" rtlCol="0" anchor="t">
            <a:spAutoFit/>
          </a:bodyPr>
          <a:lstStyle/>
          <a:p>
            <a:pPr algn="l">
              <a:lnSpc>
                <a:spcPts val="3561"/>
              </a:lnSpc>
            </a:pPr>
            <a:r>
              <a:rPr lang="en-US" sz="2187" dirty="0">
                <a:solidFill>
                  <a:srgbClr val="272525"/>
                </a:solidFill>
                <a:latin typeface="Inter"/>
                <a:ea typeface="Inter"/>
                <a:cs typeface="Inter"/>
                <a:sym typeface="Inter"/>
              </a:rPr>
              <a:t>Endocrinologists, obesity specialists, and primary care physicians managing complex metabolic conditions</a:t>
            </a:r>
          </a:p>
        </p:txBody>
      </p:sp>
      <p:grpSp>
        <p:nvGrpSpPr>
          <p:cNvPr id="16" name="Group 16"/>
          <p:cNvGrpSpPr/>
          <p:nvPr/>
        </p:nvGrpSpPr>
        <p:grpSpPr>
          <a:xfrm>
            <a:off x="12099949" y="3816251"/>
            <a:ext cx="850583" cy="850583"/>
            <a:chOff x="0" y="0"/>
            <a:chExt cx="1134111" cy="1134111"/>
          </a:xfrm>
        </p:grpSpPr>
        <p:sp>
          <p:nvSpPr>
            <p:cNvPr id="17" name="Freeform 17" descr="preencoded.png"/>
            <p:cNvSpPr/>
            <p:nvPr/>
          </p:nvSpPr>
          <p:spPr>
            <a:xfrm>
              <a:off x="0" y="0"/>
              <a:ext cx="1134110" cy="1134110"/>
            </a:xfrm>
            <a:custGeom>
              <a:avLst/>
              <a:gdLst/>
              <a:ahLst/>
              <a:cxnLst/>
              <a:rect l="l" t="t" r="r" b="b"/>
              <a:pathLst>
                <a:path w="1134110" h="1134110">
                  <a:moveTo>
                    <a:pt x="0" y="0"/>
                  </a:moveTo>
                  <a:lnTo>
                    <a:pt x="1134110" y="0"/>
                  </a:lnTo>
                  <a:lnTo>
                    <a:pt x="1134110" y="1134110"/>
                  </a:lnTo>
                  <a:lnTo>
                    <a:pt x="0" y="1134110"/>
                  </a:lnTo>
                  <a:lnTo>
                    <a:pt x="0" y="0"/>
                  </a:lnTo>
                  <a:close/>
                </a:path>
              </a:pathLst>
            </a:custGeom>
            <a:blipFill>
              <a:blip r:embed="rId4"/>
              <a:stretch>
                <a:fillRect/>
              </a:stretch>
            </a:blipFill>
          </p:spPr>
          <p:txBody>
            <a:bodyPr/>
            <a:lstStyle/>
            <a:p>
              <a:endParaRPr lang="en-IN" dirty="0"/>
            </a:p>
          </p:txBody>
        </p:sp>
      </p:grpSp>
      <p:sp>
        <p:nvSpPr>
          <p:cNvPr id="18" name="TextBox 18"/>
          <p:cNvSpPr txBox="1"/>
          <p:nvPr/>
        </p:nvSpPr>
        <p:spPr>
          <a:xfrm>
            <a:off x="12097494" y="4883944"/>
            <a:ext cx="3544044" cy="481012"/>
          </a:xfrm>
          <a:prstGeom prst="rect">
            <a:avLst/>
          </a:prstGeom>
        </p:spPr>
        <p:txBody>
          <a:bodyPr lIns="0" tIns="0" rIns="0" bIns="0" rtlCol="0" anchor="t">
            <a:spAutoFit/>
          </a:bodyPr>
          <a:lstStyle/>
          <a:p>
            <a:pPr algn="l">
              <a:lnSpc>
                <a:spcPts val="3436"/>
              </a:lnSpc>
            </a:pPr>
            <a:r>
              <a:rPr lang="en-US" sz="2750" b="1" dirty="0">
                <a:solidFill>
                  <a:srgbClr val="272525"/>
                </a:solidFill>
                <a:latin typeface="Inter Bold"/>
                <a:ea typeface="Inter Bold"/>
                <a:cs typeface="Inter Bold"/>
                <a:sym typeface="Inter Bold"/>
              </a:rPr>
              <a:t>Patients</a:t>
            </a:r>
          </a:p>
        </p:txBody>
      </p:sp>
      <p:sp>
        <p:nvSpPr>
          <p:cNvPr id="19" name="TextBox 19"/>
          <p:cNvSpPr txBox="1"/>
          <p:nvPr/>
        </p:nvSpPr>
        <p:spPr>
          <a:xfrm>
            <a:off x="11927378" y="5557391"/>
            <a:ext cx="5198269" cy="1985962"/>
          </a:xfrm>
          <a:prstGeom prst="rect">
            <a:avLst/>
          </a:prstGeom>
        </p:spPr>
        <p:txBody>
          <a:bodyPr lIns="0" tIns="0" rIns="0" bIns="0" rtlCol="0" anchor="t">
            <a:spAutoFit/>
          </a:bodyPr>
          <a:lstStyle/>
          <a:p>
            <a:pPr algn="l">
              <a:lnSpc>
                <a:spcPts val="3561"/>
              </a:lnSpc>
            </a:pPr>
            <a:r>
              <a:rPr lang="en-US" sz="2187" dirty="0">
                <a:solidFill>
                  <a:srgbClr val="272525"/>
                </a:solidFill>
                <a:latin typeface="Inter"/>
                <a:ea typeface="Inter"/>
                <a:cs typeface="Inter"/>
                <a:sym typeface="Inter"/>
              </a:rPr>
              <a:t>Individuals seeking long-term, medically-supervised weight management solutions beyond traditional diet and exercise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txBody>
            <a:bodyPr/>
            <a:lstStyle/>
            <a:p>
              <a:endParaRPr lang="en-IN" dirty="0"/>
            </a:p>
          </p:txBody>
        </p:sp>
      </p:grpSp>
      <p:sp>
        <p:nvSpPr>
          <p:cNvPr id="6" name="TextBox 6"/>
          <p:cNvSpPr txBox="1"/>
          <p:nvPr/>
        </p:nvSpPr>
        <p:spPr>
          <a:xfrm>
            <a:off x="685800" y="503885"/>
            <a:ext cx="9445526" cy="1711302"/>
          </a:xfrm>
          <a:prstGeom prst="rect">
            <a:avLst/>
          </a:prstGeom>
        </p:spPr>
        <p:txBody>
          <a:bodyPr lIns="0" tIns="0" rIns="0" bIns="0" rtlCol="0" anchor="t">
            <a:spAutoFit/>
          </a:bodyPr>
          <a:lstStyle/>
          <a:p>
            <a:pPr algn="l">
              <a:lnSpc>
                <a:spcPts val="6936"/>
              </a:lnSpc>
            </a:pPr>
            <a:r>
              <a:rPr lang="en-US" sz="4800" b="1" dirty="0">
                <a:solidFill>
                  <a:srgbClr val="000000"/>
                </a:solidFill>
                <a:latin typeface="Inter Bold"/>
                <a:ea typeface="Inter Bold"/>
                <a:cs typeface="Inter Bold"/>
                <a:sym typeface="Inter Bold"/>
              </a:rPr>
              <a:t>Obesity Prevalence Across India</a:t>
            </a:r>
          </a:p>
        </p:txBody>
      </p:sp>
      <p:sp>
        <p:nvSpPr>
          <p:cNvPr id="7" name="TextBox 7"/>
          <p:cNvSpPr txBox="1"/>
          <p:nvPr/>
        </p:nvSpPr>
        <p:spPr>
          <a:xfrm>
            <a:off x="685800" y="3035697"/>
            <a:ext cx="8273526" cy="409920"/>
          </a:xfrm>
          <a:prstGeom prst="rect">
            <a:avLst/>
          </a:prstGeom>
        </p:spPr>
        <p:txBody>
          <a:bodyPr lIns="0" tIns="0" rIns="0" bIns="0" rtlCol="0" anchor="t">
            <a:spAutoFit/>
          </a:bodyPr>
          <a:lstStyle/>
          <a:p>
            <a:pPr algn="l">
              <a:lnSpc>
                <a:spcPts val="3436"/>
              </a:lnSpc>
            </a:pPr>
            <a:r>
              <a:rPr lang="en-US" sz="2750" b="1" dirty="0">
                <a:solidFill>
                  <a:srgbClr val="000000"/>
                </a:solidFill>
                <a:latin typeface="Inter Bold"/>
                <a:ea typeface="Inter Bold"/>
                <a:cs typeface="Inter Bold"/>
                <a:sym typeface="Inter Bold"/>
              </a:rPr>
              <a:t>Top States by Number of Obese Patients</a:t>
            </a:r>
          </a:p>
        </p:txBody>
      </p:sp>
      <p:sp>
        <p:nvSpPr>
          <p:cNvPr id="8" name="TextBox 8"/>
          <p:cNvSpPr txBox="1"/>
          <p:nvPr/>
        </p:nvSpPr>
        <p:spPr>
          <a:xfrm>
            <a:off x="685800" y="3619500"/>
            <a:ext cx="8806926" cy="1797223"/>
          </a:xfrm>
          <a:prstGeom prst="rect">
            <a:avLst/>
          </a:prstGeom>
        </p:spPr>
        <p:txBody>
          <a:bodyPr lIns="0" tIns="0" rIns="0" bIns="0" rtlCol="0" anchor="t">
            <a:spAutoFit/>
          </a:bodyPr>
          <a:lstStyle/>
          <a:p>
            <a:pPr algn="just">
              <a:lnSpc>
                <a:spcPts val="3561"/>
              </a:lnSpc>
            </a:pPr>
            <a:r>
              <a:rPr lang="en-US" sz="2187" dirty="0">
                <a:solidFill>
                  <a:srgbClr val="272525"/>
                </a:solidFill>
                <a:latin typeface="Inter"/>
                <a:ea typeface="Inter"/>
                <a:cs typeface="Inter"/>
                <a:sym typeface="Inter"/>
              </a:rPr>
              <a:t>Maharashtra (4.7M), Tamil Nadu (3.8M), Uttar Pradesh (3.7M), Karnataka (3.5M), and Andhra Pradesh (3.2M) lead in the obesity burden, followed by other states, with urban areas showing higher rates than rural areas.</a:t>
            </a:r>
          </a:p>
        </p:txBody>
      </p:sp>
      <p:sp>
        <p:nvSpPr>
          <p:cNvPr id="9" name="TextBox 9"/>
          <p:cNvSpPr txBox="1"/>
          <p:nvPr/>
        </p:nvSpPr>
        <p:spPr>
          <a:xfrm>
            <a:off x="685800" y="6152927"/>
            <a:ext cx="4243536" cy="481012"/>
          </a:xfrm>
          <a:prstGeom prst="rect">
            <a:avLst/>
          </a:prstGeom>
        </p:spPr>
        <p:txBody>
          <a:bodyPr lIns="0" tIns="0" rIns="0" bIns="0" rtlCol="0" anchor="t">
            <a:spAutoFit/>
          </a:bodyPr>
          <a:lstStyle/>
          <a:p>
            <a:pPr algn="l">
              <a:lnSpc>
                <a:spcPts val="3436"/>
              </a:lnSpc>
            </a:pPr>
            <a:r>
              <a:rPr lang="en-US" sz="2750" b="1" dirty="0">
                <a:solidFill>
                  <a:srgbClr val="000000"/>
                </a:solidFill>
                <a:latin typeface="Inter Bold"/>
                <a:ea typeface="Inter Bold"/>
                <a:cs typeface="Inter Bold"/>
                <a:sym typeface="Inter Bold"/>
              </a:rPr>
              <a:t>Tier 1 &amp; Tier 2 City Focus</a:t>
            </a:r>
          </a:p>
        </p:txBody>
      </p:sp>
      <p:sp>
        <p:nvSpPr>
          <p:cNvPr id="10" name="TextBox 10"/>
          <p:cNvSpPr txBox="1"/>
          <p:nvPr/>
        </p:nvSpPr>
        <p:spPr>
          <a:xfrm>
            <a:off x="685800" y="6743700"/>
            <a:ext cx="8806926" cy="1421283"/>
          </a:xfrm>
          <a:prstGeom prst="rect">
            <a:avLst/>
          </a:prstGeom>
        </p:spPr>
        <p:txBody>
          <a:bodyPr lIns="0" tIns="0" rIns="0" bIns="0" rtlCol="0" anchor="t">
            <a:spAutoFit/>
          </a:bodyPr>
          <a:lstStyle/>
          <a:p>
            <a:pPr algn="just">
              <a:lnSpc>
                <a:spcPts val="3561"/>
              </a:lnSpc>
            </a:pPr>
            <a:r>
              <a:rPr lang="en-US" sz="2187" dirty="0">
                <a:solidFill>
                  <a:srgbClr val="272525"/>
                </a:solidFill>
                <a:latin typeface="Inter"/>
                <a:ea typeface="Inter"/>
                <a:cs typeface="Inter"/>
                <a:sym typeface="Inter"/>
              </a:rPr>
              <a:t>City-level distribution data enables precise targeting of high-opportunity markets for optimal resource allocation and market penetration strategies.</a:t>
            </a:r>
          </a:p>
        </p:txBody>
      </p:sp>
      <p:sp>
        <p:nvSpPr>
          <p:cNvPr id="12" name="TextBox 11">
            <a:extLst>
              <a:ext uri="{FF2B5EF4-FFF2-40B4-BE49-F238E27FC236}">
                <a16:creationId xmlns:a16="http://schemas.microsoft.com/office/drawing/2014/main" id="{F9376EDE-C914-D334-3F34-E2A0753AE91C}"/>
              </a:ext>
            </a:extLst>
          </p:cNvPr>
          <p:cNvSpPr txBox="1"/>
          <p:nvPr/>
        </p:nvSpPr>
        <p:spPr>
          <a:xfrm>
            <a:off x="666750" y="9711695"/>
            <a:ext cx="9519920" cy="487313"/>
          </a:xfrm>
          <a:prstGeom prst="rect">
            <a:avLst/>
          </a:prstGeom>
        </p:spPr>
        <p:txBody>
          <a:bodyPr lIns="0" tIns="0" rIns="0" bIns="0" rtlCol="0" anchor="t">
            <a:spAutoFit/>
          </a:bodyPr>
          <a:lstStyle>
            <a:defPPr>
              <a:defRPr lang="en-US"/>
            </a:defPPr>
            <a:lvl1pPr>
              <a:lnSpc>
                <a:spcPts val="1920"/>
              </a:lnSpc>
              <a:defRPr sz="1600" b="1">
                <a:solidFill>
                  <a:srgbClr val="272525"/>
                </a:solidFill>
                <a:latin typeface="Calibri (MS) Bold"/>
                <a:ea typeface="Calibri (MS) Bold"/>
                <a:cs typeface="Calibri (MS) Bold"/>
              </a:defRPr>
            </a:lvl1pPr>
          </a:lstStyle>
          <a:p>
            <a:r>
              <a:rPr lang="en-IN" dirty="0"/>
              <a:t>Streamlit:- </a:t>
            </a:r>
            <a:r>
              <a:rPr lang="en-IN" dirty="0">
                <a:hlinkClick r:id="rId2"/>
              </a:rPr>
              <a:t>https://novo-nordisk-hackathon2025-8adxnittedsk6gbmrfbgy3.streamlit.app/</a:t>
            </a:r>
            <a:endParaRPr lang="en-IN" dirty="0"/>
          </a:p>
          <a:p>
            <a:endParaRPr lang="en-IN" dirty="0"/>
          </a:p>
        </p:txBody>
      </p:sp>
      <p:sp>
        <p:nvSpPr>
          <p:cNvPr id="13" name="TextBox 12">
            <a:extLst>
              <a:ext uri="{FF2B5EF4-FFF2-40B4-BE49-F238E27FC236}">
                <a16:creationId xmlns:a16="http://schemas.microsoft.com/office/drawing/2014/main" id="{8C2E9D8D-4DAA-241C-CA3D-439BC96CA7C9}"/>
              </a:ext>
            </a:extLst>
          </p:cNvPr>
          <p:cNvSpPr txBox="1"/>
          <p:nvPr/>
        </p:nvSpPr>
        <p:spPr>
          <a:xfrm>
            <a:off x="685800" y="8769045"/>
            <a:ext cx="9519920" cy="974626"/>
          </a:xfrm>
          <a:prstGeom prst="rect">
            <a:avLst/>
          </a:prstGeom>
        </p:spPr>
        <p:txBody>
          <a:bodyPr lIns="0" tIns="0" rIns="0" bIns="0" rtlCol="0" anchor="t">
            <a:spAutoFit/>
          </a:bodyPr>
          <a:lstStyle>
            <a:defPPr>
              <a:defRPr lang="en-US"/>
            </a:defPPr>
            <a:lvl1pPr>
              <a:lnSpc>
                <a:spcPts val="1920"/>
              </a:lnSpc>
              <a:defRPr sz="1600" b="1">
                <a:solidFill>
                  <a:srgbClr val="272525"/>
                </a:solidFill>
                <a:latin typeface="Calibri (MS) Bold"/>
                <a:ea typeface="Calibri (MS) Bold"/>
                <a:cs typeface="Calibri (MS) Bold"/>
              </a:defRPr>
            </a:lvl1pPr>
          </a:lstStyle>
          <a:p>
            <a:r>
              <a:rPr lang="en-IN" dirty="0"/>
              <a:t>Source:- </a:t>
            </a:r>
            <a:r>
              <a:rPr lang="en-US" b="0" dirty="0">
                <a:sym typeface="Inter"/>
              </a:rPr>
              <a:t>Sung, M., Kumar, A., Mishra, R., Kulkarni, B., Kim, R., &amp; Subramanian, S. V. (2024). Temporal change in prevalence of BMI categories in India: patterns across States and Union territories of India, 1999–2021. </a:t>
            </a:r>
            <a:r>
              <a:rPr lang="en-US" b="0" dirty="0">
                <a:sym typeface="Inter Italics"/>
              </a:rPr>
              <a:t>BMC Public Health</a:t>
            </a:r>
            <a:r>
              <a:rPr lang="en-US" b="0" dirty="0">
                <a:sym typeface="Inter"/>
              </a:rPr>
              <a:t>, </a:t>
            </a:r>
            <a:r>
              <a:rPr lang="en-US" b="0" dirty="0">
                <a:sym typeface="Inter Italics"/>
              </a:rPr>
              <a:t>24</a:t>
            </a:r>
            <a:r>
              <a:rPr lang="en-US" b="0" dirty="0">
                <a:sym typeface="Inter"/>
              </a:rPr>
              <a:t>(1). </a:t>
            </a:r>
            <a:r>
              <a:rPr lang="en-US" dirty="0">
                <a:sym typeface="Inter"/>
                <a:hlinkClick r:id="rId3" tooltip="https://doi.org/10.1186/s12889-024-18784-4"/>
              </a:rPr>
              <a:t>https://doi.org/10.1186/s12889-024-18784-4</a:t>
            </a:r>
          </a:p>
          <a:p>
            <a:endParaRPr lang="en-IN" dirty="0"/>
          </a:p>
        </p:txBody>
      </p:sp>
      <p:pic>
        <p:nvPicPr>
          <p:cNvPr id="15" name="Picture 14">
            <a:extLst>
              <a:ext uri="{FF2B5EF4-FFF2-40B4-BE49-F238E27FC236}">
                <a16:creationId xmlns:a16="http://schemas.microsoft.com/office/drawing/2014/main" id="{71BEE990-B4D6-7951-ACE3-D913BFEA1402}"/>
              </a:ext>
            </a:extLst>
          </p:cNvPr>
          <p:cNvPicPr>
            <a:picLocks noChangeAspect="1"/>
          </p:cNvPicPr>
          <p:nvPr/>
        </p:nvPicPr>
        <p:blipFill>
          <a:blip r:embed="rId4"/>
          <a:stretch>
            <a:fillRect/>
          </a:stretch>
        </p:blipFill>
        <p:spPr>
          <a:xfrm>
            <a:off x="10398491" y="-35290"/>
            <a:ext cx="7908560" cy="103222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txBody>
            <a:bodyPr/>
            <a:lstStyle/>
            <a:p>
              <a:endParaRPr lang="en-IN" dirty="0"/>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dirty="0"/>
            </a:p>
          </p:txBody>
        </p:sp>
      </p:grpSp>
      <p:sp>
        <p:nvSpPr>
          <p:cNvPr id="6" name="TextBox 6"/>
          <p:cNvSpPr txBox="1"/>
          <p:nvPr/>
        </p:nvSpPr>
        <p:spPr>
          <a:xfrm>
            <a:off x="5828481" y="301348"/>
            <a:ext cx="7088237" cy="900112"/>
          </a:xfrm>
          <a:prstGeom prst="rect">
            <a:avLst/>
          </a:prstGeom>
        </p:spPr>
        <p:txBody>
          <a:bodyPr lIns="0" tIns="0" rIns="0" bIns="0" rtlCol="0" anchor="t">
            <a:spAutoFit/>
          </a:bodyPr>
          <a:lstStyle/>
          <a:p>
            <a:pPr algn="ctr">
              <a:lnSpc>
                <a:spcPts val="6936"/>
              </a:lnSpc>
            </a:pPr>
            <a:r>
              <a:rPr lang="en-US" sz="5562" b="1" dirty="0">
                <a:solidFill>
                  <a:srgbClr val="000000"/>
                </a:solidFill>
                <a:latin typeface="Inter Bold"/>
                <a:ea typeface="Inter Bold"/>
                <a:cs typeface="Inter Bold"/>
                <a:sym typeface="Inter Bold"/>
              </a:rPr>
              <a:t>Key Insights</a:t>
            </a:r>
          </a:p>
        </p:txBody>
      </p:sp>
      <p:sp>
        <p:nvSpPr>
          <p:cNvPr id="7" name="Freeform 7"/>
          <p:cNvSpPr/>
          <p:nvPr/>
        </p:nvSpPr>
        <p:spPr>
          <a:xfrm>
            <a:off x="1133773" y="2552700"/>
            <a:ext cx="3720159" cy="4057567"/>
          </a:xfrm>
          <a:custGeom>
            <a:avLst/>
            <a:gdLst/>
            <a:ahLst/>
            <a:cxnLst/>
            <a:rect l="l" t="t" r="r" b="b"/>
            <a:pathLst>
              <a:path w="3720159" h="4057567">
                <a:moveTo>
                  <a:pt x="0" y="0"/>
                </a:moveTo>
                <a:lnTo>
                  <a:pt x="3720159" y="0"/>
                </a:lnTo>
                <a:lnTo>
                  <a:pt x="3720159" y="4057567"/>
                </a:lnTo>
                <a:lnTo>
                  <a:pt x="0" y="40575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8" name="TextBox 8"/>
          <p:cNvSpPr txBox="1"/>
          <p:nvPr/>
        </p:nvSpPr>
        <p:spPr>
          <a:xfrm>
            <a:off x="1088827" y="3159681"/>
            <a:ext cx="3810000" cy="936154"/>
          </a:xfrm>
          <a:prstGeom prst="rect">
            <a:avLst/>
          </a:prstGeom>
        </p:spPr>
        <p:txBody>
          <a:bodyPr lIns="0" tIns="0" rIns="0" bIns="0" rtlCol="0" anchor="t">
            <a:spAutoFit/>
          </a:bodyPr>
          <a:lstStyle/>
          <a:p>
            <a:pPr algn="ctr">
              <a:lnSpc>
                <a:spcPts val="7311"/>
              </a:lnSpc>
            </a:pPr>
            <a:r>
              <a:rPr lang="en-US" sz="7312" b="1" dirty="0">
                <a:solidFill>
                  <a:srgbClr val="272525"/>
                </a:solidFill>
                <a:latin typeface="Inter Bold"/>
                <a:ea typeface="Inter Bold"/>
                <a:cs typeface="Inter Bold"/>
                <a:sym typeface="Inter Bold"/>
              </a:rPr>
              <a:t>85M</a:t>
            </a:r>
          </a:p>
        </p:txBody>
      </p:sp>
      <p:sp>
        <p:nvSpPr>
          <p:cNvPr id="9" name="TextBox 9"/>
          <p:cNvSpPr txBox="1"/>
          <p:nvPr/>
        </p:nvSpPr>
        <p:spPr>
          <a:xfrm>
            <a:off x="1221730" y="4144626"/>
            <a:ext cx="3544044" cy="481012"/>
          </a:xfrm>
          <a:prstGeom prst="rect">
            <a:avLst/>
          </a:prstGeom>
        </p:spPr>
        <p:txBody>
          <a:bodyPr lIns="0" tIns="0" rIns="0" bIns="0" rtlCol="0" anchor="t">
            <a:spAutoFit/>
          </a:bodyPr>
          <a:lstStyle/>
          <a:p>
            <a:pPr algn="ctr">
              <a:lnSpc>
                <a:spcPts val="3436"/>
              </a:lnSpc>
            </a:pPr>
            <a:r>
              <a:rPr lang="en-US" sz="2750" b="1" dirty="0">
                <a:solidFill>
                  <a:srgbClr val="272525"/>
                </a:solidFill>
                <a:latin typeface="Inter Bold"/>
                <a:ea typeface="Inter Bold"/>
                <a:cs typeface="Inter Bold"/>
                <a:sym typeface="Inter Bold"/>
              </a:rPr>
              <a:t>Potential Patients</a:t>
            </a:r>
          </a:p>
        </p:txBody>
      </p:sp>
      <p:sp>
        <p:nvSpPr>
          <p:cNvPr id="10" name="TextBox 10"/>
          <p:cNvSpPr txBox="1"/>
          <p:nvPr/>
        </p:nvSpPr>
        <p:spPr>
          <a:xfrm>
            <a:off x="1088827" y="4624299"/>
            <a:ext cx="3810000" cy="1532335"/>
          </a:xfrm>
          <a:prstGeom prst="rect">
            <a:avLst/>
          </a:prstGeom>
        </p:spPr>
        <p:txBody>
          <a:bodyPr lIns="0" tIns="0" rIns="0" bIns="0" rtlCol="0" anchor="t">
            <a:spAutoFit/>
          </a:bodyPr>
          <a:lstStyle/>
          <a:p>
            <a:pPr algn="ctr">
              <a:lnSpc>
                <a:spcPts val="3561"/>
              </a:lnSpc>
            </a:pPr>
            <a:r>
              <a:rPr lang="en-US" sz="2187" dirty="0">
                <a:solidFill>
                  <a:srgbClr val="272525"/>
                </a:solidFill>
                <a:latin typeface="Inter"/>
                <a:ea typeface="Inter"/>
                <a:cs typeface="Inter"/>
                <a:sym typeface="Inter"/>
              </a:rPr>
              <a:t>Adults eligible for Wegovy treatment across India based on Obesity</a:t>
            </a:r>
          </a:p>
        </p:txBody>
      </p:sp>
      <p:sp>
        <p:nvSpPr>
          <p:cNvPr id="11" name="Freeform 11"/>
          <p:cNvSpPr/>
          <p:nvPr/>
        </p:nvSpPr>
        <p:spPr>
          <a:xfrm>
            <a:off x="5253187" y="2552700"/>
            <a:ext cx="3720159" cy="4057567"/>
          </a:xfrm>
          <a:custGeom>
            <a:avLst/>
            <a:gdLst/>
            <a:ahLst/>
            <a:cxnLst/>
            <a:rect l="l" t="t" r="r" b="b"/>
            <a:pathLst>
              <a:path w="3720159" h="4057567">
                <a:moveTo>
                  <a:pt x="0" y="0"/>
                </a:moveTo>
                <a:lnTo>
                  <a:pt x="3720159" y="0"/>
                </a:lnTo>
                <a:lnTo>
                  <a:pt x="3720159" y="4057567"/>
                </a:lnTo>
                <a:lnTo>
                  <a:pt x="0" y="40575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2" name="TextBox 12"/>
          <p:cNvSpPr txBox="1"/>
          <p:nvPr/>
        </p:nvSpPr>
        <p:spPr>
          <a:xfrm>
            <a:off x="5253187" y="3159681"/>
            <a:ext cx="3810149" cy="668834"/>
          </a:xfrm>
          <a:prstGeom prst="rect">
            <a:avLst/>
          </a:prstGeom>
        </p:spPr>
        <p:txBody>
          <a:bodyPr lIns="0" tIns="0" rIns="0" bIns="0" rtlCol="0" anchor="t">
            <a:spAutoFit/>
          </a:bodyPr>
          <a:lstStyle/>
          <a:p>
            <a:pPr algn="ctr">
              <a:lnSpc>
                <a:spcPts val="7311"/>
              </a:lnSpc>
            </a:pPr>
            <a:r>
              <a:rPr lang="en-US" sz="7312" b="1" dirty="0">
                <a:solidFill>
                  <a:srgbClr val="272525"/>
                </a:solidFill>
                <a:latin typeface="Inter Bold"/>
                <a:ea typeface="Inter Bold"/>
                <a:cs typeface="Inter Bold"/>
                <a:sym typeface="Inter Bold"/>
              </a:rPr>
              <a:t>5.8%</a:t>
            </a:r>
          </a:p>
        </p:txBody>
      </p:sp>
      <p:sp>
        <p:nvSpPr>
          <p:cNvPr id="13" name="TextBox 13"/>
          <p:cNvSpPr txBox="1"/>
          <p:nvPr/>
        </p:nvSpPr>
        <p:spPr>
          <a:xfrm>
            <a:off x="5253187" y="4144626"/>
            <a:ext cx="3810149" cy="923925"/>
          </a:xfrm>
          <a:prstGeom prst="rect">
            <a:avLst/>
          </a:prstGeom>
        </p:spPr>
        <p:txBody>
          <a:bodyPr lIns="0" tIns="0" rIns="0" bIns="0" rtlCol="0" anchor="t">
            <a:spAutoFit/>
          </a:bodyPr>
          <a:lstStyle/>
          <a:p>
            <a:pPr algn="ctr">
              <a:lnSpc>
                <a:spcPts val="3436"/>
              </a:lnSpc>
            </a:pPr>
            <a:r>
              <a:rPr lang="en-US" sz="2750" b="1" dirty="0">
                <a:solidFill>
                  <a:srgbClr val="272525"/>
                </a:solidFill>
                <a:latin typeface="Inter Bold"/>
                <a:ea typeface="Inter Bold"/>
                <a:cs typeface="Inter Bold"/>
                <a:sym typeface="Inter Bold"/>
              </a:rPr>
              <a:t>Obesity Prevalence (2021)</a:t>
            </a:r>
          </a:p>
        </p:txBody>
      </p:sp>
      <p:sp>
        <p:nvSpPr>
          <p:cNvPr id="14" name="TextBox 14"/>
          <p:cNvSpPr txBox="1"/>
          <p:nvPr/>
        </p:nvSpPr>
        <p:spPr>
          <a:xfrm>
            <a:off x="5253187" y="5067211"/>
            <a:ext cx="3810149" cy="625079"/>
          </a:xfrm>
          <a:prstGeom prst="rect">
            <a:avLst/>
          </a:prstGeom>
        </p:spPr>
        <p:txBody>
          <a:bodyPr lIns="0" tIns="0" rIns="0" bIns="0" rtlCol="0" anchor="t">
            <a:spAutoFit/>
          </a:bodyPr>
          <a:lstStyle/>
          <a:p>
            <a:pPr algn="ctr">
              <a:lnSpc>
                <a:spcPts val="3561"/>
              </a:lnSpc>
            </a:pPr>
            <a:r>
              <a:rPr lang="en-US" sz="2187" dirty="0">
                <a:solidFill>
                  <a:srgbClr val="272525"/>
                </a:solidFill>
                <a:latin typeface="Inter"/>
                <a:ea typeface="Inter"/>
                <a:cs typeface="Inter"/>
                <a:sym typeface="Inter"/>
              </a:rPr>
              <a:t>Women: 6.3% | Men: 4.2%</a:t>
            </a:r>
          </a:p>
        </p:txBody>
      </p:sp>
      <p:sp>
        <p:nvSpPr>
          <p:cNvPr id="15" name="Freeform 15"/>
          <p:cNvSpPr/>
          <p:nvPr/>
        </p:nvSpPr>
        <p:spPr>
          <a:xfrm>
            <a:off x="9372600" y="2552700"/>
            <a:ext cx="3720159" cy="4057567"/>
          </a:xfrm>
          <a:custGeom>
            <a:avLst/>
            <a:gdLst/>
            <a:ahLst/>
            <a:cxnLst/>
            <a:rect l="l" t="t" r="r" b="b"/>
            <a:pathLst>
              <a:path w="3720159" h="4057567">
                <a:moveTo>
                  <a:pt x="0" y="0"/>
                </a:moveTo>
                <a:lnTo>
                  <a:pt x="3720159" y="0"/>
                </a:lnTo>
                <a:lnTo>
                  <a:pt x="3720159" y="4057567"/>
                </a:lnTo>
                <a:lnTo>
                  <a:pt x="0" y="40575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6" name="TextBox 16"/>
          <p:cNvSpPr txBox="1"/>
          <p:nvPr/>
        </p:nvSpPr>
        <p:spPr>
          <a:xfrm>
            <a:off x="9239293" y="3067334"/>
            <a:ext cx="3810149" cy="668834"/>
          </a:xfrm>
          <a:prstGeom prst="rect">
            <a:avLst/>
          </a:prstGeom>
        </p:spPr>
        <p:txBody>
          <a:bodyPr lIns="0" tIns="0" rIns="0" bIns="0" rtlCol="0" anchor="t">
            <a:spAutoFit/>
          </a:bodyPr>
          <a:lstStyle/>
          <a:p>
            <a:pPr algn="ctr">
              <a:lnSpc>
                <a:spcPts val="7311"/>
              </a:lnSpc>
            </a:pPr>
            <a:r>
              <a:rPr lang="en-US" sz="7312" b="1" dirty="0">
                <a:solidFill>
                  <a:srgbClr val="272525"/>
                </a:solidFill>
                <a:latin typeface="Inter Bold"/>
                <a:ea typeface="Inter Bold"/>
                <a:cs typeface="Inter Bold"/>
                <a:sym typeface="Inter Bold"/>
              </a:rPr>
              <a:t>2x</a:t>
            </a:r>
          </a:p>
        </p:txBody>
      </p:sp>
      <p:sp>
        <p:nvSpPr>
          <p:cNvPr id="17" name="TextBox 17"/>
          <p:cNvSpPr txBox="1"/>
          <p:nvPr/>
        </p:nvSpPr>
        <p:spPr>
          <a:xfrm>
            <a:off x="9372345" y="4052279"/>
            <a:ext cx="3544044" cy="481012"/>
          </a:xfrm>
          <a:prstGeom prst="rect">
            <a:avLst/>
          </a:prstGeom>
        </p:spPr>
        <p:txBody>
          <a:bodyPr lIns="0" tIns="0" rIns="0" bIns="0" rtlCol="0" anchor="t">
            <a:spAutoFit/>
          </a:bodyPr>
          <a:lstStyle/>
          <a:p>
            <a:pPr algn="ctr">
              <a:lnSpc>
                <a:spcPts val="3436"/>
              </a:lnSpc>
            </a:pPr>
            <a:r>
              <a:rPr lang="en-US" sz="2750" b="1" dirty="0">
                <a:solidFill>
                  <a:srgbClr val="272525"/>
                </a:solidFill>
                <a:latin typeface="Inter Bold"/>
                <a:ea typeface="Inter Bold"/>
                <a:cs typeface="Inter Bold"/>
                <a:sym typeface="Inter Bold"/>
              </a:rPr>
              <a:t>Urban-Rural Gap</a:t>
            </a:r>
          </a:p>
        </p:txBody>
      </p:sp>
      <p:sp>
        <p:nvSpPr>
          <p:cNvPr id="18" name="TextBox 18"/>
          <p:cNvSpPr txBox="1"/>
          <p:nvPr/>
        </p:nvSpPr>
        <p:spPr>
          <a:xfrm>
            <a:off x="9417694" y="4624299"/>
            <a:ext cx="3810149" cy="1532335"/>
          </a:xfrm>
          <a:prstGeom prst="rect">
            <a:avLst/>
          </a:prstGeom>
        </p:spPr>
        <p:txBody>
          <a:bodyPr lIns="0" tIns="0" rIns="0" bIns="0" rtlCol="0" anchor="t">
            <a:spAutoFit/>
          </a:bodyPr>
          <a:lstStyle/>
          <a:p>
            <a:pPr algn="ctr">
              <a:lnSpc>
                <a:spcPts val="3561"/>
              </a:lnSpc>
            </a:pPr>
            <a:r>
              <a:rPr lang="en-US" sz="2187" dirty="0">
                <a:solidFill>
                  <a:srgbClr val="272525"/>
                </a:solidFill>
                <a:latin typeface="Inter"/>
                <a:ea typeface="Inter"/>
                <a:cs typeface="Inter"/>
                <a:sym typeface="Inter"/>
              </a:rPr>
              <a:t>Urban areas having twice the obesity prevalence of rural areas</a:t>
            </a:r>
          </a:p>
        </p:txBody>
      </p:sp>
      <p:sp>
        <p:nvSpPr>
          <p:cNvPr id="19" name="Freeform 19"/>
          <p:cNvSpPr/>
          <p:nvPr/>
        </p:nvSpPr>
        <p:spPr>
          <a:xfrm>
            <a:off x="13512333" y="2552700"/>
            <a:ext cx="3720159" cy="4057567"/>
          </a:xfrm>
          <a:custGeom>
            <a:avLst/>
            <a:gdLst/>
            <a:ahLst/>
            <a:cxnLst/>
            <a:rect l="l" t="t" r="r" b="b"/>
            <a:pathLst>
              <a:path w="3720159" h="4057567">
                <a:moveTo>
                  <a:pt x="0" y="0"/>
                </a:moveTo>
                <a:lnTo>
                  <a:pt x="3720159" y="0"/>
                </a:lnTo>
                <a:lnTo>
                  <a:pt x="3720159" y="4057567"/>
                </a:lnTo>
                <a:lnTo>
                  <a:pt x="0" y="40575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20" name="TextBox 20"/>
          <p:cNvSpPr txBox="1"/>
          <p:nvPr/>
        </p:nvSpPr>
        <p:spPr>
          <a:xfrm>
            <a:off x="13403802" y="3067334"/>
            <a:ext cx="3810149" cy="668834"/>
          </a:xfrm>
          <a:prstGeom prst="rect">
            <a:avLst/>
          </a:prstGeom>
        </p:spPr>
        <p:txBody>
          <a:bodyPr lIns="0" tIns="0" rIns="0" bIns="0" rtlCol="0" anchor="t">
            <a:spAutoFit/>
          </a:bodyPr>
          <a:lstStyle/>
          <a:p>
            <a:pPr algn="ctr">
              <a:lnSpc>
                <a:spcPts val="7311"/>
              </a:lnSpc>
            </a:pPr>
            <a:r>
              <a:rPr lang="en-US" sz="7312" b="1" dirty="0">
                <a:solidFill>
                  <a:srgbClr val="272525"/>
                </a:solidFill>
                <a:latin typeface="Inter Bold"/>
                <a:ea typeface="Inter Bold"/>
                <a:cs typeface="Inter Bold"/>
                <a:sym typeface="Inter Bold"/>
              </a:rPr>
              <a:t>2-3x</a:t>
            </a:r>
          </a:p>
        </p:txBody>
      </p:sp>
      <p:sp>
        <p:nvSpPr>
          <p:cNvPr id="21" name="TextBox 21"/>
          <p:cNvSpPr txBox="1"/>
          <p:nvPr/>
        </p:nvSpPr>
        <p:spPr>
          <a:xfrm>
            <a:off x="13536854" y="4052279"/>
            <a:ext cx="3544044" cy="481012"/>
          </a:xfrm>
          <a:prstGeom prst="rect">
            <a:avLst/>
          </a:prstGeom>
        </p:spPr>
        <p:txBody>
          <a:bodyPr lIns="0" tIns="0" rIns="0" bIns="0" rtlCol="0" anchor="t">
            <a:spAutoFit/>
          </a:bodyPr>
          <a:lstStyle/>
          <a:p>
            <a:pPr algn="ctr">
              <a:lnSpc>
                <a:spcPts val="3436"/>
              </a:lnSpc>
            </a:pPr>
            <a:r>
              <a:rPr lang="en-US" sz="2750" b="1" dirty="0">
                <a:solidFill>
                  <a:srgbClr val="272525"/>
                </a:solidFill>
                <a:latin typeface="Inter Bold"/>
                <a:ea typeface="Inter Bold"/>
                <a:cs typeface="Inter Bold"/>
                <a:sym typeface="Inter Bold"/>
              </a:rPr>
              <a:t>Rising Trend</a:t>
            </a:r>
          </a:p>
        </p:txBody>
      </p:sp>
      <p:sp>
        <p:nvSpPr>
          <p:cNvPr id="22" name="TextBox 22"/>
          <p:cNvSpPr txBox="1"/>
          <p:nvPr/>
        </p:nvSpPr>
        <p:spPr>
          <a:xfrm>
            <a:off x="13512333" y="4616679"/>
            <a:ext cx="3810149" cy="1985962"/>
          </a:xfrm>
          <a:prstGeom prst="rect">
            <a:avLst/>
          </a:prstGeom>
        </p:spPr>
        <p:txBody>
          <a:bodyPr lIns="0" tIns="0" rIns="0" bIns="0" rtlCol="0" anchor="t">
            <a:spAutoFit/>
          </a:bodyPr>
          <a:lstStyle/>
          <a:p>
            <a:pPr algn="ctr">
              <a:lnSpc>
                <a:spcPts val="3561"/>
              </a:lnSpc>
            </a:pPr>
            <a:r>
              <a:rPr lang="en-US" sz="2187" dirty="0">
                <a:solidFill>
                  <a:srgbClr val="272525"/>
                </a:solidFill>
                <a:latin typeface="Inter"/>
                <a:ea typeface="Inter"/>
                <a:cs typeface="Inter"/>
                <a:sym typeface="Inter"/>
              </a:rPr>
              <a:t>Increase since 2000 showing rapid growth in obesity rates over two decades</a:t>
            </a:r>
          </a:p>
        </p:txBody>
      </p:sp>
      <p:sp>
        <p:nvSpPr>
          <p:cNvPr id="23" name="TextBox 23"/>
          <p:cNvSpPr txBox="1"/>
          <p:nvPr/>
        </p:nvSpPr>
        <p:spPr>
          <a:xfrm>
            <a:off x="377986" y="9334151"/>
            <a:ext cx="17190720" cy="699102"/>
          </a:xfrm>
          <a:prstGeom prst="rect">
            <a:avLst/>
          </a:prstGeom>
        </p:spPr>
        <p:txBody>
          <a:bodyPr lIns="0" tIns="0" rIns="0" bIns="0" rtlCol="0" anchor="t">
            <a:spAutoFit/>
          </a:bodyPr>
          <a:lstStyle/>
          <a:p>
            <a:pPr algn="just">
              <a:lnSpc>
                <a:spcPts val="2880"/>
              </a:lnSpc>
            </a:pPr>
            <a:r>
              <a:rPr lang="en-US" sz="1600" b="1" dirty="0">
                <a:solidFill>
                  <a:srgbClr val="000000"/>
                </a:solidFill>
                <a:latin typeface="Inter Bold" panose="020B0604020202020204" charset="0"/>
                <a:ea typeface="Inter Bold" panose="020B0604020202020204" charset="0"/>
                <a:cs typeface="Inter"/>
                <a:sym typeface="Inter"/>
              </a:rPr>
              <a:t>Source:- </a:t>
            </a:r>
            <a:r>
              <a:rPr lang="en-US" sz="1600" dirty="0">
                <a:solidFill>
                  <a:srgbClr val="000000"/>
                </a:solidFill>
                <a:latin typeface="Inter"/>
                <a:ea typeface="Inter"/>
                <a:cs typeface="Inter"/>
                <a:sym typeface="Inter"/>
              </a:rPr>
              <a:t>Sung, M., Kumar, A., Mishra, R., Kulkarni, B., Kim, R., &amp; Subramanian, S. V. (2024). Temporal change in prevalence of BMI categories in India: patterns across States and Union territories of India, 1999–2021. </a:t>
            </a:r>
            <a:r>
              <a:rPr lang="en-US" sz="1600" i="1" dirty="0">
                <a:solidFill>
                  <a:srgbClr val="000000"/>
                </a:solidFill>
                <a:latin typeface="Inter Italics"/>
                <a:ea typeface="Inter Italics"/>
                <a:cs typeface="Inter Italics"/>
                <a:sym typeface="Inter Italics"/>
              </a:rPr>
              <a:t>BMC Public Health</a:t>
            </a:r>
            <a:r>
              <a:rPr lang="en-US" sz="1600" dirty="0">
                <a:solidFill>
                  <a:srgbClr val="000000"/>
                </a:solidFill>
                <a:latin typeface="Inter"/>
                <a:ea typeface="Inter"/>
                <a:cs typeface="Inter"/>
                <a:sym typeface="Inter"/>
              </a:rPr>
              <a:t>, </a:t>
            </a:r>
            <a:r>
              <a:rPr lang="en-US" sz="1600" i="1" dirty="0">
                <a:solidFill>
                  <a:srgbClr val="000000"/>
                </a:solidFill>
                <a:latin typeface="Inter Italics"/>
                <a:ea typeface="Inter Italics"/>
                <a:cs typeface="Inter Italics"/>
                <a:sym typeface="Inter Italics"/>
              </a:rPr>
              <a:t>24</a:t>
            </a:r>
            <a:r>
              <a:rPr lang="en-US" sz="1600" dirty="0">
                <a:solidFill>
                  <a:srgbClr val="000000"/>
                </a:solidFill>
                <a:latin typeface="Inter"/>
                <a:ea typeface="Inter"/>
                <a:cs typeface="Inter"/>
                <a:sym typeface="Inter"/>
              </a:rPr>
              <a:t>(1). </a:t>
            </a:r>
            <a:r>
              <a:rPr lang="en-US" sz="1600" u="sng" dirty="0">
                <a:solidFill>
                  <a:srgbClr val="0000FF"/>
                </a:solidFill>
                <a:latin typeface="Inter"/>
                <a:ea typeface="Inter"/>
                <a:cs typeface="Inter"/>
                <a:sym typeface="Inter"/>
                <a:hlinkClick r:id="rId4" tooltip="https://doi.org/10.1186/s12889-024-18784-4"/>
              </a:rPr>
              <a:t>https://doi.org/10.1186/s12889-024-18784-4</a:t>
            </a:r>
          </a:p>
        </p:txBody>
      </p:sp>
      <p:sp>
        <p:nvSpPr>
          <p:cNvPr id="26" name="TextBox 25">
            <a:extLst>
              <a:ext uri="{FF2B5EF4-FFF2-40B4-BE49-F238E27FC236}">
                <a16:creationId xmlns:a16="http://schemas.microsoft.com/office/drawing/2014/main" id="{FB428E3F-C7BC-D5E9-6E19-07321E37EC3F}"/>
              </a:ext>
            </a:extLst>
          </p:cNvPr>
          <p:cNvSpPr txBox="1"/>
          <p:nvPr/>
        </p:nvSpPr>
        <p:spPr>
          <a:xfrm>
            <a:off x="3934698" y="2988658"/>
            <a:ext cx="397441" cy="523220"/>
          </a:xfrm>
          <a:prstGeom prst="rect">
            <a:avLst/>
          </a:prstGeom>
          <a:noFill/>
        </p:spPr>
        <p:txBody>
          <a:bodyPr wrap="square">
            <a:spAutoFit/>
          </a:bodyPr>
          <a:lstStyle/>
          <a:p>
            <a:r>
              <a:rPr lang="en-US" sz="2800" b="1" dirty="0">
                <a:solidFill>
                  <a:srgbClr val="272525"/>
                </a:solidFill>
                <a:latin typeface="Inter Bold"/>
                <a:ea typeface="Inter Bold"/>
                <a:cs typeface="Inter Bold"/>
                <a:sym typeface="Inter Bold"/>
              </a:rPr>
              <a:t>*</a:t>
            </a:r>
            <a:endParaRPr lang="en-IN" sz="2800" dirty="0"/>
          </a:p>
        </p:txBody>
      </p:sp>
      <p:sp>
        <p:nvSpPr>
          <p:cNvPr id="27" name="TextBox 26">
            <a:extLst>
              <a:ext uri="{FF2B5EF4-FFF2-40B4-BE49-F238E27FC236}">
                <a16:creationId xmlns:a16="http://schemas.microsoft.com/office/drawing/2014/main" id="{530F60E6-EFD4-EB92-5732-FA0BF9068635}"/>
              </a:ext>
            </a:extLst>
          </p:cNvPr>
          <p:cNvSpPr txBox="1"/>
          <p:nvPr/>
        </p:nvSpPr>
        <p:spPr>
          <a:xfrm>
            <a:off x="8163465" y="2970878"/>
            <a:ext cx="397441" cy="523220"/>
          </a:xfrm>
          <a:prstGeom prst="rect">
            <a:avLst/>
          </a:prstGeom>
          <a:noFill/>
        </p:spPr>
        <p:txBody>
          <a:bodyPr wrap="square">
            <a:spAutoFit/>
          </a:bodyPr>
          <a:lstStyle/>
          <a:p>
            <a:r>
              <a:rPr lang="en-US" sz="2800" b="1" dirty="0">
                <a:solidFill>
                  <a:srgbClr val="272525"/>
                </a:solidFill>
                <a:latin typeface="Inter Bold"/>
                <a:ea typeface="Inter Bold"/>
                <a:cs typeface="Inter Bold"/>
                <a:sym typeface="Inter Bold"/>
              </a:rPr>
              <a:t>*</a:t>
            </a:r>
            <a:endParaRPr lang="en-IN" sz="2800" dirty="0"/>
          </a:p>
        </p:txBody>
      </p:sp>
      <p:sp>
        <p:nvSpPr>
          <p:cNvPr id="28" name="TextBox 27">
            <a:extLst>
              <a:ext uri="{FF2B5EF4-FFF2-40B4-BE49-F238E27FC236}">
                <a16:creationId xmlns:a16="http://schemas.microsoft.com/office/drawing/2014/main" id="{2F4E5A46-E53C-E677-3AE8-0D8A9A701069}"/>
              </a:ext>
            </a:extLst>
          </p:cNvPr>
          <p:cNvSpPr txBox="1"/>
          <p:nvPr/>
        </p:nvSpPr>
        <p:spPr>
          <a:xfrm>
            <a:off x="11684903" y="2970878"/>
            <a:ext cx="397441" cy="523220"/>
          </a:xfrm>
          <a:prstGeom prst="rect">
            <a:avLst/>
          </a:prstGeom>
          <a:noFill/>
        </p:spPr>
        <p:txBody>
          <a:bodyPr wrap="square">
            <a:spAutoFit/>
          </a:bodyPr>
          <a:lstStyle/>
          <a:p>
            <a:r>
              <a:rPr lang="en-US" sz="2800" b="1" dirty="0">
                <a:solidFill>
                  <a:srgbClr val="272525"/>
                </a:solidFill>
                <a:latin typeface="Inter Bold"/>
                <a:ea typeface="Inter Bold"/>
                <a:cs typeface="Inter Bold"/>
                <a:sym typeface="Inter Bold"/>
              </a:rPr>
              <a:t>*</a:t>
            </a:r>
            <a:endParaRPr lang="en-IN" sz="2800" dirty="0"/>
          </a:p>
        </p:txBody>
      </p:sp>
      <p:sp>
        <p:nvSpPr>
          <p:cNvPr id="29" name="TextBox 28">
            <a:extLst>
              <a:ext uri="{FF2B5EF4-FFF2-40B4-BE49-F238E27FC236}">
                <a16:creationId xmlns:a16="http://schemas.microsoft.com/office/drawing/2014/main" id="{F3495EB0-3CF7-7C6C-3A76-7690A2FE1CB7}"/>
              </a:ext>
            </a:extLst>
          </p:cNvPr>
          <p:cNvSpPr txBox="1"/>
          <p:nvPr/>
        </p:nvSpPr>
        <p:spPr>
          <a:xfrm>
            <a:off x="16306800" y="2983946"/>
            <a:ext cx="397441" cy="523220"/>
          </a:xfrm>
          <a:prstGeom prst="rect">
            <a:avLst/>
          </a:prstGeom>
          <a:noFill/>
        </p:spPr>
        <p:txBody>
          <a:bodyPr wrap="square">
            <a:spAutoFit/>
          </a:bodyPr>
          <a:lstStyle/>
          <a:p>
            <a:r>
              <a:rPr lang="en-US" sz="2800" b="1" dirty="0">
                <a:solidFill>
                  <a:srgbClr val="272525"/>
                </a:solidFill>
                <a:latin typeface="Inter Bold"/>
                <a:ea typeface="Inter Bold"/>
                <a:cs typeface="Inter Bold"/>
                <a:sym typeface="Inter Bold"/>
              </a:rPr>
              <a:t>*</a:t>
            </a:r>
            <a:endParaRPr lang="en-IN" sz="2800" dirty="0"/>
          </a:p>
        </p:txBody>
      </p:sp>
      <p:sp>
        <p:nvSpPr>
          <p:cNvPr id="31" name="TextBox 30">
            <a:extLst>
              <a:ext uri="{FF2B5EF4-FFF2-40B4-BE49-F238E27FC236}">
                <a16:creationId xmlns:a16="http://schemas.microsoft.com/office/drawing/2014/main" id="{1C71CCC7-F48F-0B86-352B-522CDD0E6BDC}"/>
              </a:ext>
            </a:extLst>
          </p:cNvPr>
          <p:cNvSpPr txBox="1"/>
          <p:nvPr/>
        </p:nvSpPr>
        <p:spPr>
          <a:xfrm>
            <a:off x="1088827" y="7028445"/>
            <a:ext cx="9144000" cy="369332"/>
          </a:xfrm>
          <a:prstGeom prst="rect">
            <a:avLst/>
          </a:prstGeom>
          <a:noFill/>
        </p:spPr>
        <p:txBody>
          <a:bodyPr wrap="square">
            <a:spAutoFit/>
          </a:bodyPr>
          <a:lstStyle/>
          <a:p>
            <a:r>
              <a:rPr lang="en-US" sz="1800" b="1" dirty="0">
                <a:solidFill>
                  <a:srgbClr val="272525"/>
                </a:solidFill>
                <a:latin typeface="Inter Bold"/>
                <a:ea typeface="Inter Bold"/>
                <a:cs typeface="Inter Bold"/>
                <a:sym typeface="Inter Bold"/>
              </a:rPr>
              <a:t>* Approximated values</a:t>
            </a:r>
            <a:r>
              <a:rPr lang="en-IN" sz="1800" b="1" dirty="0">
                <a:sym typeface="Inter Bold"/>
              </a:rPr>
              <a:t> </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txBody>
            <a:bodyPr/>
            <a:lstStyle/>
            <a:p>
              <a:endParaRPr lang="en-IN" dirty="0"/>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dirty="0"/>
            </a:p>
          </p:txBody>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2"/>
              <a:stretch>
                <a:fillRect/>
              </a:stretch>
            </a:blipFill>
          </p:spPr>
          <p:txBody>
            <a:bodyPr/>
            <a:lstStyle/>
            <a:p>
              <a:endParaRPr lang="en-IN" dirty="0"/>
            </a:p>
          </p:txBody>
        </p:sp>
      </p:grpSp>
      <p:sp>
        <p:nvSpPr>
          <p:cNvPr id="8" name="TextBox 8"/>
          <p:cNvSpPr txBox="1"/>
          <p:nvPr/>
        </p:nvSpPr>
        <p:spPr>
          <a:xfrm>
            <a:off x="7850237" y="4200376"/>
            <a:ext cx="9445526" cy="1829097"/>
          </a:xfrm>
          <a:prstGeom prst="rect">
            <a:avLst/>
          </a:prstGeom>
        </p:spPr>
        <p:txBody>
          <a:bodyPr lIns="0" tIns="0" rIns="0" bIns="0" rtlCol="0" anchor="t">
            <a:spAutoFit/>
          </a:bodyPr>
          <a:lstStyle/>
          <a:p>
            <a:pPr algn="l">
              <a:lnSpc>
                <a:spcPts val="6936"/>
              </a:lnSpc>
            </a:pPr>
            <a:r>
              <a:rPr lang="en-US" sz="5562" b="1" dirty="0">
                <a:solidFill>
                  <a:srgbClr val="000000"/>
                </a:solidFill>
                <a:latin typeface="Inter Bold"/>
                <a:ea typeface="Inter Bold"/>
                <a:cs typeface="Inter Bold"/>
                <a:sym typeface="Inter Bold"/>
              </a:rPr>
              <a:t>Strategic Recommendations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txBody>
            <a:bodyPr/>
            <a:lstStyle/>
            <a:p>
              <a:endParaRPr lang="en-IN" dirty="0"/>
            </a:p>
          </p:txBody>
        </p:sp>
      </p:grpSp>
      <p:grpSp>
        <p:nvGrpSpPr>
          <p:cNvPr id="4" name="Group 4"/>
          <p:cNvGrpSpPr/>
          <p:nvPr/>
        </p:nvGrpSpPr>
        <p:grpSpPr>
          <a:xfrm>
            <a:off x="9525"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dirty="0"/>
            </a:p>
          </p:txBody>
        </p:sp>
      </p:grpSp>
      <p:sp>
        <p:nvSpPr>
          <p:cNvPr id="6" name="TextBox 6"/>
          <p:cNvSpPr txBox="1"/>
          <p:nvPr/>
        </p:nvSpPr>
        <p:spPr>
          <a:xfrm>
            <a:off x="5433281" y="258421"/>
            <a:ext cx="7440487" cy="579300"/>
          </a:xfrm>
          <a:prstGeom prst="rect">
            <a:avLst/>
          </a:prstGeom>
        </p:spPr>
        <p:txBody>
          <a:bodyPr lIns="0" tIns="0" rIns="0" bIns="0" rtlCol="0" anchor="t">
            <a:spAutoFit/>
          </a:bodyPr>
          <a:lstStyle/>
          <a:p>
            <a:pPr algn="l">
              <a:lnSpc>
                <a:spcPts val="4498"/>
              </a:lnSpc>
            </a:pPr>
            <a:r>
              <a:rPr lang="en-US" sz="3611" b="1" dirty="0">
                <a:solidFill>
                  <a:srgbClr val="000000"/>
                </a:solidFill>
                <a:latin typeface="Inter Bold"/>
                <a:ea typeface="Inter Bold"/>
                <a:cs typeface="Inter Bold"/>
                <a:sym typeface="Inter Bold"/>
              </a:rPr>
              <a:t>Obesity Awareness Initiatives</a:t>
            </a:r>
          </a:p>
        </p:txBody>
      </p:sp>
      <p:grpSp>
        <p:nvGrpSpPr>
          <p:cNvPr id="7" name="Group 7"/>
          <p:cNvGrpSpPr/>
          <p:nvPr/>
        </p:nvGrpSpPr>
        <p:grpSpPr>
          <a:xfrm>
            <a:off x="2227713" y="1233354"/>
            <a:ext cx="12621185" cy="7096659"/>
            <a:chOff x="0" y="0"/>
            <a:chExt cx="16828246" cy="9462212"/>
          </a:xfrm>
        </p:grpSpPr>
        <p:sp>
          <p:nvSpPr>
            <p:cNvPr id="8" name="Freeform 8" descr="preencoded.png"/>
            <p:cNvSpPr/>
            <p:nvPr/>
          </p:nvSpPr>
          <p:spPr>
            <a:xfrm>
              <a:off x="0" y="0"/>
              <a:ext cx="16828263" cy="9462262"/>
            </a:xfrm>
            <a:custGeom>
              <a:avLst/>
              <a:gdLst/>
              <a:ahLst/>
              <a:cxnLst/>
              <a:rect l="l" t="t" r="r" b="b"/>
              <a:pathLst>
                <a:path w="16828263" h="9462262">
                  <a:moveTo>
                    <a:pt x="0" y="0"/>
                  </a:moveTo>
                  <a:lnTo>
                    <a:pt x="16828263" y="0"/>
                  </a:lnTo>
                  <a:lnTo>
                    <a:pt x="16828263" y="9462262"/>
                  </a:lnTo>
                  <a:lnTo>
                    <a:pt x="0" y="9462262"/>
                  </a:lnTo>
                  <a:lnTo>
                    <a:pt x="0" y="0"/>
                  </a:lnTo>
                  <a:close/>
                </a:path>
              </a:pathLst>
            </a:custGeom>
            <a:blipFill>
              <a:blip r:embed="rId2"/>
              <a:stretch>
                <a:fillRect t="-133" b="-133"/>
              </a:stretch>
            </a:blipFill>
          </p:spPr>
          <p:txBody>
            <a:bodyPr/>
            <a:lstStyle/>
            <a:p>
              <a:endParaRPr lang="en-IN" dirty="0"/>
            </a:p>
          </p:txBody>
        </p:sp>
      </p:grpSp>
      <p:sp>
        <p:nvSpPr>
          <p:cNvPr id="9" name="TextBox 9"/>
          <p:cNvSpPr txBox="1"/>
          <p:nvPr/>
        </p:nvSpPr>
        <p:spPr>
          <a:xfrm>
            <a:off x="2001127" y="1869348"/>
            <a:ext cx="2730143" cy="337002"/>
          </a:xfrm>
          <a:prstGeom prst="rect">
            <a:avLst/>
          </a:prstGeom>
        </p:spPr>
        <p:txBody>
          <a:bodyPr lIns="0" tIns="0" rIns="0" bIns="0" rtlCol="0" anchor="t">
            <a:spAutoFit/>
          </a:bodyPr>
          <a:lstStyle/>
          <a:p>
            <a:pPr algn="r">
              <a:lnSpc>
                <a:spcPts val="2553"/>
              </a:lnSpc>
            </a:pPr>
            <a:r>
              <a:rPr lang="en-US" sz="2090" b="1" dirty="0">
                <a:solidFill>
                  <a:srgbClr val="272525"/>
                </a:solidFill>
                <a:latin typeface="Inter Bold"/>
                <a:ea typeface="Inter Bold"/>
                <a:cs typeface="Inter Bold"/>
                <a:sym typeface="Inter Bold"/>
              </a:rPr>
              <a:t>Free Health Camps</a:t>
            </a:r>
          </a:p>
        </p:txBody>
      </p:sp>
      <p:sp>
        <p:nvSpPr>
          <p:cNvPr id="10" name="TextBox 10"/>
          <p:cNvSpPr txBox="1"/>
          <p:nvPr/>
        </p:nvSpPr>
        <p:spPr>
          <a:xfrm>
            <a:off x="12390617" y="1869348"/>
            <a:ext cx="4159616" cy="312971"/>
          </a:xfrm>
          <a:prstGeom prst="rect">
            <a:avLst/>
          </a:prstGeom>
        </p:spPr>
        <p:txBody>
          <a:bodyPr wrap="square" lIns="0" tIns="0" rIns="0" bIns="0" rtlCol="0" anchor="t">
            <a:spAutoFit/>
          </a:bodyPr>
          <a:lstStyle/>
          <a:p>
            <a:pPr algn="l">
              <a:lnSpc>
                <a:spcPts val="2550"/>
              </a:lnSpc>
            </a:pPr>
            <a:r>
              <a:rPr lang="en-US" sz="2087" b="1" dirty="0">
                <a:solidFill>
                  <a:srgbClr val="272525"/>
                </a:solidFill>
                <a:latin typeface="Inter Bold"/>
                <a:ea typeface="Inter Bold"/>
                <a:cs typeface="Inter Bold"/>
                <a:sym typeface="Inter Bold"/>
              </a:rPr>
              <a:t>VR Awareness Campaign</a:t>
            </a:r>
          </a:p>
        </p:txBody>
      </p:sp>
      <p:sp>
        <p:nvSpPr>
          <p:cNvPr id="11" name="TextBox 11"/>
          <p:cNvSpPr txBox="1"/>
          <p:nvPr/>
        </p:nvSpPr>
        <p:spPr>
          <a:xfrm>
            <a:off x="1792355" y="7409983"/>
            <a:ext cx="3049089" cy="337009"/>
          </a:xfrm>
          <a:prstGeom prst="rect">
            <a:avLst/>
          </a:prstGeom>
        </p:spPr>
        <p:txBody>
          <a:bodyPr lIns="0" tIns="0" rIns="0" bIns="0" rtlCol="0" anchor="t">
            <a:spAutoFit/>
          </a:bodyPr>
          <a:lstStyle/>
          <a:p>
            <a:pPr algn="r">
              <a:lnSpc>
                <a:spcPts val="2550"/>
              </a:lnSpc>
            </a:pPr>
            <a:r>
              <a:rPr lang="en-US" sz="2087" b="1" dirty="0">
                <a:solidFill>
                  <a:srgbClr val="272525"/>
                </a:solidFill>
                <a:latin typeface="Inter Bold"/>
                <a:ea typeface="Inter Bold"/>
                <a:cs typeface="Inter Bold"/>
                <a:sym typeface="Inter Bold"/>
              </a:rPr>
              <a:t>Awareness Posters</a:t>
            </a:r>
          </a:p>
        </p:txBody>
      </p:sp>
      <p:sp>
        <p:nvSpPr>
          <p:cNvPr id="12" name="TextBox 12"/>
          <p:cNvSpPr txBox="1"/>
          <p:nvPr/>
        </p:nvSpPr>
        <p:spPr>
          <a:xfrm>
            <a:off x="725555" y="8078275"/>
            <a:ext cx="5645534" cy="1978244"/>
          </a:xfrm>
          <a:prstGeom prst="rect">
            <a:avLst/>
          </a:prstGeom>
        </p:spPr>
        <p:txBody>
          <a:bodyPr lIns="0" tIns="0" rIns="0" bIns="0" rtlCol="0" anchor="t">
            <a:spAutoFit/>
          </a:bodyPr>
          <a:lstStyle/>
          <a:p>
            <a:pPr marL="464059" lvl="2" indent="-154686" algn="just">
              <a:lnSpc>
                <a:spcPts val="2608"/>
              </a:lnSpc>
              <a:buFont typeface="Arial"/>
              <a:buChar char="⚬"/>
            </a:pPr>
            <a:r>
              <a:rPr lang="en-US" sz="2030" dirty="0">
                <a:solidFill>
                  <a:srgbClr val="272525"/>
                </a:solidFill>
                <a:latin typeface="Inter"/>
                <a:ea typeface="Inter"/>
                <a:cs typeface="Inter"/>
                <a:sym typeface="Inter"/>
              </a:rPr>
              <a:t>Engaging posters &amp; templates</a:t>
            </a:r>
          </a:p>
          <a:p>
            <a:pPr marL="464059" lvl="2" indent="-154686" algn="just">
              <a:lnSpc>
                <a:spcPts val="2608"/>
              </a:lnSpc>
              <a:buFont typeface="Arial"/>
              <a:buChar char="⚬"/>
            </a:pPr>
            <a:r>
              <a:rPr lang="en-US" sz="2030" dirty="0">
                <a:solidFill>
                  <a:srgbClr val="272525"/>
                </a:solidFill>
                <a:latin typeface="Inter"/>
                <a:ea typeface="Inter"/>
                <a:cs typeface="Inter"/>
                <a:sym typeface="Inter"/>
              </a:rPr>
              <a:t>Promote a healthy lifestyle</a:t>
            </a:r>
          </a:p>
          <a:p>
            <a:pPr marL="464059" lvl="2" indent="-154686" algn="just">
              <a:lnSpc>
                <a:spcPts val="2608"/>
              </a:lnSpc>
              <a:buFont typeface="Arial"/>
              <a:buChar char="⚬"/>
            </a:pPr>
            <a:r>
              <a:rPr lang="en-US" sz="2030" dirty="0">
                <a:solidFill>
                  <a:srgbClr val="272525"/>
                </a:solidFill>
                <a:latin typeface="Inter"/>
                <a:ea typeface="Inter"/>
                <a:cs typeface="Inter"/>
                <a:sym typeface="Inter"/>
              </a:rPr>
              <a:t>Share on social media &amp; boards</a:t>
            </a:r>
          </a:p>
          <a:p>
            <a:pPr marL="464059" lvl="2" indent="-154686" algn="just">
              <a:lnSpc>
                <a:spcPts val="2608"/>
              </a:lnSpc>
              <a:buFont typeface="Arial"/>
              <a:buChar char="⚬"/>
            </a:pPr>
            <a:r>
              <a:rPr lang="en-US" sz="2030" dirty="0">
                <a:solidFill>
                  <a:srgbClr val="272525"/>
                </a:solidFill>
                <a:latin typeface="Inter"/>
                <a:ea typeface="Inter"/>
                <a:cs typeface="Inter"/>
                <a:sym typeface="Inter"/>
              </a:rPr>
              <a:t>Educate &amp; motivate</a:t>
            </a:r>
          </a:p>
          <a:p>
            <a:pPr marL="464059" lvl="2" indent="-154686" algn="just">
              <a:lnSpc>
                <a:spcPts val="2608"/>
              </a:lnSpc>
            </a:pPr>
            <a:endParaRPr lang="en-US" sz="2030" dirty="0">
              <a:solidFill>
                <a:srgbClr val="272525"/>
              </a:solidFill>
              <a:latin typeface="Inter"/>
              <a:ea typeface="Inter"/>
              <a:cs typeface="Inter"/>
              <a:sym typeface="Inter"/>
            </a:endParaRPr>
          </a:p>
          <a:p>
            <a:pPr marL="464059" lvl="2" indent="-154686" algn="just">
              <a:lnSpc>
                <a:spcPts val="2610"/>
              </a:lnSpc>
            </a:pPr>
            <a:endParaRPr lang="en-US" sz="2030" dirty="0">
              <a:solidFill>
                <a:srgbClr val="272525"/>
              </a:solidFill>
              <a:latin typeface="Inter"/>
              <a:ea typeface="Inter"/>
              <a:cs typeface="Inter"/>
              <a:sym typeface="Inter"/>
            </a:endParaRPr>
          </a:p>
        </p:txBody>
      </p:sp>
      <p:sp>
        <p:nvSpPr>
          <p:cNvPr id="14" name="TextBox 14"/>
          <p:cNvSpPr txBox="1"/>
          <p:nvPr/>
        </p:nvSpPr>
        <p:spPr>
          <a:xfrm>
            <a:off x="801755" y="2610639"/>
            <a:ext cx="4470720" cy="1577945"/>
          </a:xfrm>
          <a:prstGeom prst="rect">
            <a:avLst/>
          </a:prstGeom>
        </p:spPr>
        <p:txBody>
          <a:bodyPr lIns="0" tIns="0" rIns="0" bIns="0" rtlCol="0" anchor="t">
            <a:spAutoFit/>
          </a:bodyPr>
          <a:lstStyle/>
          <a:p>
            <a:pPr marL="464059" lvl="2" indent="-154686" algn="l">
              <a:lnSpc>
                <a:spcPts val="2537"/>
              </a:lnSpc>
              <a:buFont typeface="Arial"/>
              <a:buChar char="⚬"/>
            </a:pPr>
            <a:r>
              <a:rPr lang="en-US" sz="2030" dirty="0">
                <a:solidFill>
                  <a:srgbClr val="000000"/>
                </a:solidFill>
                <a:latin typeface="Inter"/>
                <a:ea typeface="Inter"/>
                <a:cs typeface="Inter"/>
                <a:sym typeface="Inter"/>
              </a:rPr>
              <a:t>General Blood Test &amp; BMI </a:t>
            </a:r>
          </a:p>
          <a:p>
            <a:pPr marL="464059" lvl="2" indent="-154686" algn="l">
              <a:lnSpc>
                <a:spcPts val="2537"/>
              </a:lnSpc>
              <a:buFont typeface="Arial"/>
              <a:buChar char="⚬"/>
            </a:pPr>
            <a:r>
              <a:rPr lang="en-US" sz="2030" dirty="0">
                <a:solidFill>
                  <a:srgbClr val="000000"/>
                </a:solidFill>
                <a:latin typeface="Inter"/>
                <a:ea typeface="Inter"/>
                <a:cs typeface="Inter"/>
                <a:sym typeface="Inter"/>
              </a:rPr>
              <a:t>Provide informative brochures and materials</a:t>
            </a:r>
          </a:p>
          <a:p>
            <a:pPr marL="464059" lvl="2" indent="-154686" algn="l">
              <a:lnSpc>
                <a:spcPts val="2537"/>
              </a:lnSpc>
              <a:buFont typeface="Arial"/>
              <a:buChar char="⚬"/>
            </a:pPr>
            <a:r>
              <a:rPr lang="en-US" sz="2030" dirty="0">
                <a:solidFill>
                  <a:srgbClr val="000000"/>
                </a:solidFill>
                <a:latin typeface="Inter"/>
                <a:ea typeface="Inter"/>
                <a:cs typeface="Inter"/>
                <a:sym typeface="Inter"/>
              </a:rPr>
              <a:t>Providing Goodie Bags</a:t>
            </a:r>
          </a:p>
          <a:p>
            <a:pPr marL="464059" lvl="2" indent="-154686" algn="l">
              <a:lnSpc>
                <a:spcPts val="2535"/>
              </a:lnSpc>
              <a:buFont typeface="Arial"/>
              <a:buChar char="⚬"/>
            </a:pPr>
            <a:endParaRPr lang="en-US" sz="2030" dirty="0">
              <a:solidFill>
                <a:srgbClr val="000000"/>
              </a:solidFill>
              <a:latin typeface="Inter"/>
              <a:ea typeface="Inter"/>
              <a:cs typeface="Inter"/>
              <a:sym typeface="Inter"/>
            </a:endParaRPr>
          </a:p>
        </p:txBody>
      </p:sp>
      <p:sp>
        <p:nvSpPr>
          <p:cNvPr id="15" name="TextBox 15"/>
          <p:cNvSpPr txBox="1"/>
          <p:nvPr/>
        </p:nvSpPr>
        <p:spPr>
          <a:xfrm>
            <a:off x="12001761" y="2485582"/>
            <a:ext cx="5754755" cy="1911188"/>
          </a:xfrm>
          <a:prstGeom prst="rect">
            <a:avLst/>
          </a:prstGeom>
        </p:spPr>
        <p:txBody>
          <a:bodyPr lIns="0" tIns="0" rIns="0" bIns="0" rtlCol="0" anchor="t">
            <a:spAutoFit/>
          </a:bodyPr>
          <a:lstStyle/>
          <a:p>
            <a:pPr marL="462978" lvl="2" indent="-154326" algn="just">
              <a:lnSpc>
                <a:spcPts val="2531"/>
              </a:lnSpc>
              <a:buFont typeface="Arial"/>
              <a:buChar char="⚬"/>
            </a:pPr>
            <a:r>
              <a:rPr lang="en-US" sz="2025" dirty="0">
                <a:solidFill>
                  <a:srgbClr val="000000"/>
                </a:solidFill>
                <a:latin typeface="Inter"/>
                <a:ea typeface="Inter"/>
                <a:cs typeface="Inter"/>
                <a:sym typeface="Inter"/>
              </a:rPr>
              <a:t>Experience life with poor health choices</a:t>
            </a:r>
          </a:p>
          <a:p>
            <a:pPr marL="462978" lvl="2" indent="-154326" algn="just">
              <a:lnSpc>
                <a:spcPts val="2531"/>
              </a:lnSpc>
              <a:buFont typeface="Arial"/>
              <a:buChar char="⚬"/>
            </a:pPr>
            <a:r>
              <a:rPr lang="en-US" sz="2025" dirty="0">
                <a:solidFill>
                  <a:srgbClr val="000000"/>
                </a:solidFill>
                <a:latin typeface="Inter"/>
                <a:ea typeface="Inter"/>
                <a:cs typeface="Inter"/>
                <a:sym typeface="Inter"/>
              </a:rPr>
              <a:t>Overweight users feel long-term struggles</a:t>
            </a:r>
          </a:p>
          <a:p>
            <a:pPr marL="462978" lvl="2" indent="-154326" algn="just">
              <a:lnSpc>
                <a:spcPts val="2531"/>
              </a:lnSpc>
              <a:buFont typeface="Arial"/>
              <a:buChar char="⚬"/>
            </a:pPr>
            <a:r>
              <a:rPr lang="en-US" sz="2025" dirty="0">
                <a:solidFill>
                  <a:srgbClr val="000000"/>
                </a:solidFill>
                <a:latin typeface="Inter"/>
                <a:ea typeface="Inter"/>
                <a:cs typeface="Inter"/>
                <a:sym typeface="Inter"/>
              </a:rPr>
              <a:t>Builds empathy — shows impact on loved ones</a:t>
            </a:r>
          </a:p>
          <a:p>
            <a:pPr marL="462978" lvl="2" indent="-154326" algn="just">
              <a:lnSpc>
                <a:spcPts val="2531"/>
              </a:lnSpc>
              <a:buFont typeface="Arial"/>
              <a:buChar char="⚬"/>
            </a:pPr>
            <a:r>
              <a:rPr lang="en-US" sz="2025" dirty="0">
                <a:solidFill>
                  <a:srgbClr val="000000"/>
                </a:solidFill>
                <a:latin typeface="Inter"/>
                <a:ea typeface="Inter"/>
                <a:cs typeface="Inter"/>
                <a:sym typeface="Inter"/>
              </a:rPr>
              <a:t>Motivates lifestyle change through emotion &amp; immersion</a:t>
            </a:r>
          </a:p>
        </p:txBody>
      </p:sp>
      <p:sp>
        <p:nvSpPr>
          <p:cNvPr id="17" name="TextBox 10">
            <a:extLst>
              <a:ext uri="{FF2B5EF4-FFF2-40B4-BE49-F238E27FC236}">
                <a16:creationId xmlns:a16="http://schemas.microsoft.com/office/drawing/2014/main" id="{CF9CDF85-1CAB-C18C-DE55-3D8E8F11FB24}"/>
              </a:ext>
            </a:extLst>
          </p:cNvPr>
          <p:cNvSpPr txBox="1"/>
          <p:nvPr/>
        </p:nvSpPr>
        <p:spPr>
          <a:xfrm>
            <a:off x="12251858" y="7409983"/>
            <a:ext cx="4893142" cy="312971"/>
          </a:xfrm>
          <a:prstGeom prst="rect">
            <a:avLst/>
          </a:prstGeom>
        </p:spPr>
        <p:txBody>
          <a:bodyPr wrap="square" lIns="0" tIns="0" rIns="0" bIns="0" rtlCol="0" anchor="t">
            <a:spAutoFit/>
          </a:bodyPr>
          <a:lstStyle/>
          <a:p>
            <a:pPr algn="l">
              <a:lnSpc>
                <a:spcPts val="2550"/>
              </a:lnSpc>
            </a:pPr>
            <a:r>
              <a:rPr lang="en-US" sz="2087" b="1" dirty="0">
                <a:solidFill>
                  <a:srgbClr val="272525"/>
                </a:solidFill>
                <a:latin typeface="Inter Bold"/>
                <a:ea typeface="Inter Bold"/>
                <a:cs typeface="Inter Bold"/>
                <a:sym typeface="Inter Bold"/>
              </a:rPr>
              <a:t>Potential Patient Target Strategy</a:t>
            </a:r>
          </a:p>
        </p:txBody>
      </p:sp>
      <p:sp>
        <p:nvSpPr>
          <p:cNvPr id="20" name="TextBox 15">
            <a:extLst>
              <a:ext uri="{FF2B5EF4-FFF2-40B4-BE49-F238E27FC236}">
                <a16:creationId xmlns:a16="http://schemas.microsoft.com/office/drawing/2014/main" id="{52B70332-334F-3B82-C0F4-1D6CE3567249}"/>
              </a:ext>
            </a:extLst>
          </p:cNvPr>
          <p:cNvSpPr txBox="1"/>
          <p:nvPr/>
        </p:nvSpPr>
        <p:spPr>
          <a:xfrm>
            <a:off x="11734800" y="8078275"/>
            <a:ext cx="5754755" cy="1263295"/>
          </a:xfrm>
          <a:prstGeom prst="rect">
            <a:avLst/>
          </a:prstGeom>
        </p:spPr>
        <p:txBody>
          <a:bodyPr lIns="0" tIns="0" rIns="0" bIns="0" rtlCol="0" anchor="t">
            <a:spAutoFit/>
          </a:bodyPr>
          <a:lstStyle/>
          <a:p>
            <a:pPr marL="462978" lvl="2" indent="-154326" algn="just">
              <a:lnSpc>
                <a:spcPts val="2531"/>
              </a:lnSpc>
              <a:buFont typeface="Arial"/>
              <a:buChar char="⚬"/>
            </a:pPr>
            <a:r>
              <a:rPr lang="en-US" sz="2025" dirty="0">
                <a:solidFill>
                  <a:srgbClr val="000000"/>
                </a:solidFill>
                <a:latin typeface="Inter"/>
                <a:ea typeface="Inter"/>
                <a:cs typeface="Inter"/>
                <a:sym typeface="Inter"/>
              </a:rPr>
              <a:t>Healthcare Professionals in camps checks the customers family history on obesity.</a:t>
            </a:r>
          </a:p>
          <a:p>
            <a:pPr marL="462978" lvl="2" indent="-154326" algn="just">
              <a:lnSpc>
                <a:spcPts val="2531"/>
              </a:lnSpc>
              <a:buFont typeface="Arial"/>
              <a:buChar char="⚬"/>
            </a:pPr>
            <a:r>
              <a:rPr lang="en-US" sz="2025" dirty="0">
                <a:solidFill>
                  <a:srgbClr val="000000"/>
                </a:solidFill>
                <a:latin typeface="Inter"/>
                <a:ea typeface="Inter"/>
                <a:cs typeface="Inter"/>
                <a:sym typeface="Inter"/>
              </a:rPr>
              <a:t>Promotion of doctor profiles to the customers.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txBody>
            <a:bodyPr/>
            <a:lstStyle/>
            <a:p>
              <a:endParaRPr lang="en-IN" dirty="0"/>
            </a:p>
          </p:txBody>
        </p:sp>
      </p:grpSp>
      <p:grpSp>
        <p:nvGrpSpPr>
          <p:cNvPr id="4" name="Group 4"/>
          <p:cNvGrpSpPr/>
          <p:nvPr/>
        </p:nvGrpSpPr>
        <p:grpSpPr>
          <a:xfrm>
            <a:off x="9525"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IN" dirty="0"/>
            </a:p>
          </p:txBody>
        </p:sp>
      </p:grpSp>
      <p:sp>
        <p:nvSpPr>
          <p:cNvPr id="6" name="TextBox 6"/>
          <p:cNvSpPr txBox="1"/>
          <p:nvPr/>
        </p:nvSpPr>
        <p:spPr>
          <a:xfrm>
            <a:off x="3787367" y="369053"/>
            <a:ext cx="9969840" cy="577081"/>
          </a:xfrm>
          <a:prstGeom prst="rect">
            <a:avLst/>
          </a:prstGeom>
        </p:spPr>
        <p:txBody>
          <a:bodyPr wrap="square" lIns="0" tIns="0" rIns="0" bIns="0" rtlCol="0" anchor="t">
            <a:spAutoFit/>
          </a:bodyPr>
          <a:lstStyle>
            <a:defPPr>
              <a:defRPr lang="en-US"/>
            </a:defPPr>
            <a:lvl1pPr>
              <a:lnSpc>
                <a:spcPts val="4498"/>
              </a:lnSpc>
              <a:defRPr sz="3611" b="1">
                <a:solidFill>
                  <a:srgbClr val="000000"/>
                </a:solidFill>
                <a:latin typeface="Inter Bold"/>
                <a:ea typeface="Inter Bold"/>
                <a:cs typeface="Inter Bold"/>
              </a:defRPr>
            </a:lvl1pPr>
          </a:lstStyle>
          <a:p>
            <a:pPr algn="ctr"/>
            <a:r>
              <a:rPr lang="en-IN" sz="4800" dirty="0"/>
              <a:t>Conferences &amp; Workshops</a:t>
            </a:r>
            <a:endParaRPr lang="en-US" sz="4800" dirty="0">
              <a:sym typeface="Inter Bold"/>
            </a:endParaRPr>
          </a:p>
        </p:txBody>
      </p:sp>
      <p:sp>
        <p:nvSpPr>
          <p:cNvPr id="20" name="Freeform 4">
            <a:extLst>
              <a:ext uri="{FF2B5EF4-FFF2-40B4-BE49-F238E27FC236}">
                <a16:creationId xmlns:a16="http://schemas.microsoft.com/office/drawing/2014/main" id="{5FBD61A4-A1AC-A1F3-009A-6A82A95284BE}"/>
              </a:ext>
            </a:extLst>
          </p:cNvPr>
          <p:cNvSpPr/>
          <p:nvPr/>
        </p:nvSpPr>
        <p:spPr>
          <a:xfrm>
            <a:off x="685800" y="2324101"/>
            <a:ext cx="8086487" cy="6333837"/>
          </a:xfrm>
          <a:custGeom>
            <a:avLst/>
            <a:gdLst/>
            <a:ahLst/>
            <a:cxnLst/>
            <a:rect l="l" t="t" r="r" b="b"/>
            <a:pathLst>
              <a:path w="8086487" h="3412123">
                <a:moveTo>
                  <a:pt x="0" y="0"/>
                </a:moveTo>
                <a:lnTo>
                  <a:pt x="8086487" y="0"/>
                </a:lnTo>
                <a:lnTo>
                  <a:pt x="8086487" y="3412123"/>
                </a:lnTo>
                <a:lnTo>
                  <a:pt x="0" y="34121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sz="2000" dirty="0"/>
          </a:p>
        </p:txBody>
      </p:sp>
      <p:sp>
        <p:nvSpPr>
          <p:cNvPr id="21" name="Freeform 4">
            <a:extLst>
              <a:ext uri="{FF2B5EF4-FFF2-40B4-BE49-F238E27FC236}">
                <a16:creationId xmlns:a16="http://schemas.microsoft.com/office/drawing/2014/main" id="{6DE1DBD0-BE46-D5AB-CAF8-DB0EEACD7932}"/>
              </a:ext>
            </a:extLst>
          </p:cNvPr>
          <p:cNvSpPr/>
          <p:nvPr/>
        </p:nvSpPr>
        <p:spPr>
          <a:xfrm>
            <a:off x="9296400" y="2324100"/>
            <a:ext cx="8305800" cy="6333838"/>
          </a:xfrm>
          <a:custGeom>
            <a:avLst/>
            <a:gdLst/>
            <a:ahLst/>
            <a:cxnLst/>
            <a:rect l="l" t="t" r="r" b="b"/>
            <a:pathLst>
              <a:path w="8086487" h="3412123">
                <a:moveTo>
                  <a:pt x="0" y="0"/>
                </a:moveTo>
                <a:lnTo>
                  <a:pt x="8086487" y="0"/>
                </a:lnTo>
                <a:lnTo>
                  <a:pt x="8086487" y="3412123"/>
                </a:lnTo>
                <a:lnTo>
                  <a:pt x="0" y="34121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7" name="TextBox 14">
            <a:extLst>
              <a:ext uri="{FF2B5EF4-FFF2-40B4-BE49-F238E27FC236}">
                <a16:creationId xmlns:a16="http://schemas.microsoft.com/office/drawing/2014/main" id="{B243CD7A-66FE-3AE8-D1E4-8CCB79A2A873}"/>
              </a:ext>
            </a:extLst>
          </p:cNvPr>
          <p:cNvSpPr txBox="1"/>
          <p:nvPr/>
        </p:nvSpPr>
        <p:spPr>
          <a:xfrm>
            <a:off x="640715" y="4064060"/>
            <a:ext cx="7696200" cy="2885405"/>
          </a:xfrm>
          <a:prstGeom prst="rect">
            <a:avLst/>
          </a:prstGeom>
        </p:spPr>
        <p:txBody>
          <a:bodyPr wrap="square" lIns="0" tIns="0" rIns="0" bIns="0" rtlCol="0" anchor="t">
            <a:spAutoFit/>
          </a:bodyPr>
          <a:lstStyle/>
          <a:p>
            <a:pPr marL="876554" lvl="2" indent="-292185">
              <a:lnSpc>
                <a:spcPts val="2537"/>
              </a:lnSpc>
              <a:buFont typeface="Arial"/>
              <a:buChar char="⚬"/>
            </a:pPr>
            <a:r>
              <a:rPr lang="en-US" sz="2800"/>
              <a:t>Partner with </a:t>
            </a:r>
            <a:r>
              <a:rPr lang="en-US" sz="2800" b="1"/>
              <a:t>IMA, RSSDI, and Endocrine Society of India</a:t>
            </a:r>
            <a:r>
              <a:rPr lang="en-US" sz="2800"/>
              <a:t> to host obesity summits.</a:t>
            </a:r>
          </a:p>
          <a:p>
            <a:pPr marL="876554" lvl="2" indent="-292185">
              <a:lnSpc>
                <a:spcPts val="2537"/>
              </a:lnSpc>
              <a:buFont typeface="Arial"/>
              <a:buChar char="⚬"/>
            </a:pPr>
            <a:endParaRPr lang="en-US" sz="2800" dirty="0"/>
          </a:p>
          <a:p>
            <a:pPr marL="876554" lvl="2" indent="-292185">
              <a:lnSpc>
                <a:spcPts val="2537"/>
              </a:lnSpc>
              <a:buFont typeface="Arial"/>
              <a:buChar char="⚬"/>
            </a:pPr>
            <a:r>
              <a:rPr lang="en-US" sz="2800" dirty="0"/>
              <a:t>Present </a:t>
            </a:r>
            <a:r>
              <a:rPr lang="en-US" sz="2800" b="1" dirty="0"/>
              <a:t>Wegovy’s trial data</a:t>
            </a:r>
            <a:r>
              <a:rPr lang="en-US" sz="2800" dirty="0"/>
              <a:t> on cardiovascular and weight-loss outcomes.</a:t>
            </a:r>
          </a:p>
          <a:p>
            <a:pPr marL="584369" lvl="2">
              <a:lnSpc>
                <a:spcPts val="2537"/>
              </a:lnSpc>
            </a:pPr>
            <a:endParaRPr lang="en-US" sz="2800" dirty="0"/>
          </a:p>
          <a:p>
            <a:pPr marL="876554" lvl="2" indent="-292185">
              <a:lnSpc>
                <a:spcPts val="2537"/>
              </a:lnSpc>
              <a:buFont typeface="Arial"/>
              <a:buChar char="⚬"/>
            </a:pPr>
            <a:r>
              <a:rPr lang="en-US" sz="2800" dirty="0"/>
              <a:t>Feature </a:t>
            </a:r>
            <a:r>
              <a:rPr lang="en-US" sz="2800" b="1" dirty="0"/>
              <a:t>expert panels</a:t>
            </a:r>
            <a:r>
              <a:rPr lang="en-US" sz="2800" dirty="0"/>
              <a:t> with endocrinologists, cardiologists, and obesity specialists.</a:t>
            </a:r>
            <a:endParaRPr lang="en-US" sz="2400" dirty="0">
              <a:solidFill>
                <a:srgbClr val="000000"/>
              </a:solidFill>
              <a:latin typeface="Inter"/>
              <a:ea typeface="Inter"/>
              <a:cs typeface="Inter"/>
              <a:sym typeface="Inter"/>
            </a:endParaRPr>
          </a:p>
          <a:p>
            <a:pPr algn="l">
              <a:lnSpc>
                <a:spcPts val="2535"/>
              </a:lnSpc>
            </a:pPr>
            <a:endParaRPr lang="en-US" sz="2400" dirty="0">
              <a:solidFill>
                <a:srgbClr val="000000"/>
              </a:solidFill>
              <a:latin typeface="Inter"/>
              <a:ea typeface="Inter"/>
              <a:cs typeface="Inter"/>
              <a:sym typeface="Inter"/>
            </a:endParaRPr>
          </a:p>
        </p:txBody>
      </p:sp>
      <p:sp>
        <p:nvSpPr>
          <p:cNvPr id="18" name="TextBox 9">
            <a:extLst>
              <a:ext uri="{FF2B5EF4-FFF2-40B4-BE49-F238E27FC236}">
                <a16:creationId xmlns:a16="http://schemas.microsoft.com/office/drawing/2014/main" id="{AECE4035-1BB1-34F5-1997-C41063291546}"/>
              </a:ext>
            </a:extLst>
          </p:cNvPr>
          <p:cNvSpPr txBox="1"/>
          <p:nvPr/>
        </p:nvSpPr>
        <p:spPr>
          <a:xfrm>
            <a:off x="2844565" y="2654607"/>
            <a:ext cx="4278919" cy="333425"/>
          </a:xfrm>
          <a:prstGeom prst="rect">
            <a:avLst/>
          </a:prstGeom>
        </p:spPr>
        <p:txBody>
          <a:bodyPr wrap="square" lIns="0" tIns="0" rIns="0" bIns="0" rtlCol="0" anchor="t">
            <a:spAutoFit/>
          </a:bodyPr>
          <a:lstStyle>
            <a:defPPr>
              <a:defRPr lang="en-US"/>
            </a:defPPr>
            <a:lvl1pPr>
              <a:lnSpc>
                <a:spcPts val="2550"/>
              </a:lnSpc>
              <a:defRPr sz="2087" b="1">
                <a:solidFill>
                  <a:srgbClr val="272525"/>
                </a:solidFill>
                <a:latin typeface="Inter Bold"/>
                <a:ea typeface="Inter Bold"/>
                <a:cs typeface="Inter Bold"/>
              </a:defRPr>
            </a:lvl1pPr>
          </a:lstStyle>
          <a:p>
            <a:r>
              <a:rPr lang="en-IN" sz="2800" dirty="0"/>
              <a:t>Medical Conferences</a:t>
            </a:r>
            <a:endParaRPr lang="en-US" sz="2800" dirty="0">
              <a:sym typeface="Inter Bold"/>
            </a:endParaRPr>
          </a:p>
        </p:txBody>
      </p:sp>
      <p:sp>
        <p:nvSpPr>
          <p:cNvPr id="19" name="TextBox 9">
            <a:extLst>
              <a:ext uri="{FF2B5EF4-FFF2-40B4-BE49-F238E27FC236}">
                <a16:creationId xmlns:a16="http://schemas.microsoft.com/office/drawing/2014/main" id="{2BE8AD2F-A537-6A13-0AE7-66FB0EFFCE4F}"/>
              </a:ext>
            </a:extLst>
          </p:cNvPr>
          <p:cNvSpPr txBox="1"/>
          <p:nvPr/>
        </p:nvSpPr>
        <p:spPr>
          <a:xfrm>
            <a:off x="12006263" y="2646318"/>
            <a:ext cx="3733800" cy="334515"/>
          </a:xfrm>
          <a:prstGeom prst="rect">
            <a:avLst/>
          </a:prstGeom>
        </p:spPr>
        <p:txBody>
          <a:bodyPr wrap="square" lIns="0" tIns="0" rIns="0" bIns="0" rtlCol="0" anchor="t">
            <a:spAutoFit/>
          </a:bodyPr>
          <a:lstStyle>
            <a:defPPr>
              <a:defRPr lang="en-US"/>
            </a:defPPr>
            <a:lvl1pPr>
              <a:lnSpc>
                <a:spcPts val="2550"/>
              </a:lnSpc>
              <a:defRPr sz="2087" b="1">
                <a:solidFill>
                  <a:srgbClr val="272525"/>
                </a:solidFill>
                <a:latin typeface="Inter Bold"/>
                <a:ea typeface="Inter Bold"/>
                <a:cs typeface="Inter Bold"/>
              </a:defRPr>
            </a:lvl1pPr>
          </a:lstStyle>
          <a:p>
            <a:r>
              <a:rPr lang="en-IN" sz="2800" dirty="0"/>
              <a:t>Clinical Workshops</a:t>
            </a:r>
            <a:endParaRPr lang="en-US" sz="2800" dirty="0">
              <a:sym typeface="Inter Bold"/>
            </a:endParaRPr>
          </a:p>
        </p:txBody>
      </p:sp>
      <p:sp>
        <p:nvSpPr>
          <p:cNvPr id="15" name="TextBox 15"/>
          <p:cNvSpPr txBox="1"/>
          <p:nvPr/>
        </p:nvSpPr>
        <p:spPr>
          <a:xfrm>
            <a:off x="9296400" y="4064060"/>
            <a:ext cx="8251190" cy="2579424"/>
          </a:xfrm>
          <a:prstGeom prst="rect">
            <a:avLst/>
          </a:prstGeom>
        </p:spPr>
        <p:txBody>
          <a:bodyPr wrap="square" lIns="0" tIns="0" rIns="0" bIns="0" rtlCol="0" anchor="t">
            <a:spAutoFit/>
          </a:bodyPr>
          <a:lstStyle>
            <a:defPPr>
              <a:defRPr lang="en-US"/>
            </a:defPPr>
            <a:lvl1pPr>
              <a:lnSpc>
                <a:spcPts val="2535"/>
              </a:lnSpc>
              <a:defRPr sz="2400">
                <a:solidFill>
                  <a:srgbClr val="000000"/>
                </a:solidFill>
                <a:latin typeface="Inter"/>
                <a:ea typeface="Inter"/>
                <a:cs typeface="Inter"/>
              </a:defRPr>
            </a:lvl1pPr>
            <a:lvl3pPr marL="876554" lvl="2" indent="-292185">
              <a:lnSpc>
                <a:spcPts val="2537"/>
              </a:lnSpc>
              <a:buFont typeface="Arial"/>
              <a:buChar char="⚬"/>
              <a:defRPr sz="2800"/>
            </a:lvl3pPr>
          </a:lstStyle>
          <a:p>
            <a:pPr lvl="2"/>
            <a:r>
              <a:rPr lang="en-US" dirty="0"/>
              <a:t> Conduct hands-on training in </a:t>
            </a:r>
            <a:r>
              <a:rPr lang="en-US" b="1" dirty="0"/>
              <a:t>hospitals</a:t>
            </a:r>
            <a:r>
              <a:rPr lang="en-US" dirty="0"/>
              <a:t> and </a:t>
            </a:r>
            <a:r>
              <a:rPr lang="en-US" b="1" dirty="0"/>
              <a:t>medical colleges</a:t>
            </a:r>
            <a:r>
              <a:rPr lang="en-US" dirty="0"/>
              <a:t>.</a:t>
            </a:r>
          </a:p>
          <a:p>
            <a:pPr lvl="2"/>
            <a:endParaRPr lang="en-US" dirty="0">
              <a:sym typeface="Inter"/>
            </a:endParaRPr>
          </a:p>
          <a:p>
            <a:pPr lvl="2"/>
            <a:r>
              <a:rPr lang="en-US" dirty="0"/>
              <a:t>Train HCPs on eligibility, dosage, adherence &amp; managing side effects.</a:t>
            </a:r>
          </a:p>
          <a:p>
            <a:pPr lvl="2"/>
            <a:endParaRPr lang="en-US" dirty="0">
              <a:sym typeface="Inter"/>
            </a:endParaRPr>
          </a:p>
          <a:p>
            <a:pPr lvl="2"/>
            <a:r>
              <a:rPr lang="en-US" dirty="0"/>
              <a:t>Use </a:t>
            </a:r>
            <a:r>
              <a:rPr lang="en-US" b="1" dirty="0"/>
              <a:t>demonstrations </a:t>
            </a:r>
            <a:r>
              <a:rPr lang="en-US" dirty="0"/>
              <a:t>to visualize patient transformation journeys.</a:t>
            </a:r>
            <a:endParaRPr lang="en-US" dirty="0">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341926" y="5829300"/>
            <a:ext cx="8086487" cy="3412123"/>
          </a:xfrm>
          <a:custGeom>
            <a:avLst/>
            <a:gdLst/>
            <a:ahLst/>
            <a:cxnLst/>
            <a:rect l="l" t="t" r="r" b="b"/>
            <a:pathLst>
              <a:path w="8086487" h="3412123">
                <a:moveTo>
                  <a:pt x="0" y="0"/>
                </a:moveTo>
                <a:lnTo>
                  <a:pt x="8086487" y="0"/>
                </a:lnTo>
                <a:lnTo>
                  <a:pt x="8086487" y="3412123"/>
                </a:lnTo>
                <a:lnTo>
                  <a:pt x="0" y="34121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4" name="Freeform 4"/>
          <p:cNvSpPr/>
          <p:nvPr/>
        </p:nvSpPr>
        <p:spPr>
          <a:xfrm>
            <a:off x="911121" y="1846608"/>
            <a:ext cx="8086487" cy="3412123"/>
          </a:xfrm>
          <a:custGeom>
            <a:avLst/>
            <a:gdLst/>
            <a:ahLst/>
            <a:cxnLst/>
            <a:rect l="l" t="t" r="r" b="b"/>
            <a:pathLst>
              <a:path w="8086487" h="3412123">
                <a:moveTo>
                  <a:pt x="0" y="0"/>
                </a:moveTo>
                <a:lnTo>
                  <a:pt x="8086487" y="0"/>
                </a:lnTo>
                <a:lnTo>
                  <a:pt x="8086487" y="3412123"/>
                </a:lnTo>
                <a:lnTo>
                  <a:pt x="0" y="34121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5" name="Freeform 5"/>
          <p:cNvSpPr/>
          <p:nvPr/>
        </p:nvSpPr>
        <p:spPr>
          <a:xfrm>
            <a:off x="9341926" y="1837294"/>
            <a:ext cx="8086487" cy="3412123"/>
          </a:xfrm>
          <a:custGeom>
            <a:avLst/>
            <a:gdLst/>
            <a:ahLst/>
            <a:cxnLst/>
            <a:rect l="l" t="t" r="r" b="b"/>
            <a:pathLst>
              <a:path w="8086487" h="3412123">
                <a:moveTo>
                  <a:pt x="0" y="0"/>
                </a:moveTo>
                <a:lnTo>
                  <a:pt x="8086487" y="0"/>
                </a:lnTo>
                <a:lnTo>
                  <a:pt x="8086487" y="3412123"/>
                </a:lnTo>
                <a:lnTo>
                  <a:pt x="0" y="34121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6" name="Group 6"/>
          <p:cNvGrpSpPr/>
          <p:nvPr/>
        </p:nvGrpSpPr>
        <p:grpSpPr>
          <a:xfrm>
            <a:off x="1184336" y="2106842"/>
            <a:ext cx="585024" cy="585024"/>
            <a:chOff x="0" y="0"/>
            <a:chExt cx="780032" cy="780032"/>
          </a:xfrm>
        </p:grpSpPr>
        <p:sp>
          <p:nvSpPr>
            <p:cNvPr id="7" name="Freeform 7"/>
            <p:cNvSpPr/>
            <p:nvPr/>
          </p:nvSpPr>
          <p:spPr>
            <a:xfrm>
              <a:off x="0" y="0"/>
              <a:ext cx="780034" cy="780034"/>
            </a:xfrm>
            <a:custGeom>
              <a:avLst/>
              <a:gdLst/>
              <a:ahLst/>
              <a:cxnLst/>
              <a:rect l="l" t="t" r="r" b="b"/>
              <a:pathLst>
                <a:path w="780034" h="780034">
                  <a:moveTo>
                    <a:pt x="0" y="390017"/>
                  </a:moveTo>
                  <a:cubicBezTo>
                    <a:pt x="0" y="174625"/>
                    <a:pt x="174625" y="0"/>
                    <a:pt x="390017" y="0"/>
                  </a:cubicBezTo>
                  <a:cubicBezTo>
                    <a:pt x="605409" y="0"/>
                    <a:pt x="780034" y="174625"/>
                    <a:pt x="780034" y="390017"/>
                  </a:cubicBezTo>
                  <a:cubicBezTo>
                    <a:pt x="780034" y="605409"/>
                    <a:pt x="605282" y="780034"/>
                    <a:pt x="390017" y="780034"/>
                  </a:cubicBezTo>
                  <a:cubicBezTo>
                    <a:pt x="174752" y="780034"/>
                    <a:pt x="0" y="605282"/>
                    <a:pt x="0" y="390017"/>
                  </a:cubicBezTo>
                  <a:close/>
                </a:path>
              </a:pathLst>
            </a:custGeom>
            <a:solidFill>
              <a:srgbClr val="4950BC"/>
            </a:solidFill>
          </p:spPr>
          <p:txBody>
            <a:bodyPr/>
            <a:lstStyle/>
            <a:p>
              <a:endParaRPr lang="en-IN" dirty="0"/>
            </a:p>
          </p:txBody>
        </p:sp>
      </p:grpSp>
      <p:grpSp>
        <p:nvGrpSpPr>
          <p:cNvPr id="8" name="Group 8"/>
          <p:cNvGrpSpPr/>
          <p:nvPr/>
        </p:nvGrpSpPr>
        <p:grpSpPr>
          <a:xfrm>
            <a:off x="1291988" y="2195345"/>
            <a:ext cx="369666" cy="462153"/>
            <a:chOff x="0" y="0"/>
            <a:chExt cx="492888" cy="616204"/>
          </a:xfrm>
        </p:grpSpPr>
        <p:sp>
          <p:nvSpPr>
            <p:cNvPr id="9" name="Freeform 9" descr="preencoded.png"/>
            <p:cNvSpPr/>
            <p:nvPr/>
          </p:nvSpPr>
          <p:spPr>
            <a:xfrm>
              <a:off x="0" y="0"/>
              <a:ext cx="492887" cy="616204"/>
            </a:xfrm>
            <a:custGeom>
              <a:avLst/>
              <a:gdLst/>
              <a:ahLst/>
              <a:cxnLst/>
              <a:rect l="l" t="t" r="r" b="b"/>
              <a:pathLst>
                <a:path w="492887" h="616204">
                  <a:moveTo>
                    <a:pt x="0" y="0"/>
                  </a:moveTo>
                  <a:lnTo>
                    <a:pt x="492887" y="0"/>
                  </a:lnTo>
                  <a:lnTo>
                    <a:pt x="492887" y="616204"/>
                  </a:lnTo>
                  <a:lnTo>
                    <a:pt x="0" y="616204"/>
                  </a:lnTo>
                  <a:lnTo>
                    <a:pt x="0" y="0"/>
                  </a:lnTo>
                  <a:close/>
                </a:path>
              </a:pathLst>
            </a:custGeom>
            <a:blipFill>
              <a:blip r:embed="rId4"/>
              <a:stretch>
                <a:fillRect t="-205" b="-205"/>
              </a:stretch>
            </a:blipFill>
          </p:spPr>
          <p:txBody>
            <a:bodyPr/>
            <a:lstStyle/>
            <a:p>
              <a:endParaRPr lang="en-IN" dirty="0"/>
            </a:p>
          </p:txBody>
        </p:sp>
      </p:grpSp>
      <p:sp>
        <p:nvSpPr>
          <p:cNvPr id="15" name="TextBox 15"/>
          <p:cNvSpPr txBox="1"/>
          <p:nvPr/>
        </p:nvSpPr>
        <p:spPr>
          <a:xfrm>
            <a:off x="9412023" y="2081415"/>
            <a:ext cx="8086435" cy="449262"/>
          </a:xfrm>
          <a:prstGeom prst="rect">
            <a:avLst/>
          </a:prstGeom>
        </p:spPr>
        <p:txBody>
          <a:bodyPr lIns="0" tIns="0" rIns="0" bIns="0" rtlCol="0" anchor="t">
            <a:spAutoFit/>
          </a:bodyPr>
          <a:lstStyle/>
          <a:p>
            <a:pPr algn="ctr">
              <a:lnSpc>
                <a:spcPts val="3436"/>
              </a:lnSpc>
            </a:pPr>
            <a:r>
              <a:rPr lang="en-US" sz="2750" b="1" dirty="0">
                <a:solidFill>
                  <a:srgbClr val="000000"/>
                </a:solidFill>
                <a:latin typeface="Inter Bold"/>
                <a:ea typeface="Inter Bold"/>
                <a:cs typeface="Inter Bold"/>
                <a:sym typeface="Inter Bold"/>
              </a:rPr>
              <a:t>Smart Wellness App &amp; AI Chatbot</a:t>
            </a:r>
          </a:p>
        </p:txBody>
      </p:sp>
      <p:grpSp>
        <p:nvGrpSpPr>
          <p:cNvPr id="16" name="Group 16"/>
          <p:cNvGrpSpPr/>
          <p:nvPr/>
        </p:nvGrpSpPr>
        <p:grpSpPr>
          <a:xfrm>
            <a:off x="9571759" y="2032600"/>
            <a:ext cx="585024" cy="585024"/>
            <a:chOff x="0" y="0"/>
            <a:chExt cx="780032" cy="780032"/>
          </a:xfrm>
        </p:grpSpPr>
        <p:sp>
          <p:nvSpPr>
            <p:cNvPr id="17" name="Freeform 17"/>
            <p:cNvSpPr/>
            <p:nvPr/>
          </p:nvSpPr>
          <p:spPr>
            <a:xfrm>
              <a:off x="0" y="0"/>
              <a:ext cx="780034" cy="780034"/>
            </a:xfrm>
            <a:custGeom>
              <a:avLst/>
              <a:gdLst/>
              <a:ahLst/>
              <a:cxnLst/>
              <a:rect l="l" t="t" r="r" b="b"/>
              <a:pathLst>
                <a:path w="780034" h="780034">
                  <a:moveTo>
                    <a:pt x="0" y="390017"/>
                  </a:moveTo>
                  <a:cubicBezTo>
                    <a:pt x="0" y="174625"/>
                    <a:pt x="174625" y="0"/>
                    <a:pt x="390017" y="0"/>
                  </a:cubicBezTo>
                  <a:cubicBezTo>
                    <a:pt x="605409" y="0"/>
                    <a:pt x="780034" y="174625"/>
                    <a:pt x="780034" y="390017"/>
                  </a:cubicBezTo>
                  <a:cubicBezTo>
                    <a:pt x="780034" y="605409"/>
                    <a:pt x="605282" y="780034"/>
                    <a:pt x="390017" y="780034"/>
                  </a:cubicBezTo>
                  <a:cubicBezTo>
                    <a:pt x="174752" y="780034"/>
                    <a:pt x="0" y="605282"/>
                    <a:pt x="0" y="390017"/>
                  </a:cubicBezTo>
                  <a:close/>
                </a:path>
              </a:pathLst>
            </a:custGeom>
            <a:solidFill>
              <a:srgbClr val="4950BC"/>
            </a:solidFill>
          </p:spPr>
          <p:txBody>
            <a:bodyPr/>
            <a:lstStyle/>
            <a:p>
              <a:endParaRPr lang="en-IN" dirty="0"/>
            </a:p>
          </p:txBody>
        </p:sp>
      </p:grpSp>
      <p:sp>
        <p:nvSpPr>
          <p:cNvPr id="18" name="Freeform 18"/>
          <p:cNvSpPr/>
          <p:nvPr/>
        </p:nvSpPr>
        <p:spPr>
          <a:xfrm>
            <a:off x="9636051" y="2127549"/>
            <a:ext cx="456408" cy="405463"/>
          </a:xfrm>
          <a:custGeom>
            <a:avLst/>
            <a:gdLst/>
            <a:ahLst/>
            <a:cxnLst/>
            <a:rect l="l" t="t" r="r" b="b"/>
            <a:pathLst>
              <a:path w="456408" h="405463">
                <a:moveTo>
                  <a:pt x="0" y="0"/>
                </a:moveTo>
                <a:lnTo>
                  <a:pt x="456408" y="0"/>
                </a:lnTo>
                <a:lnTo>
                  <a:pt x="456408" y="405463"/>
                </a:lnTo>
                <a:lnTo>
                  <a:pt x="0" y="405463"/>
                </a:lnTo>
                <a:lnTo>
                  <a:pt x="0" y="0"/>
                </a:lnTo>
                <a:close/>
              </a:path>
            </a:pathLst>
          </a:custGeom>
          <a:blipFill>
            <a:blip r:embed="rId5">
              <a:extLst>
                <a:ext uri="{96DAC541-7B7A-43D3-8B79-37D633B846F1}">
                  <asvg:svgBlip xmlns:asvg="http://schemas.microsoft.com/office/drawing/2016/SVG/main" r:embed="rId6"/>
                </a:ext>
              </a:extLst>
            </a:blip>
            <a:stretch>
              <a:fillRect t="-419" b="-419"/>
            </a:stretch>
          </a:blipFill>
        </p:spPr>
        <p:txBody>
          <a:bodyPr/>
          <a:lstStyle/>
          <a:p>
            <a:endParaRPr lang="en-IN" dirty="0"/>
          </a:p>
        </p:txBody>
      </p:sp>
      <p:sp>
        <p:nvSpPr>
          <p:cNvPr id="19" name="TextBox 19"/>
          <p:cNvSpPr txBox="1"/>
          <p:nvPr/>
        </p:nvSpPr>
        <p:spPr>
          <a:xfrm>
            <a:off x="1057565" y="187911"/>
            <a:ext cx="16370796" cy="806439"/>
          </a:xfrm>
          <a:prstGeom prst="rect">
            <a:avLst/>
          </a:prstGeom>
        </p:spPr>
        <p:txBody>
          <a:bodyPr lIns="0" tIns="0" rIns="0" bIns="0" rtlCol="0" anchor="t">
            <a:spAutoFit/>
          </a:bodyPr>
          <a:lstStyle/>
          <a:p>
            <a:pPr algn="ctr">
              <a:lnSpc>
                <a:spcPts val="6687"/>
              </a:lnSpc>
            </a:pPr>
            <a:r>
              <a:rPr lang="en-US" sz="4800" b="1" dirty="0">
                <a:solidFill>
                  <a:srgbClr val="000000"/>
                </a:solidFill>
                <a:latin typeface="Inter Bold"/>
                <a:ea typeface="Inter Bold"/>
                <a:cs typeface="Inter Bold"/>
                <a:sym typeface="Inter Bold"/>
              </a:rPr>
              <a:t>Other Strategy Recommendations</a:t>
            </a:r>
          </a:p>
        </p:txBody>
      </p:sp>
      <p:sp>
        <p:nvSpPr>
          <p:cNvPr id="20" name="TextBox 20"/>
          <p:cNvSpPr txBox="1"/>
          <p:nvPr/>
        </p:nvSpPr>
        <p:spPr>
          <a:xfrm>
            <a:off x="2079823" y="2100359"/>
            <a:ext cx="5320429" cy="446088"/>
          </a:xfrm>
          <a:prstGeom prst="rect">
            <a:avLst/>
          </a:prstGeom>
        </p:spPr>
        <p:txBody>
          <a:bodyPr lIns="0" tIns="0" rIns="0" bIns="0" rtlCol="0" anchor="t">
            <a:spAutoFit/>
          </a:bodyPr>
          <a:lstStyle/>
          <a:p>
            <a:pPr algn="l">
              <a:lnSpc>
                <a:spcPts val="3311"/>
              </a:lnSpc>
            </a:pPr>
            <a:r>
              <a:rPr lang="en-US" sz="2687" b="1" dirty="0">
                <a:solidFill>
                  <a:srgbClr val="272525"/>
                </a:solidFill>
                <a:latin typeface="Inter Bold"/>
                <a:ea typeface="Inter Bold"/>
                <a:cs typeface="Inter Bold"/>
                <a:sym typeface="Inter Bold"/>
              </a:rPr>
              <a:t>Collaborate with Influencers</a:t>
            </a:r>
          </a:p>
        </p:txBody>
      </p:sp>
      <p:sp>
        <p:nvSpPr>
          <p:cNvPr id="21" name="TextBox 21"/>
          <p:cNvSpPr txBox="1"/>
          <p:nvPr/>
        </p:nvSpPr>
        <p:spPr>
          <a:xfrm>
            <a:off x="1150479" y="3047663"/>
            <a:ext cx="7626769" cy="2098644"/>
          </a:xfrm>
          <a:prstGeom prst="rect">
            <a:avLst/>
          </a:prstGeom>
        </p:spPr>
        <p:txBody>
          <a:bodyPr lIns="0" tIns="0" rIns="0" bIns="0" rtlCol="0" anchor="t">
            <a:spAutoFit/>
          </a:bodyPr>
          <a:lstStyle/>
          <a:p>
            <a:pPr algn="just">
              <a:lnSpc>
                <a:spcPts val="2728"/>
              </a:lnSpc>
            </a:pPr>
            <a:r>
              <a:rPr lang="en-US" sz="2000" dirty="0">
                <a:solidFill>
                  <a:srgbClr val="000000"/>
                </a:solidFill>
                <a:latin typeface="Inter" panose="020B0604020202020204" charset="0"/>
                <a:ea typeface="Inter" panose="020B0604020202020204" charset="0"/>
                <a:cs typeface="Canva Sans"/>
                <a:sym typeface="Canva Sans"/>
              </a:rPr>
              <a:t>Reach millions through influencers and online platforms</a:t>
            </a:r>
          </a:p>
          <a:p>
            <a:pPr algn="just">
              <a:lnSpc>
                <a:spcPts val="2728"/>
              </a:lnSpc>
            </a:pPr>
            <a:endParaRPr lang="en-US" sz="2000" dirty="0">
              <a:solidFill>
                <a:srgbClr val="000000"/>
              </a:solidFill>
              <a:latin typeface="Inter" panose="020B0604020202020204" charset="0"/>
              <a:ea typeface="Inter" panose="020B0604020202020204" charset="0"/>
              <a:cs typeface="Canva Sans"/>
              <a:sym typeface="Canva Sans"/>
            </a:endParaRPr>
          </a:p>
          <a:p>
            <a:pPr algn="just">
              <a:lnSpc>
                <a:spcPts val="2728"/>
              </a:lnSpc>
            </a:pPr>
            <a:r>
              <a:rPr lang="en-US" sz="2000" dirty="0">
                <a:solidFill>
                  <a:srgbClr val="000000"/>
                </a:solidFill>
                <a:latin typeface="Inter" panose="020B0604020202020204" charset="0"/>
                <a:ea typeface="Inter" panose="020B0604020202020204" charset="0"/>
                <a:cs typeface="Canva Sans"/>
                <a:sym typeface="Canva Sans"/>
              </a:rPr>
              <a:t>Highlight obesity as a major health concern</a:t>
            </a:r>
          </a:p>
          <a:p>
            <a:pPr algn="just">
              <a:lnSpc>
                <a:spcPts val="2728"/>
              </a:lnSpc>
            </a:pPr>
            <a:endParaRPr lang="en-US" sz="2000" dirty="0">
              <a:solidFill>
                <a:srgbClr val="000000"/>
              </a:solidFill>
              <a:latin typeface="Inter" panose="020B0604020202020204" charset="0"/>
              <a:ea typeface="Inter" panose="020B0604020202020204" charset="0"/>
              <a:cs typeface="Canva Sans"/>
              <a:sym typeface="Canva Sans"/>
            </a:endParaRPr>
          </a:p>
          <a:p>
            <a:pPr algn="just">
              <a:lnSpc>
                <a:spcPts val="2728"/>
              </a:lnSpc>
            </a:pPr>
            <a:r>
              <a:rPr lang="en-US" sz="2000" dirty="0">
                <a:solidFill>
                  <a:srgbClr val="000000"/>
                </a:solidFill>
                <a:latin typeface="Inter" panose="020B0604020202020204" charset="0"/>
                <a:ea typeface="Inter" panose="020B0604020202020204" charset="0"/>
                <a:cs typeface="Canva Sans"/>
                <a:sym typeface="Canva Sans"/>
              </a:rPr>
              <a:t>Promote traditional &amp; modern solutions to inspire action</a:t>
            </a:r>
          </a:p>
          <a:p>
            <a:pPr algn="just">
              <a:lnSpc>
                <a:spcPts val="2728"/>
              </a:lnSpc>
            </a:pPr>
            <a:endParaRPr lang="en-US" sz="2000" dirty="0">
              <a:solidFill>
                <a:srgbClr val="000000"/>
              </a:solidFill>
              <a:latin typeface="Inter" panose="020B0604020202020204" charset="0"/>
              <a:ea typeface="Inter" panose="020B0604020202020204" charset="0"/>
              <a:cs typeface="Canva Sans"/>
              <a:sym typeface="Canva Sans"/>
            </a:endParaRPr>
          </a:p>
        </p:txBody>
      </p:sp>
      <p:sp>
        <p:nvSpPr>
          <p:cNvPr id="23" name="TextBox 23"/>
          <p:cNvSpPr txBox="1"/>
          <p:nvPr/>
        </p:nvSpPr>
        <p:spPr>
          <a:xfrm>
            <a:off x="9571759" y="3031893"/>
            <a:ext cx="7482224" cy="1741694"/>
          </a:xfrm>
          <a:prstGeom prst="rect">
            <a:avLst/>
          </a:prstGeom>
        </p:spPr>
        <p:txBody>
          <a:bodyPr lIns="0" tIns="0" rIns="0" bIns="0" rtlCol="0" anchor="t">
            <a:spAutoFit/>
          </a:bodyPr>
          <a:lstStyle/>
          <a:p>
            <a:pPr algn="l">
              <a:lnSpc>
                <a:spcPts val="2724"/>
              </a:lnSpc>
            </a:pPr>
            <a:r>
              <a:rPr lang="en-US" sz="2000" dirty="0">
                <a:solidFill>
                  <a:srgbClr val="000000"/>
                </a:solidFill>
                <a:latin typeface="Inter"/>
                <a:ea typeface="Inter"/>
                <a:cs typeface="Inter"/>
                <a:sym typeface="Inter"/>
              </a:rPr>
              <a:t>Track weight loss journey &amp; get AI health guidance.</a:t>
            </a:r>
          </a:p>
          <a:p>
            <a:pPr algn="l">
              <a:lnSpc>
                <a:spcPts val="2724"/>
              </a:lnSpc>
            </a:pPr>
            <a:endParaRPr lang="en-US" sz="2000" dirty="0">
              <a:solidFill>
                <a:srgbClr val="000000"/>
              </a:solidFill>
              <a:latin typeface="Inter"/>
              <a:ea typeface="Inter"/>
              <a:cs typeface="Inter"/>
              <a:sym typeface="Inter"/>
            </a:endParaRPr>
          </a:p>
          <a:p>
            <a:pPr algn="l">
              <a:lnSpc>
                <a:spcPts val="2724"/>
              </a:lnSpc>
            </a:pPr>
            <a:r>
              <a:rPr lang="en-US" sz="2000" dirty="0">
                <a:solidFill>
                  <a:srgbClr val="000000"/>
                </a:solidFill>
                <a:latin typeface="Inter"/>
                <a:ea typeface="Inter"/>
                <a:cs typeface="Inter"/>
                <a:sym typeface="Inter"/>
              </a:rPr>
              <a:t>Direct doctor contact &amp; personalized symptom reminders</a:t>
            </a:r>
          </a:p>
          <a:p>
            <a:pPr algn="l">
              <a:lnSpc>
                <a:spcPts val="2724"/>
              </a:lnSpc>
            </a:pPr>
            <a:endParaRPr lang="en-US" sz="2000" dirty="0">
              <a:solidFill>
                <a:srgbClr val="000000"/>
              </a:solidFill>
              <a:latin typeface="Inter"/>
              <a:ea typeface="Inter"/>
              <a:cs typeface="Inter"/>
              <a:sym typeface="Inter"/>
            </a:endParaRPr>
          </a:p>
          <a:p>
            <a:pPr algn="l">
              <a:lnSpc>
                <a:spcPts val="2724"/>
              </a:lnSpc>
            </a:pPr>
            <a:r>
              <a:rPr lang="en-US" sz="2000" dirty="0">
                <a:solidFill>
                  <a:srgbClr val="000000"/>
                </a:solidFill>
                <a:latin typeface="Inter"/>
                <a:ea typeface="Inter"/>
                <a:cs typeface="Inter"/>
                <a:sym typeface="Inter"/>
              </a:rPr>
              <a:t>Log feedback &amp; stay on track with lifestyle goals</a:t>
            </a:r>
          </a:p>
        </p:txBody>
      </p:sp>
      <p:grpSp>
        <p:nvGrpSpPr>
          <p:cNvPr id="24" name="Group 24"/>
          <p:cNvGrpSpPr/>
          <p:nvPr/>
        </p:nvGrpSpPr>
        <p:grpSpPr>
          <a:xfrm>
            <a:off x="9683356" y="6024606"/>
            <a:ext cx="585024" cy="585024"/>
            <a:chOff x="0" y="0"/>
            <a:chExt cx="780032" cy="780032"/>
          </a:xfrm>
        </p:grpSpPr>
        <p:sp>
          <p:nvSpPr>
            <p:cNvPr id="25" name="Freeform 25"/>
            <p:cNvSpPr/>
            <p:nvPr/>
          </p:nvSpPr>
          <p:spPr>
            <a:xfrm>
              <a:off x="0" y="0"/>
              <a:ext cx="780034" cy="780034"/>
            </a:xfrm>
            <a:custGeom>
              <a:avLst/>
              <a:gdLst/>
              <a:ahLst/>
              <a:cxnLst/>
              <a:rect l="l" t="t" r="r" b="b"/>
              <a:pathLst>
                <a:path w="780034" h="780034">
                  <a:moveTo>
                    <a:pt x="0" y="390017"/>
                  </a:moveTo>
                  <a:cubicBezTo>
                    <a:pt x="0" y="174625"/>
                    <a:pt x="174625" y="0"/>
                    <a:pt x="390017" y="0"/>
                  </a:cubicBezTo>
                  <a:cubicBezTo>
                    <a:pt x="605409" y="0"/>
                    <a:pt x="780034" y="174625"/>
                    <a:pt x="780034" y="390017"/>
                  </a:cubicBezTo>
                  <a:cubicBezTo>
                    <a:pt x="780034" y="605409"/>
                    <a:pt x="605282" y="780034"/>
                    <a:pt x="390017" y="780034"/>
                  </a:cubicBezTo>
                  <a:cubicBezTo>
                    <a:pt x="174752" y="780034"/>
                    <a:pt x="0" y="605282"/>
                    <a:pt x="0" y="390017"/>
                  </a:cubicBezTo>
                  <a:close/>
                </a:path>
              </a:pathLst>
            </a:custGeom>
            <a:solidFill>
              <a:srgbClr val="4950BC"/>
            </a:solidFill>
          </p:spPr>
          <p:txBody>
            <a:bodyPr/>
            <a:lstStyle/>
            <a:p>
              <a:endParaRPr lang="en-IN" dirty="0"/>
            </a:p>
          </p:txBody>
        </p:sp>
      </p:grpSp>
      <p:sp>
        <p:nvSpPr>
          <p:cNvPr id="26" name="TextBox 26"/>
          <p:cNvSpPr txBox="1"/>
          <p:nvPr/>
        </p:nvSpPr>
        <p:spPr>
          <a:xfrm>
            <a:off x="9975868" y="6112626"/>
            <a:ext cx="5416531" cy="409920"/>
          </a:xfrm>
          <a:prstGeom prst="rect">
            <a:avLst/>
          </a:prstGeom>
        </p:spPr>
        <p:txBody>
          <a:bodyPr wrap="square" lIns="0" tIns="0" rIns="0" bIns="0" rtlCol="0" anchor="t">
            <a:spAutoFit/>
          </a:bodyPr>
          <a:lstStyle/>
          <a:p>
            <a:pPr algn="ctr">
              <a:lnSpc>
                <a:spcPts val="3436"/>
              </a:lnSpc>
            </a:pPr>
            <a:r>
              <a:rPr lang="en-US" sz="2750" b="1" dirty="0">
                <a:solidFill>
                  <a:srgbClr val="000000"/>
                </a:solidFill>
                <a:latin typeface="Inter Bold"/>
                <a:ea typeface="Inter Bold"/>
                <a:cs typeface="Inter Bold"/>
                <a:sym typeface="Inter Bold"/>
              </a:rPr>
              <a:t>Patient Retention Strategy </a:t>
            </a:r>
          </a:p>
        </p:txBody>
      </p:sp>
      <p:sp>
        <p:nvSpPr>
          <p:cNvPr id="27" name="TextBox 27"/>
          <p:cNvSpPr txBox="1"/>
          <p:nvPr/>
        </p:nvSpPr>
        <p:spPr>
          <a:xfrm>
            <a:off x="9744739" y="6885338"/>
            <a:ext cx="7309244" cy="1710918"/>
          </a:xfrm>
          <a:prstGeom prst="rect">
            <a:avLst/>
          </a:prstGeom>
        </p:spPr>
        <p:txBody>
          <a:bodyPr lIns="0" tIns="0" rIns="0" bIns="0" rtlCol="0" anchor="t">
            <a:spAutoFit/>
          </a:bodyPr>
          <a:lstStyle/>
          <a:p>
            <a:pPr>
              <a:lnSpc>
                <a:spcPts val="2686"/>
              </a:lnSpc>
            </a:pPr>
            <a:r>
              <a:rPr lang="en-US" sz="2000" dirty="0">
                <a:latin typeface="Inter" panose="020B0604020202020204" charset="0"/>
                <a:ea typeface="Inter" panose="020B0604020202020204" charset="0"/>
              </a:rPr>
              <a:t>Introduce a </a:t>
            </a:r>
            <a:r>
              <a:rPr lang="en-US" sz="2000" b="1" dirty="0">
                <a:latin typeface="Inter" panose="020B0604020202020204" charset="0"/>
                <a:ea typeface="Inter" panose="020B0604020202020204" charset="0"/>
              </a:rPr>
              <a:t>“Wegovy Care” program</a:t>
            </a:r>
            <a:r>
              <a:rPr lang="en-US" sz="2000" dirty="0">
                <a:latin typeface="Inter" panose="020B0604020202020204" charset="0"/>
                <a:ea typeface="Inter" panose="020B0604020202020204" charset="0"/>
              </a:rPr>
              <a:t>—with weekly consultations from dieticians and obesity specialists, dose reminders, and reward points.</a:t>
            </a:r>
          </a:p>
          <a:p>
            <a:pPr>
              <a:lnSpc>
                <a:spcPts val="2686"/>
              </a:lnSpc>
            </a:pPr>
            <a:endParaRPr lang="en-US" sz="2000" dirty="0">
              <a:solidFill>
                <a:srgbClr val="000000"/>
              </a:solidFill>
              <a:latin typeface="Inter" panose="020B0604020202020204" charset="0"/>
              <a:ea typeface="Inter" panose="020B0604020202020204" charset="0"/>
              <a:cs typeface="Canva Sans"/>
              <a:sym typeface="Canva Sans"/>
            </a:endParaRPr>
          </a:p>
          <a:p>
            <a:pPr algn="l">
              <a:lnSpc>
                <a:spcPts val="2686"/>
              </a:lnSpc>
            </a:pPr>
            <a:r>
              <a:rPr lang="en-US" sz="2000" dirty="0">
                <a:solidFill>
                  <a:srgbClr val="000000"/>
                </a:solidFill>
                <a:latin typeface="Inter" panose="020B0604020202020204" charset="0"/>
                <a:ea typeface="Inter" panose="020B0604020202020204" charset="0"/>
                <a:cs typeface="Canva Sans"/>
                <a:sym typeface="Canva Sans"/>
              </a:rPr>
              <a:t> </a:t>
            </a:r>
          </a:p>
        </p:txBody>
      </p:sp>
      <p:grpSp>
        <p:nvGrpSpPr>
          <p:cNvPr id="28" name="Group 28"/>
          <p:cNvGrpSpPr/>
          <p:nvPr/>
        </p:nvGrpSpPr>
        <p:grpSpPr>
          <a:xfrm>
            <a:off x="9813667" y="6119555"/>
            <a:ext cx="347008" cy="433826"/>
            <a:chOff x="0" y="0"/>
            <a:chExt cx="462678" cy="578435"/>
          </a:xfrm>
        </p:grpSpPr>
        <p:sp>
          <p:nvSpPr>
            <p:cNvPr id="29" name="Freeform 29" descr="preencoded.png"/>
            <p:cNvSpPr/>
            <p:nvPr/>
          </p:nvSpPr>
          <p:spPr>
            <a:xfrm>
              <a:off x="0" y="0"/>
              <a:ext cx="462661" cy="578485"/>
            </a:xfrm>
            <a:custGeom>
              <a:avLst/>
              <a:gdLst/>
              <a:ahLst/>
              <a:cxnLst/>
              <a:rect l="l" t="t" r="r" b="b"/>
              <a:pathLst>
                <a:path w="462661" h="578485">
                  <a:moveTo>
                    <a:pt x="0" y="0"/>
                  </a:moveTo>
                  <a:lnTo>
                    <a:pt x="462661" y="0"/>
                  </a:lnTo>
                  <a:lnTo>
                    <a:pt x="462661" y="578485"/>
                  </a:lnTo>
                  <a:lnTo>
                    <a:pt x="0" y="578485"/>
                  </a:lnTo>
                  <a:lnTo>
                    <a:pt x="0" y="0"/>
                  </a:lnTo>
                  <a:close/>
                </a:path>
              </a:pathLst>
            </a:custGeom>
            <a:blipFill>
              <a:blip r:embed="rId7"/>
              <a:stretch>
                <a:fillRect t="-205" r="-3" b="-196"/>
              </a:stretch>
            </a:blipFill>
          </p:spPr>
          <p:txBody>
            <a:bodyPr/>
            <a:lstStyle/>
            <a:p>
              <a:endParaRPr lang="en-IN" dirty="0"/>
            </a:p>
          </p:txBody>
        </p:sp>
      </p:grpSp>
      <p:sp>
        <p:nvSpPr>
          <p:cNvPr id="30" name="Freeform 5">
            <a:extLst>
              <a:ext uri="{FF2B5EF4-FFF2-40B4-BE49-F238E27FC236}">
                <a16:creationId xmlns:a16="http://schemas.microsoft.com/office/drawing/2014/main" id="{2E5D51A2-FFA6-4BC9-44EB-08918D1441C9}"/>
              </a:ext>
            </a:extLst>
          </p:cNvPr>
          <p:cNvSpPr/>
          <p:nvPr/>
        </p:nvSpPr>
        <p:spPr>
          <a:xfrm>
            <a:off x="911121" y="5829300"/>
            <a:ext cx="8086487" cy="3412123"/>
          </a:xfrm>
          <a:custGeom>
            <a:avLst/>
            <a:gdLst/>
            <a:ahLst/>
            <a:cxnLst/>
            <a:rect l="l" t="t" r="r" b="b"/>
            <a:pathLst>
              <a:path w="8086487" h="3412123">
                <a:moveTo>
                  <a:pt x="0" y="0"/>
                </a:moveTo>
                <a:lnTo>
                  <a:pt x="8086487" y="0"/>
                </a:lnTo>
                <a:lnTo>
                  <a:pt x="8086487" y="3412123"/>
                </a:lnTo>
                <a:lnTo>
                  <a:pt x="0" y="34121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1" name="TextBox 15">
            <a:extLst>
              <a:ext uri="{FF2B5EF4-FFF2-40B4-BE49-F238E27FC236}">
                <a16:creationId xmlns:a16="http://schemas.microsoft.com/office/drawing/2014/main" id="{2E20B97D-6A56-F5C1-B0E5-5BA96F78DABC}"/>
              </a:ext>
            </a:extLst>
          </p:cNvPr>
          <p:cNvSpPr txBox="1"/>
          <p:nvPr/>
        </p:nvSpPr>
        <p:spPr>
          <a:xfrm>
            <a:off x="864667" y="6115373"/>
            <a:ext cx="5724382" cy="409920"/>
          </a:xfrm>
          <a:prstGeom prst="rect">
            <a:avLst/>
          </a:prstGeom>
        </p:spPr>
        <p:txBody>
          <a:bodyPr wrap="square" lIns="0" tIns="0" rIns="0" bIns="0" rtlCol="0" anchor="t">
            <a:spAutoFit/>
          </a:bodyPr>
          <a:lstStyle/>
          <a:p>
            <a:pPr algn="ctr">
              <a:lnSpc>
                <a:spcPts val="3436"/>
              </a:lnSpc>
            </a:pPr>
            <a:r>
              <a:rPr lang="en-US" sz="2750" b="1" dirty="0">
                <a:solidFill>
                  <a:srgbClr val="000000"/>
                </a:solidFill>
                <a:latin typeface="Inter Bold"/>
                <a:ea typeface="Inter Bold"/>
                <a:cs typeface="Inter Bold"/>
                <a:sym typeface="Inter Bold"/>
              </a:rPr>
              <a:t>Incentives Schemes</a:t>
            </a:r>
          </a:p>
        </p:txBody>
      </p:sp>
      <p:grpSp>
        <p:nvGrpSpPr>
          <p:cNvPr id="32" name="Group 16">
            <a:extLst>
              <a:ext uri="{FF2B5EF4-FFF2-40B4-BE49-F238E27FC236}">
                <a16:creationId xmlns:a16="http://schemas.microsoft.com/office/drawing/2014/main" id="{0411FF39-E253-7BE3-2EA8-ADE2240843EB}"/>
              </a:ext>
            </a:extLst>
          </p:cNvPr>
          <p:cNvGrpSpPr/>
          <p:nvPr/>
        </p:nvGrpSpPr>
        <p:grpSpPr>
          <a:xfrm>
            <a:off x="1140954" y="6024606"/>
            <a:ext cx="585024" cy="585024"/>
            <a:chOff x="0" y="0"/>
            <a:chExt cx="780032" cy="780032"/>
          </a:xfrm>
        </p:grpSpPr>
        <p:sp>
          <p:nvSpPr>
            <p:cNvPr id="33" name="Freeform 17">
              <a:extLst>
                <a:ext uri="{FF2B5EF4-FFF2-40B4-BE49-F238E27FC236}">
                  <a16:creationId xmlns:a16="http://schemas.microsoft.com/office/drawing/2014/main" id="{79B149B1-E0C4-EF54-DCA6-FB5B701DF1E8}"/>
                </a:ext>
              </a:extLst>
            </p:cNvPr>
            <p:cNvSpPr/>
            <p:nvPr/>
          </p:nvSpPr>
          <p:spPr>
            <a:xfrm>
              <a:off x="0" y="0"/>
              <a:ext cx="780034" cy="780034"/>
            </a:xfrm>
            <a:custGeom>
              <a:avLst/>
              <a:gdLst/>
              <a:ahLst/>
              <a:cxnLst/>
              <a:rect l="l" t="t" r="r" b="b"/>
              <a:pathLst>
                <a:path w="780034" h="780034">
                  <a:moveTo>
                    <a:pt x="0" y="390017"/>
                  </a:moveTo>
                  <a:cubicBezTo>
                    <a:pt x="0" y="174625"/>
                    <a:pt x="174625" y="0"/>
                    <a:pt x="390017" y="0"/>
                  </a:cubicBezTo>
                  <a:cubicBezTo>
                    <a:pt x="605409" y="0"/>
                    <a:pt x="780034" y="174625"/>
                    <a:pt x="780034" y="390017"/>
                  </a:cubicBezTo>
                  <a:cubicBezTo>
                    <a:pt x="780034" y="605409"/>
                    <a:pt x="605282" y="780034"/>
                    <a:pt x="390017" y="780034"/>
                  </a:cubicBezTo>
                  <a:cubicBezTo>
                    <a:pt x="174752" y="780034"/>
                    <a:pt x="0" y="605282"/>
                    <a:pt x="0" y="390017"/>
                  </a:cubicBezTo>
                  <a:close/>
                </a:path>
              </a:pathLst>
            </a:custGeom>
            <a:solidFill>
              <a:srgbClr val="4950BC"/>
            </a:solidFill>
          </p:spPr>
          <p:txBody>
            <a:bodyPr/>
            <a:lstStyle/>
            <a:p>
              <a:endParaRPr lang="en-IN" dirty="0"/>
            </a:p>
          </p:txBody>
        </p:sp>
      </p:grpSp>
      <p:sp>
        <p:nvSpPr>
          <p:cNvPr id="34" name="Freeform 18">
            <a:extLst>
              <a:ext uri="{FF2B5EF4-FFF2-40B4-BE49-F238E27FC236}">
                <a16:creationId xmlns:a16="http://schemas.microsoft.com/office/drawing/2014/main" id="{96E08566-BC37-E208-E86C-D242D59E7E81}"/>
              </a:ext>
            </a:extLst>
          </p:cNvPr>
          <p:cNvSpPr/>
          <p:nvPr/>
        </p:nvSpPr>
        <p:spPr>
          <a:xfrm>
            <a:off x="1205246" y="6119555"/>
            <a:ext cx="456408" cy="405463"/>
          </a:xfrm>
          <a:custGeom>
            <a:avLst/>
            <a:gdLst/>
            <a:ahLst/>
            <a:cxnLst/>
            <a:rect l="l" t="t" r="r" b="b"/>
            <a:pathLst>
              <a:path w="456408" h="405463">
                <a:moveTo>
                  <a:pt x="0" y="0"/>
                </a:moveTo>
                <a:lnTo>
                  <a:pt x="456408" y="0"/>
                </a:lnTo>
                <a:lnTo>
                  <a:pt x="456408" y="405463"/>
                </a:lnTo>
                <a:lnTo>
                  <a:pt x="0" y="405463"/>
                </a:lnTo>
                <a:lnTo>
                  <a:pt x="0" y="0"/>
                </a:lnTo>
                <a:close/>
              </a:path>
            </a:pathLst>
          </a:custGeom>
          <a:blipFill>
            <a:blip r:embed="rId5">
              <a:extLst>
                <a:ext uri="{96DAC541-7B7A-43D3-8B79-37D633B846F1}">
                  <asvg:svgBlip xmlns:asvg="http://schemas.microsoft.com/office/drawing/2016/SVG/main" r:embed="rId6"/>
                </a:ext>
              </a:extLst>
            </a:blip>
            <a:stretch>
              <a:fillRect t="-419" b="-419"/>
            </a:stretch>
          </a:blipFill>
        </p:spPr>
        <p:txBody>
          <a:bodyPr/>
          <a:lstStyle/>
          <a:p>
            <a:endParaRPr lang="en-IN" dirty="0"/>
          </a:p>
        </p:txBody>
      </p:sp>
      <p:sp>
        <p:nvSpPr>
          <p:cNvPr id="35" name="TextBox 23">
            <a:extLst>
              <a:ext uri="{FF2B5EF4-FFF2-40B4-BE49-F238E27FC236}">
                <a16:creationId xmlns:a16="http://schemas.microsoft.com/office/drawing/2014/main" id="{2DE7DBAC-7803-5265-203C-D7BF5A3D5D92}"/>
              </a:ext>
            </a:extLst>
          </p:cNvPr>
          <p:cNvSpPr txBox="1"/>
          <p:nvPr/>
        </p:nvSpPr>
        <p:spPr>
          <a:xfrm>
            <a:off x="1140954" y="7023899"/>
            <a:ext cx="7482224" cy="666273"/>
          </a:xfrm>
          <a:prstGeom prst="rect">
            <a:avLst/>
          </a:prstGeom>
        </p:spPr>
        <p:txBody>
          <a:bodyPr lIns="0" tIns="0" rIns="0" bIns="0" rtlCol="0" anchor="t">
            <a:spAutoFit/>
          </a:bodyPr>
          <a:lstStyle/>
          <a:p>
            <a:pPr>
              <a:lnSpc>
                <a:spcPts val="2724"/>
              </a:lnSpc>
            </a:pPr>
            <a:r>
              <a:rPr lang="en-US" sz="2000" dirty="0">
                <a:latin typeface="Inter" panose="020B0604020202020204" charset="0"/>
                <a:ea typeface="Inter" panose="020B0604020202020204" charset="0"/>
              </a:rPr>
              <a:t>Recognize top prescribers an opportunity to present at Novo Nordisk–supported medical forums.</a:t>
            </a:r>
            <a:endParaRPr lang="en-US" sz="2000" dirty="0">
              <a:solidFill>
                <a:srgbClr val="000000"/>
              </a:solidFill>
              <a:latin typeface="Inter" panose="020B0604020202020204" charset="0"/>
              <a:ea typeface="Inter" panose="020B0604020202020204" charset="0"/>
              <a:cs typeface="Inter"/>
              <a:sym typeface="Inter"/>
            </a:endParaRPr>
          </a:p>
        </p:txBody>
      </p:sp>
      <p:sp>
        <p:nvSpPr>
          <p:cNvPr id="37" name="Rectangle 2">
            <a:extLst>
              <a:ext uri="{FF2B5EF4-FFF2-40B4-BE49-F238E27FC236}">
                <a16:creationId xmlns:a16="http://schemas.microsoft.com/office/drawing/2014/main" id="{461EF559-3A04-130D-4DCB-D72CF366B36F}"/>
              </a:ext>
            </a:extLst>
          </p:cNvPr>
          <p:cNvSpPr>
            <a:spLocks noChangeArrowheads="1"/>
          </p:cNvSpPr>
          <p:nvPr/>
        </p:nvSpPr>
        <p:spPr bwMode="auto">
          <a:xfrm>
            <a:off x="9636051" y="8051370"/>
            <a:ext cx="741793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Inter" panose="020B0604020202020204" charset="0"/>
                <a:ea typeface="Inter" panose="020B0604020202020204" charset="0"/>
              </a:rPr>
              <a:t>Earn </a:t>
            </a:r>
            <a:r>
              <a:rPr lang="en-US" altLang="en-US" sz="2000" b="0" dirty="0">
                <a:latin typeface="Inter" panose="020B0604020202020204" charset="0"/>
                <a:ea typeface="Inter" panose="020B0604020202020204" charset="0"/>
              </a:rPr>
              <a:t>w</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rPr>
              <a:t>ellness </a:t>
            </a:r>
            <a:r>
              <a:rPr lang="en-US" altLang="en-US" sz="2000" dirty="0">
                <a:latin typeface="Inter" panose="020B0604020202020204" charset="0"/>
                <a:ea typeface="Inter" panose="020B0604020202020204" charset="0"/>
              </a:rPr>
              <a:t>p</a:t>
            </a:r>
            <a:r>
              <a:rPr kumimoji="0" lang="en-US" altLang="en-US" sz="2000" i="0" u="none" strike="noStrike" cap="none" normalizeH="0" baseline="0" dirty="0">
                <a:ln>
                  <a:noFill/>
                </a:ln>
                <a:solidFill>
                  <a:schemeClr val="tx1"/>
                </a:solidFill>
                <a:effectLst/>
                <a:latin typeface="Inter" panose="020B0604020202020204" charset="0"/>
                <a:ea typeface="Inter" panose="020B0604020202020204" charset="0"/>
              </a:rPr>
              <a:t>oints </a:t>
            </a:r>
            <a:r>
              <a:rPr kumimoji="0" lang="en-US" altLang="en-US" sz="2000" b="0" i="0" u="none" strike="noStrike" cap="none" normalizeH="0" baseline="0" dirty="0">
                <a:ln>
                  <a:noFill/>
                </a:ln>
                <a:solidFill>
                  <a:schemeClr val="tx1"/>
                </a:solidFill>
                <a:effectLst/>
                <a:latin typeface="Inter" panose="020B0604020202020204" charset="0"/>
                <a:ea typeface="Inter" panose="020B0604020202020204" charset="0"/>
              </a:rPr>
              <a:t>for adherence milestones (3 months, 6 months, 1 year).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Inter" panose="020B0604020202020204" charset="0"/>
              <a:ea typeface="Inter" panose="020B0604020202020204" charset="0"/>
            </a:endParaRPr>
          </a:p>
        </p:txBody>
      </p:sp>
      <p:sp>
        <p:nvSpPr>
          <p:cNvPr id="39" name="TextBox 38">
            <a:extLst>
              <a:ext uri="{FF2B5EF4-FFF2-40B4-BE49-F238E27FC236}">
                <a16:creationId xmlns:a16="http://schemas.microsoft.com/office/drawing/2014/main" id="{F06612AB-0541-9494-42D9-1A0D24C65120}"/>
              </a:ext>
            </a:extLst>
          </p:cNvPr>
          <p:cNvSpPr txBox="1"/>
          <p:nvPr/>
        </p:nvSpPr>
        <p:spPr>
          <a:xfrm>
            <a:off x="1057565" y="7995156"/>
            <a:ext cx="7482224" cy="707886"/>
          </a:xfrm>
          <a:prstGeom prst="rect">
            <a:avLst/>
          </a:prstGeom>
          <a:noFill/>
        </p:spPr>
        <p:txBody>
          <a:bodyPr wrap="square">
            <a:spAutoFit/>
          </a:bodyPr>
          <a:lstStyle/>
          <a:p>
            <a:r>
              <a:rPr lang="en-US" sz="2000" dirty="0">
                <a:latin typeface="Inter" panose="020B0604020202020204" charset="0"/>
                <a:ea typeface="Inter" panose="020B0604020202020204" charset="0"/>
              </a:rPr>
              <a:t>Offer </a:t>
            </a:r>
            <a:r>
              <a:rPr lang="en-US" sz="2000" b="1" dirty="0">
                <a:latin typeface="Inter" panose="020B0604020202020204" charset="0"/>
                <a:ea typeface="Inter" panose="020B0604020202020204" charset="0"/>
              </a:rPr>
              <a:t>tier-based trade incentives</a:t>
            </a:r>
            <a:r>
              <a:rPr lang="en-US" sz="2000" dirty="0">
                <a:latin typeface="Inter" panose="020B0604020202020204" charset="0"/>
                <a:ea typeface="Inter" panose="020B0604020202020204" charset="0"/>
              </a:rPr>
              <a:t> (e.g., silver, gold, platinum tiers) for pharmacies achieving sales or refill milestones.</a:t>
            </a:r>
            <a:endParaRPr lang="en-IN" sz="2000" dirty="0">
              <a:latin typeface="Inter" panose="020B0604020202020204" charset="0"/>
              <a:ea typeface="Inter" panose="020B060402020202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30179" y="1181100"/>
            <a:ext cx="16619852" cy="8686814"/>
          </a:xfrm>
          <a:custGeom>
            <a:avLst/>
            <a:gdLst/>
            <a:ahLst/>
            <a:cxnLst/>
            <a:rect l="l" t="t" r="r" b="b"/>
            <a:pathLst>
              <a:path w="16619852" h="8686814">
                <a:moveTo>
                  <a:pt x="0" y="0"/>
                </a:moveTo>
                <a:lnTo>
                  <a:pt x="16619852" y="0"/>
                </a:lnTo>
                <a:lnTo>
                  <a:pt x="16619852" y="8686814"/>
                </a:lnTo>
                <a:lnTo>
                  <a:pt x="0" y="86868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3" name="Group 3"/>
          <p:cNvGrpSpPr/>
          <p:nvPr/>
        </p:nvGrpSpPr>
        <p:grpSpPr>
          <a:xfrm>
            <a:off x="5257800" y="1"/>
            <a:ext cx="7772400" cy="952500"/>
            <a:chOff x="0" y="0"/>
            <a:chExt cx="10363200" cy="1270000"/>
          </a:xfrm>
        </p:grpSpPr>
        <p:sp>
          <p:nvSpPr>
            <p:cNvPr id="4" name="Freeform 4"/>
            <p:cNvSpPr/>
            <p:nvPr/>
          </p:nvSpPr>
          <p:spPr>
            <a:xfrm>
              <a:off x="0" y="0"/>
              <a:ext cx="10363200" cy="1270000"/>
            </a:xfrm>
            <a:custGeom>
              <a:avLst/>
              <a:gdLst/>
              <a:ahLst/>
              <a:cxnLst/>
              <a:rect l="l" t="t" r="r" b="b"/>
              <a:pathLst>
                <a:path w="10363200" h="1270000">
                  <a:moveTo>
                    <a:pt x="0" y="0"/>
                  </a:moveTo>
                  <a:lnTo>
                    <a:pt x="10363200" y="0"/>
                  </a:lnTo>
                  <a:lnTo>
                    <a:pt x="10363200" y="1270000"/>
                  </a:lnTo>
                  <a:lnTo>
                    <a:pt x="0" y="1270000"/>
                  </a:lnTo>
                  <a:close/>
                </a:path>
              </a:pathLst>
            </a:custGeom>
            <a:solidFill>
              <a:srgbClr val="000000">
                <a:alpha val="0"/>
              </a:srgbClr>
            </a:solidFill>
          </p:spPr>
          <p:txBody>
            <a:bodyPr/>
            <a:lstStyle/>
            <a:p>
              <a:endParaRPr lang="en-IN" dirty="0"/>
            </a:p>
          </p:txBody>
        </p:sp>
        <p:sp>
          <p:nvSpPr>
            <p:cNvPr id="5" name="TextBox 5"/>
            <p:cNvSpPr txBox="1"/>
            <p:nvPr/>
          </p:nvSpPr>
          <p:spPr>
            <a:xfrm>
              <a:off x="0" y="0"/>
              <a:ext cx="10363200" cy="1270000"/>
            </a:xfrm>
            <a:prstGeom prst="rect">
              <a:avLst/>
            </a:prstGeom>
          </p:spPr>
          <p:txBody>
            <a:bodyPr lIns="0" tIns="0" rIns="0" bIns="0" rtlCol="0" anchor="ctr"/>
            <a:lstStyle/>
            <a:p>
              <a:pPr algn="ctr">
                <a:lnSpc>
                  <a:spcPts val="5280"/>
                </a:lnSpc>
              </a:pPr>
              <a:r>
                <a:rPr lang="en-US" sz="4400" b="1" dirty="0">
                  <a:solidFill>
                    <a:srgbClr val="000000"/>
                  </a:solidFill>
                  <a:latin typeface="Inter Bold"/>
                  <a:ea typeface="Inter Bold"/>
                  <a:cs typeface="Inter Bold"/>
                  <a:sym typeface="Inter Bold"/>
                </a:rPr>
                <a:t>References</a:t>
              </a:r>
            </a:p>
          </p:txBody>
        </p:sp>
      </p:grpSp>
      <p:sp>
        <p:nvSpPr>
          <p:cNvPr id="6" name="TextBox 6"/>
          <p:cNvSpPr txBox="1"/>
          <p:nvPr/>
        </p:nvSpPr>
        <p:spPr>
          <a:xfrm>
            <a:off x="1066800" y="1714500"/>
            <a:ext cx="16047720" cy="12074909"/>
          </a:xfrm>
          <a:prstGeom prst="rect">
            <a:avLst/>
          </a:prstGeom>
        </p:spPr>
        <p:txBody>
          <a:bodyPr lIns="0" tIns="0" rIns="0" bIns="0" rtlCol="0" anchor="t">
            <a:spAutoFit/>
          </a:bodyPr>
          <a:lstStyle/>
          <a:p>
            <a:pPr marL="289560" lvl="1" indent="-144780" algn="just">
              <a:lnSpc>
                <a:spcPts val="4320"/>
              </a:lnSpc>
              <a:buAutoNum type="arabicPeriod"/>
            </a:pPr>
            <a:r>
              <a:rPr lang="en-US" sz="2400" dirty="0">
                <a:solidFill>
                  <a:srgbClr val="000000"/>
                </a:solidFill>
                <a:latin typeface="Inter"/>
                <a:ea typeface="Inter"/>
                <a:cs typeface="Inter"/>
                <a:sym typeface="Inter"/>
              </a:rPr>
              <a:t>Sung, M., Kumar, A., Mishra, R., Kulkarni, B., Kim, R., &amp; Subramanian, S. V. (2024). Temporal change in prevalence of BMI categories in India: patterns across States and Union territories of India, 1999–2021. </a:t>
            </a:r>
            <a:r>
              <a:rPr lang="en-US" sz="2400" i="1" dirty="0">
                <a:solidFill>
                  <a:srgbClr val="000000"/>
                </a:solidFill>
                <a:latin typeface="Inter Italics"/>
                <a:ea typeface="Inter Italics"/>
                <a:cs typeface="Inter Italics"/>
                <a:sym typeface="Inter Italics"/>
              </a:rPr>
              <a:t>BMC Public Health</a:t>
            </a:r>
            <a:r>
              <a:rPr lang="en-US" sz="2400" dirty="0">
                <a:solidFill>
                  <a:srgbClr val="000000"/>
                </a:solidFill>
                <a:latin typeface="Inter"/>
                <a:ea typeface="Inter"/>
                <a:cs typeface="Inter"/>
                <a:sym typeface="Inter"/>
              </a:rPr>
              <a:t>, </a:t>
            </a:r>
            <a:r>
              <a:rPr lang="en-US" sz="2400" i="1" dirty="0">
                <a:solidFill>
                  <a:srgbClr val="000000"/>
                </a:solidFill>
                <a:latin typeface="Inter Italics"/>
                <a:ea typeface="Inter Italics"/>
                <a:cs typeface="Inter Italics"/>
                <a:sym typeface="Inter Italics"/>
              </a:rPr>
              <a:t>24</a:t>
            </a:r>
            <a:r>
              <a:rPr lang="en-US" sz="2400" dirty="0">
                <a:solidFill>
                  <a:srgbClr val="000000"/>
                </a:solidFill>
                <a:latin typeface="Inter"/>
                <a:ea typeface="Inter"/>
                <a:cs typeface="Inter"/>
                <a:sym typeface="Inter"/>
              </a:rPr>
              <a:t>(1). </a:t>
            </a:r>
            <a:r>
              <a:rPr lang="en-US" sz="2400" u="sng" dirty="0">
                <a:solidFill>
                  <a:srgbClr val="0000FF"/>
                </a:solidFill>
                <a:latin typeface="Inter"/>
                <a:ea typeface="Inter"/>
                <a:cs typeface="Inter"/>
                <a:sym typeface="Inter"/>
                <a:hlinkClick r:id="rId4" tooltip="https://doi.org/10.1186/s12889-024-18784-4"/>
              </a:rPr>
              <a:t>https://doi.org/10.1186/s12889-024-18784-4</a:t>
            </a:r>
          </a:p>
          <a:p>
            <a:pPr marL="289560" lvl="1" indent="-144780" algn="just">
              <a:lnSpc>
                <a:spcPts val="4320"/>
              </a:lnSpc>
            </a:pPr>
            <a:endParaRPr lang="en-US" sz="2400" u="sng" dirty="0">
              <a:solidFill>
                <a:srgbClr val="0000FF"/>
              </a:solidFill>
              <a:latin typeface="Inter"/>
              <a:ea typeface="Inter"/>
              <a:cs typeface="Inter"/>
              <a:sym typeface="Inter"/>
              <a:hlinkClick r:id="rId4" tooltip="https://doi.org/10.1186/s12889-024-18784-4"/>
            </a:endParaRPr>
          </a:p>
          <a:p>
            <a:pPr marL="144780" lvl="1" algn="just">
              <a:lnSpc>
                <a:spcPts val="4320"/>
              </a:lnSpc>
            </a:pPr>
            <a:r>
              <a:rPr lang="en-US" sz="2400" dirty="0">
                <a:solidFill>
                  <a:srgbClr val="000000"/>
                </a:solidFill>
                <a:latin typeface="Inter"/>
                <a:ea typeface="Inter"/>
                <a:cs typeface="Inter"/>
                <a:sym typeface="Inter"/>
              </a:rPr>
              <a:t>2. Chakrabarty, M., &amp; Let, S. (2024). Spatial clustering of overweight/obesity among women in India: Insights from the latest National Family Health Survey. </a:t>
            </a:r>
            <a:r>
              <a:rPr lang="en-US" sz="2400" i="1" dirty="0">
                <a:solidFill>
                  <a:srgbClr val="000000"/>
                </a:solidFill>
                <a:latin typeface="Inter Italics"/>
                <a:ea typeface="Inter Italics"/>
                <a:cs typeface="Inter Italics"/>
                <a:sym typeface="Inter Italics"/>
              </a:rPr>
              <a:t>PLoS ONE</a:t>
            </a:r>
            <a:r>
              <a:rPr lang="en-US" sz="2400" dirty="0">
                <a:solidFill>
                  <a:srgbClr val="000000"/>
                </a:solidFill>
                <a:latin typeface="Inter"/>
                <a:ea typeface="Inter"/>
                <a:cs typeface="Inter"/>
                <a:sym typeface="Inter"/>
              </a:rPr>
              <a:t>, </a:t>
            </a:r>
            <a:r>
              <a:rPr lang="en-US" sz="2400" i="1" dirty="0">
                <a:solidFill>
                  <a:srgbClr val="000000"/>
                </a:solidFill>
                <a:latin typeface="Inter Italics"/>
                <a:ea typeface="Inter Italics"/>
                <a:cs typeface="Inter Italics"/>
                <a:sym typeface="Inter Italics"/>
              </a:rPr>
              <a:t>19</a:t>
            </a:r>
            <a:r>
              <a:rPr lang="en-US" sz="2400" dirty="0">
                <a:solidFill>
                  <a:srgbClr val="000000"/>
                </a:solidFill>
                <a:latin typeface="Inter"/>
                <a:ea typeface="Inter"/>
                <a:cs typeface="Inter"/>
                <a:sym typeface="Inter"/>
              </a:rPr>
              <a:t>(7), e0305205–e0305205. </a:t>
            </a:r>
            <a:r>
              <a:rPr lang="en-US" sz="2400" u="sng" dirty="0">
                <a:solidFill>
                  <a:srgbClr val="0000FF"/>
                </a:solidFill>
                <a:latin typeface="Inter"/>
                <a:ea typeface="Inter"/>
                <a:cs typeface="Inter"/>
                <a:sym typeface="Inter"/>
                <a:hlinkClick r:id="rId5" tooltip="https://doi.org/10.1371/journal.pone.0305205"/>
              </a:rPr>
              <a:t>https://doi.org/10.1371/journal.pone.0305205</a:t>
            </a:r>
          </a:p>
          <a:p>
            <a:pPr marL="289560" lvl="1" indent="-144780" algn="just">
              <a:lnSpc>
                <a:spcPts val="4320"/>
              </a:lnSpc>
            </a:pPr>
            <a:endParaRPr lang="en-US" sz="2400" u="sng" dirty="0">
              <a:solidFill>
                <a:srgbClr val="0000FF"/>
              </a:solidFill>
              <a:latin typeface="Inter"/>
              <a:ea typeface="Inter"/>
              <a:cs typeface="Inter"/>
              <a:sym typeface="Inter"/>
              <a:hlinkClick r:id="rId5" tooltip="https://doi.org/10.1371/journal.pone.0305205"/>
            </a:endParaRPr>
          </a:p>
          <a:p>
            <a:pPr marL="144780" lvl="1" algn="just">
              <a:lnSpc>
                <a:spcPts val="4320"/>
              </a:lnSpc>
            </a:pPr>
            <a:r>
              <a:rPr lang="en-US" sz="2400" dirty="0">
                <a:solidFill>
                  <a:srgbClr val="000000"/>
                </a:solidFill>
                <a:latin typeface="Inter"/>
                <a:ea typeface="Inter"/>
                <a:cs typeface="Inter"/>
                <a:sym typeface="Inter"/>
              </a:rPr>
              <a:t>3. Stifel. (2023, July 1). </a:t>
            </a:r>
            <a:r>
              <a:rPr lang="en-US" sz="2400" i="1" dirty="0">
                <a:solidFill>
                  <a:srgbClr val="000000"/>
                </a:solidFill>
                <a:latin typeface="Inter Italics"/>
                <a:ea typeface="Inter Italics"/>
                <a:cs typeface="Inter Italics"/>
                <a:sym typeface="Inter Italics"/>
              </a:rPr>
              <a:t>Obesity drug review</a:t>
            </a:r>
            <a:r>
              <a:rPr lang="en-US" sz="2400" dirty="0">
                <a:solidFill>
                  <a:srgbClr val="000000"/>
                </a:solidFill>
                <a:latin typeface="Inter"/>
                <a:ea typeface="Inter"/>
                <a:cs typeface="Inter"/>
                <a:sym typeface="Inter"/>
              </a:rPr>
              <a:t>. Stifel Nicolaus &amp; Company. </a:t>
            </a:r>
            <a:r>
              <a:rPr lang="en-US" sz="2400" u="sng" dirty="0">
                <a:solidFill>
                  <a:srgbClr val="0000FF"/>
                </a:solidFill>
                <a:latin typeface="Inter"/>
                <a:ea typeface="Inter"/>
                <a:cs typeface="Inter"/>
                <a:sym typeface="Inter"/>
                <a:hlinkClick r:id="rId6" tooltip="https://www.stifel.com/"/>
              </a:rPr>
              <a:t>https://www.stifel.com/</a:t>
            </a:r>
          </a:p>
          <a:p>
            <a:pPr marL="289560" lvl="1" indent="-144780" algn="just">
              <a:lnSpc>
                <a:spcPts val="4320"/>
              </a:lnSpc>
            </a:pPr>
            <a:endParaRPr lang="en-US" sz="2400" u="sng" dirty="0">
              <a:solidFill>
                <a:srgbClr val="0000FF"/>
              </a:solidFill>
              <a:latin typeface="Inter"/>
              <a:ea typeface="Inter"/>
              <a:cs typeface="Inter"/>
              <a:sym typeface="Inter"/>
              <a:hlinkClick r:id="rId6" tooltip="https://www.stifel.com/"/>
            </a:endParaRPr>
          </a:p>
          <a:p>
            <a:pPr marL="144780" lvl="1" algn="just">
              <a:lnSpc>
                <a:spcPts val="4320"/>
              </a:lnSpc>
            </a:pPr>
            <a:r>
              <a:rPr lang="en-US" sz="2400" dirty="0">
                <a:solidFill>
                  <a:srgbClr val="000000"/>
                </a:solidFill>
                <a:latin typeface="Inter"/>
                <a:ea typeface="Inter"/>
                <a:cs typeface="Inter"/>
                <a:sym typeface="Inter"/>
              </a:rPr>
              <a:t>4. Stifel. (2024, July 8). </a:t>
            </a:r>
            <a:r>
              <a:rPr lang="en-US" sz="2400" i="1" dirty="0">
                <a:solidFill>
                  <a:srgbClr val="000000"/>
                </a:solidFill>
                <a:latin typeface="Inter Italics"/>
                <a:ea typeface="Inter Italics"/>
                <a:cs typeface="Inter Italics"/>
                <a:sym typeface="Inter Italics"/>
              </a:rPr>
              <a:t>Obesity market review</a:t>
            </a:r>
            <a:r>
              <a:rPr lang="en-US" sz="2400" dirty="0">
                <a:solidFill>
                  <a:srgbClr val="000000"/>
                </a:solidFill>
                <a:latin typeface="Inter"/>
                <a:ea typeface="Inter"/>
                <a:cs typeface="Inter"/>
                <a:sym typeface="Inter"/>
              </a:rPr>
              <a:t>. Stifel Nicolaus &amp; Company. </a:t>
            </a:r>
            <a:r>
              <a:rPr lang="en-US" sz="2400" u="sng" dirty="0">
                <a:solidFill>
                  <a:srgbClr val="0000FF"/>
                </a:solidFill>
                <a:latin typeface="Inter"/>
                <a:ea typeface="Inter"/>
                <a:cs typeface="Inter"/>
                <a:sym typeface="Inter"/>
                <a:hlinkClick r:id="rId6" tooltip="https://www.stifel.com/"/>
              </a:rPr>
              <a:t>https://www.stifel.com/</a:t>
            </a:r>
          </a:p>
          <a:p>
            <a:pPr marL="289560" lvl="1" indent="-144780" algn="just">
              <a:lnSpc>
                <a:spcPts val="4320"/>
              </a:lnSpc>
            </a:pPr>
            <a:endParaRPr lang="en-US" sz="2400" u="sng" dirty="0">
              <a:solidFill>
                <a:srgbClr val="0000FF"/>
              </a:solidFill>
              <a:latin typeface="Inter"/>
              <a:ea typeface="Inter"/>
              <a:cs typeface="Inter"/>
              <a:sym typeface="Inter"/>
              <a:hlinkClick r:id="rId6" tooltip="https://www.stifel.com/"/>
            </a:endParaRPr>
          </a:p>
          <a:p>
            <a:pPr marL="144780" lvl="1" algn="just">
              <a:lnSpc>
                <a:spcPts val="4320"/>
              </a:lnSpc>
            </a:pPr>
            <a:r>
              <a:rPr lang="en-US" sz="2400" dirty="0">
                <a:solidFill>
                  <a:srgbClr val="000000"/>
                </a:solidFill>
                <a:latin typeface="Inter"/>
                <a:ea typeface="Inter"/>
                <a:cs typeface="Inter"/>
                <a:sym typeface="Inter"/>
              </a:rPr>
              <a:t>5. L.E.K. Consulting. (2025). </a:t>
            </a:r>
            <a:r>
              <a:rPr lang="en-US" sz="2400" i="1" dirty="0">
                <a:solidFill>
                  <a:srgbClr val="000000"/>
                </a:solidFill>
                <a:latin typeface="Inter Italics"/>
                <a:ea typeface="Inter Italics"/>
                <a:cs typeface="Inter Italics"/>
                <a:sym typeface="Inter Italics"/>
              </a:rPr>
              <a:t>Future outlook for the anti-obesity medication (AOM) market</a:t>
            </a:r>
            <a:r>
              <a:rPr lang="en-US" sz="2400" dirty="0">
                <a:solidFill>
                  <a:srgbClr val="000000"/>
                </a:solidFill>
                <a:latin typeface="Inter"/>
                <a:ea typeface="Inter"/>
                <a:cs typeface="Inter"/>
                <a:sym typeface="Inter"/>
              </a:rPr>
              <a:t>. Autho</a:t>
            </a:r>
            <a:r>
              <a:rPr lang="en-US" sz="2400" dirty="0">
                <a:solidFill>
                  <a:srgbClr val="898989"/>
                </a:solidFill>
                <a:latin typeface="Inter"/>
                <a:ea typeface="Inter"/>
                <a:cs typeface="Inter"/>
                <a:sym typeface="Inter"/>
              </a:rPr>
              <a:t>r. </a:t>
            </a:r>
            <a:r>
              <a:rPr lang="en-US" sz="2400" u="sng" dirty="0">
                <a:solidFill>
                  <a:srgbClr val="0000FF"/>
                </a:solidFill>
                <a:latin typeface="Inter"/>
                <a:ea typeface="Inter"/>
                <a:cs typeface="Inter"/>
                <a:sym typeface="Inter"/>
                <a:hlinkClick r:id="rId7" tooltip="https://www.lek.com/"/>
              </a:rPr>
              <a:t>https://www.lek.com</a:t>
            </a:r>
          </a:p>
          <a:p>
            <a:pPr marL="289560" lvl="1" indent="-144780" algn="just">
              <a:lnSpc>
                <a:spcPts val="4320"/>
              </a:lnSpc>
            </a:pPr>
            <a:endParaRPr lang="en-US" sz="2400" u="sng" dirty="0">
              <a:solidFill>
                <a:srgbClr val="0000FF"/>
              </a:solidFill>
              <a:latin typeface="Inter"/>
              <a:ea typeface="Inter"/>
              <a:cs typeface="Inter"/>
              <a:sym typeface="Inter"/>
              <a:hlinkClick r:id="rId7" tooltip="https://www.lek.com/"/>
            </a:endParaRPr>
          </a:p>
          <a:p>
            <a:pPr marL="289560" lvl="1" indent="-144780" algn="ctr">
              <a:lnSpc>
                <a:spcPts val="4320"/>
              </a:lnSpc>
            </a:pPr>
            <a:r>
              <a:rPr lang="en-US" sz="2400" dirty="0">
                <a:solidFill>
                  <a:srgbClr val="898989"/>
                </a:solidFill>
                <a:latin typeface="Calibri (MS)"/>
                <a:ea typeface="Calibri (MS)"/>
                <a:cs typeface="Calibri (MS)"/>
                <a:sym typeface="Calibri (MS)"/>
              </a:rPr>
              <a:t>‌</a:t>
            </a:r>
          </a:p>
          <a:p>
            <a:pPr marL="289560" lvl="1" indent="-144780" algn="just">
              <a:lnSpc>
                <a:spcPts val="4320"/>
              </a:lnSpc>
            </a:pPr>
            <a:endParaRPr lang="en-US" sz="2400" dirty="0">
              <a:solidFill>
                <a:srgbClr val="898989"/>
              </a:solidFill>
              <a:latin typeface="Calibri (MS)"/>
              <a:ea typeface="Calibri (MS)"/>
              <a:cs typeface="Calibri (MS)"/>
              <a:sym typeface="Calibri (MS)"/>
            </a:endParaRPr>
          </a:p>
          <a:p>
            <a:pPr marL="289560" lvl="1" indent="-144780" algn="just">
              <a:lnSpc>
                <a:spcPts val="4320"/>
              </a:lnSpc>
            </a:pPr>
            <a:endParaRPr lang="en-US" sz="2400" dirty="0">
              <a:solidFill>
                <a:srgbClr val="898989"/>
              </a:solidFill>
              <a:latin typeface="Calibri (MS)"/>
              <a:ea typeface="Calibri (MS)"/>
              <a:cs typeface="Calibri (MS)"/>
              <a:sym typeface="Calibri (MS)"/>
            </a:endParaRPr>
          </a:p>
          <a:p>
            <a:pPr marL="289560" lvl="1" indent="-144780" algn="ctr">
              <a:lnSpc>
                <a:spcPts val="4320"/>
              </a:lnSpc>
            </a:pPr>
            <a:r>
              <a:rPr lang="en-US" sz="2400" dirty="0">
                <a:solidFill>
                  <a:srgbClr val="000000"/>
                </a:solidFill>
                <a:latin typeface="Calibri (MS)"/>
                <a:ea typeface="Calibri (MS)"/>
                <a:cs typeface="Calibri (MS)"/>
                <a:sym typeface="Calibri (MS)"/>
              </a:rPr>
              <a:t>‌</a:t>
            </a:r>
          </a:p>
          <a:p>
            <a:pPr marL="289560" lvl="1" indent="-144780" algn="just">
              <a:lnSpc>
                <a:spcPts val="4320"/>
              </a:lnSpc>
            </a:pPr>
            <a:endParaRPr lang="en-US" sz="2400" dirty="0">
              <a:solidFill>
                <a:srgbClr val="000000"/>
              </a:solidFill>
              <a:latin typeface="Calibri (MS)"/>
              <a:ea typeface="Calibri (MS)"/>
              <a:cs typeface="Calibri (MS)"/>
              <a:sym typeface="Calibri (MS)"/>
            </a:endParaRPr>
          </a:p>
          <a:p>
            <a:pPr marL="289560" lvl="1" indent="-144780" algn="just">
              <a:lnSpc>
                <a:spcPts val="4320"/>
              </a:lnSpc>
            </a:pPr>
            <a:r>
              <a:rPr lang="en-US" sz="2400" dirty="0">
                <a:solidFill>
                  <a:srgbClr val="000000"/>
                </a:solidFill>
                <a:latin typeface="Calibri (MS)"/>
                <a:ea typeface="Calibri (MS)"/>
                <a:cs typeface="Calibri (MS)"/>
                <a:sym typeface="Calibri (MS)"/>
              </a:rPr>
              <a:t>‌</a:t>
            </a:r>
          </a:p>
          <a:p>
            <a:pPr marL="289560" lvl="1" indent="-144780" algn="just">
              <a:lnSpc>
                <a:spcPts val="4320"/>
              </a:lnSpc>
            </a:pPr>
            <a:endParaRPr lang="en-US" sz="2400" dirty="0">
              <a:solidFill>
                <a:srgbClr val="000000"/>
              </a:solidFill>
              <a:latin typeface="Calibri (MS)"/>
              <a:ea typeface="Calibri (MS)"/>
              <a:cs typeface="Calibri (MS)"/>
              <a:sym typeface="Calibri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DBF1"/>
        </a:solidFill>
        <a:effectLst/>
      </p:bgPr>
    </p:bg>
    <p:spTree>
      <p:nvGrpSpPr>
        <p:cNvPr id="1" name=""/>
        <p:cNvGrpSpPr/>
        <p:nvPr/>
      </p:nvGrpSpPr>
      <p:grpSpPr>
        <a:xfrm>
          <a:off x="0" y="0"/>
          <a:ext cx="0" cy="0"/>
          <a:chOff x="0" y="0"/>
          <a:chExt cx="0" cy="0"/>
        </a:xfrm>
      </p:grpSpPr>
      <p:sp>
        <p:nvSpPr>
          <p:cNvPr id="2" name="Freeform 2"/>
          <p:cNvSpPr/>
          <p:nvPr/>
        </p:nvSpPr>
        <p:spPr>
          <a:xfrm>
            <a:off x="-7658002" y="-3706458"/>
            <a:ext cx="19701376" cy="19701376"/>
          </a:xfrm>
          <a:custGeom>
            <a:avLst/>
            <a:gdLst/>
            <a:ahLst/>
            <a:cxnLst/>
            <a:rect l="l" t="t" r="r" b="b"/>
            <a:pathLst>
              <a:path w="19701376" h="19701376">
                <a:moveTo>
                  <a:pt x="0" y="0"/>
                </a:moveTo>
                <a:lnTo>
                  <a:pt x="19701376" y="0"/>
                </a:lnTo>
                <a:lnTo>
                  <a:pt x="19701376" y="19701376"/>
                </a:lnTo>
                <a:lnTo>
                  <a:pt x="0" y="197013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TextBox 3"/>
          <p:cNvSpPr txBox="1"/>
          <p:nvPr/>
        </p:nvSpPr>
        <p:spPr>
          <a:xfrm>
            <a:off x="4021857" y="4360131"/>
            <a:ext cx="10244285" cy="1371693"/>
          </a:xfrm>
          <a:prstGeom prst="rect">
            <a:avLst/>
          </a:prstGeom>
        </p:spPr>
        <p:txBody>
          <a:bodyPr lIns="0" tIns="0" rIns="0" bIns="0" rtlCol="0" anchor="t">
            <a:spAutoFit/>
          </a:bodyPr>
          <a:lstStyle/>
          <a:p>
            <a:pPr algn="ctr">
              <a:lnSpc>
                <a:spcPts val="12003"/>
              </a:lnSpc>
            </a:pPr>
            <a:r>
              <a:rPr lang="en-US" sz="12003" b="1" dirty="0">
                <a:solidFill>
                  <a:srgbClr val="000000"/>
                </a:solidFill>
                <a:latin typeface="Montserrat Bold"/>
                <a:ea typeface="Montserrat Bold"/>
                <a:cs typeface="Montserrat Bold"/>
                <a:sym typeface="Montserrat Bold"/>
              </a:rPr>
              <a:t>Thank You!</a:t>
            </a:r>
          </a:p>
        </p:txBody>
      </p:sp>
      <p:sp>
        <p:nvSpPr>
          <p:cNvPr id="4" name="TextBox 4"/>
          <p:cNvSpPr txBox="1"/>
          <p:nvPr/>
        </p:nvSpPr>
        <p:spPr>
          <a:xfrm>
            <a:off x="359667" y="6854592"/>
            <a:ext cx="5720186" cy="2994660"/>
          </a:xfrm>
          <a:prstGeom prst="rect">
            <a:avLst/>
          </a:prstGeom>
        </p:spPr>
        <p:txBody>
          <a:bodyPr lIns="0" tIns="0" rIns="0" bIns="0" rtlCol="0" anchor="t">
            <a:spAutoFit/>
          </a:bodyPr>
          <a:lstStyle/>
          <a:p>
            <a:pPr algn="just">
              <a:lnSpc>
                <a:spcPts val="2939"/>
              </a:lnSpc>
            </a:pPr>
            <a:r>
              <a:rPr lang="en-US" sz="2099" b="1" dirty="0">
                <a:solidFill>
                  <a:srgbClr val="4D4D4D"/>
                </a:solidFill>
                <a:latin typeface="Canva Sans Bold"/>
                <a:ea typeface="Canva Sans Bold"/>
                <a:cs typeface="Canva Sans Bold"/>
                <a:sym typeface="Canva Sans Bold"/>
              </a:rPr>
              <a:t>Team Members</a:t>
            </a:r>
          </a:p>
          <a:p>
            <a:pPr algn="just">
              <a:lnSpc>
                <a:spcPts val="2939"/>
              </a:lnSpc>
            </a:pPr>
            <a:r>
              <a:rPr lang="en-US" sz="2099" b="1" dirty="0">
                <a:solidFill>
                  <a:srgbClr val="4D4D4D"/>
                </a:solidFill>
                <a:latin typeface="Canva Sans Bold"/>
                <a:ea typeface="Canva Sans Bold"/>
                <a:cs typeface="Canva Sans Bold"/>
                <a:sym typeface="Canva Sans Bold"/>
              </a:rPr>
              <a:t>MANISH M KUMAR - Team Leader</a:t>
            </a:r>
          </a:p>
          <a:p>
            <a:pPr algn="just">
              <a:lnSpc>
                <a:spcPts val="2939"/>
              </a:lnSpc>
            </a:pPr>
            <a:r>
              <a:rPr lang="en-US" sz="2099" b="1" dirty="0">
                <a:solidFill>
                  <a:srgbClr val="4D4D4D"/>
                </a:solidFill>
                <a:latin typeface="Canva Sans Bold"/>
                <a:ea typeface="Canva Sans Bold"/>
                <a:cs typeface="Canva Sans Bold"/>
                <a:sym typeface="Canva Sans Bold"/>
              </a:rPr>
              <a:t>ABHISHEK RAMESH SHETTIGAR</a:t>
            </a:r>
          </a:p>
          <a:p>
            <a:pPr algn="just">
              <a:lnSpc>
                <a:spcPts val="2939"/>
              </a:lnSpc>
            </a:pPr>
            <a:r>
              <a:rPr lang="en-US" sz="2099" b="1" dirty="0">
                <a:solidFill>
                  <a:srgbClr val="4D4D4D"/>
                </a:solidFill>
                <a:latin typeface="Canva Sans Bold"/>
                <a:ea typeface="Canva Sans Bold"/>
                <a:cs typeface="Canva Sans Bold"/>
                <a:sym typeface="Canva Sans Bold"/>
              </a:rPr>
              <a:t>NEELA KS</a:t>
            </a:r>
          </a:p>
          <a:p>
            <a:pPr algn="just">
              <a:lnSpc>
                <a:spcPts val="2939"/>
              </a:lnSpc>
            </a:pPr>
            <a:r>
              <a:rPr lang="en-US" sz="2099" b="1" dirty="0">
                <a:solidFill>
                  <a:srgbClr val="4D4D4D"/>
                </a:solidFill>
                <a:latin typeface="Canva Sans Bold"/>
                <a:ea typeface="Canva Sans Bold"/>
                <a:cs typeface="Canva Sans Bold"/>
                <a:sym typeface="Canva Sans Bold"/>
              </a:rPr>
              <a:t>ELNA SARA SANU</a:t>
            </a:r>
          </a:p>
          <a:p>
            <a:pPr algn="just">
              <a:lnSpc>
                <a:spcPts val="2939"/>
              </a:lnSpc>
            </a:pPr>
            <a:r>
              <a:rPr lang="en-US" sz="2099" b="1" dirty="0">
                <a:solidFill>
                  <a:srgbClr val="4D4D4D"/>
                </a:solidFill>
                <a:latin typeface="Canva Sans Bold"/>
                <a:ea typeface="Canva Sans Bold"/>
                <a:cs typeface="Canva Sans Bold"/>
                <a:sym typeface="Canva Sans Bold"/>
              </a:rPr>
              <a:t>BEVEN NELSON</a:t>
            </a:r>
          </a:p>
          <a:p>
            <a:pPr algn="just">
              <a:lnSpc>
                <a:spcPts val="2939"/>
              </a:lnSpc>
            </a:pPr>
            <a:endParaRPr lang="en-US" sz="2099" b="1" dirty="0">
              <a:solidFill>
                <a:srgbClr val="4D4D4D"/>
              </a:solidFill>
              <a:latin typeface="Canva Sans Bold"/>
              <a:ea typeface="Canva Sans Bold"/>
              <a:cs typeface="Canva Sans Bold"/>
              <a:sym typeface="Canva Sans Bold"/>
            </a:endParaRPr>
          </a:p>
          <a:p>
            <a:pPr algn="just">
              <a:lnSpc>
                <a:spcPts val="2939"/>
              </a:lnSpc>
            </a:pPr>
            <a:endParaRPr lang="en-US" sz="2099" b="1" dirty="0">
              <a:solidFill>
                <a:srgbClr val="4D4D4D"/>
              </a:solidFill>
              <a:latin typeface="Canva Sans Bold"/>
              <a:ea typeface="Canva Sans Bold"/>
              <a:cs typeface="Canva Sans Bold"/>
              <a:sym typeface="Canva Sans Bold"/>
            </a:endParaRPr>
          </a:p>
        </p:txBody>
      </p:sp>
      <p:sp>
        <p:nvSpPr>
          <p:cNvPr id="5" name="TextBox 5"/>
          <p:cNvSpPr txBox="1"/>
          <p:nvPr/>
        </p:nvSpPr>
        <p:spPr>
          <a:xfrm>
            <a:off x="12784452" y="6911742"/>
            <a:ext cx="5276255" cy="1525588"/>
          </a:xfrm>
          <a:prstGeom prst="rect">
            <a:avLst/>
          </a:prstGeom>
        </p:spPr>
        <p:txBody>
          <a:bodyPr lIns="0" tIns="0" rIns="0" bIns="0" rtlCol="0" anchor="t">
            <a:spAutoFit/>
          </a:bodyPr>
          <a:lstStyle/>
          <a:p>
            <a:pPr algn="r">
              <a:lnSpc>
                <a:spcPts val="3062"/>
              </a:lnSpc>
            </a:pPr>
            <a:r>
              <a:rPr lang="en-US" sz="2436" b="1" dirty="0">
                <a:solidFill>
                  <a:srgbClr val="000000"/>
                </a:solidFill>
                <a:latin typeface="Montserrat Bold"/>
                <a:ea typeface="Montserrat Bold"/>
                <a:cs typeface="Montserrat Bold"/>
                <a:sym typeface="Montserrat Bold"/>
              </a:rPr>
              <a:t>Acknowledgments</a:t>
            </a:r>
          </a:p>
          <a:p>
            <a:pPr algn="r">
              <a:lnSpc>
                <a:spcPts val="3062"/>
              </a:lnSpc>
            </a:pPr>
            <a:r>
              <a:rPr lang="en-US" sz="2436" dirty="0">
                <a:solidFill>
                  <a:srgbClr val="000000"/>
                </a:solidFill>
                <a:latin typeface="Montserrat"/>
                <a:ea typeface="Montserrat"/>
                <a:cs typeface="Montserrat"/>
                <a:sym typeface="Montserrat"/>
              </a:rPr>
              <a:t>Varun Kumar S G (Faculty Mentor)</a:t>
            </a:r>
          </a:p>
          <a:p>
            <a:pPr algn="r">
              <a:lnSpc>
                <a:spcPts val="3062"/>
              </a:lnSpc>
            </a:pPr>
            <a:r>
              <a:rPr lang="en-US" sz="2436" dirty="0">
                <a:solidFill>
                  <a:srgbClr val="000000"/>
                </a:solidFill>
                <a:latin typeface="Montserrat"/>
                <a:ea typeface="Montserrat"/>
                <a:cs typeface="Montserrat"/>
                <a:sym typeface="Montserrat"/>
              </a:rPr>
              <a:t>Dibyajyoti Samantaray (Mentor)</a:t>
            </a:r>
          </a:p>
          <a:p>
            <a:pPr algn="r">
              <a:lnSpc>
                <a:spcPts val="3062"/>
              </a:lnSpc>
            </a:pPr>
            <a:r>
              <a:rPr lang="en-US" sz="2436" dirty="0">
                <a:solidFill>
                  <a:srgbClr val="000000"/>
                </a:solidFill>
                <a:latin typeface="Montserrat"/>
                <a:ea typeface="Montserrat"/>
                <a:cs typeface="Montserrat"/>
                <a:sym typeface="Montserrat"/>
              </a:rPr>
              <a:t>Vikas Agrawal (Mentor)</a:t>
            </a:r>
          </a:p>
        </p:txBody>
      </p:sp>
      <p:sp>
        <p:nvSpPr>
          <p:cNvPr id="6" name="Freeform 6"/>
          <p:cNvSpPr/>
          <p:nvPr/>
        </p:nvSpPr>
        <p:spPr>
          <a:xfrm>
            <a:off x="6392884" y="-9584898"/>
            <a:ext cx="19701376" cy="19701376"/>
          </a:xfrm>
          <a:custGeom>
            <a:avLst/>
            <a:gdLst/>
            <a:ahLst/>
            <a:cxnLst/>
            <a:rect l="l" t="t" r="r" b="b"/>
            <a:pathLst>
              <a:path w="19701376" h="19701376">
                <a:moveTo>
                  <a:pt x="0" y="0"/>
                </a:moveTo>
                <a:lnTo>
                  <a:pt x="19701376" y="0"/>
                </a:lnTo>
                <a:lnTo>
                  <a:pt x="19701376" y="19701376"/>
                </a:lnTo>
                <a:lnTo>
                  <a:pt x="0" y="1970137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TotalTime>
  <Words>1129</Words>
  <Application>Microsoft Office PowerPoint</Application>
  <PresentationFormat>Custom</PresentationFormat>
  <Paragraphs>132</Paragraphs>
  <Slides>12</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vt:i4>
      </vt:variant>
    </vt:vector>
  </HeadingPairs>
  <TitlesOfParts>
    <vt:vector size="24" baseType="lpstr">
      <vt:lpstr>Inter</vt:lpstr>
      <vt:lpstr>Canva Sans Bold</vt:lpstr>
      <vt:lpstr>Calibri (MS)</vt:lpstr>
      <vt:lpstr>Montserrat Bold</vt:lpstr>
      <vt:lpstr>Montserrat</vt:lpstr>
      <vt:lpstr>Arial</vt:lpstr>
      <vt:lpstr>Inter Bold</vt:lpstr>
      <vt:lpstr>Inter Italics</vt:lpstr>
      <vt:lpstr>Calibri (MS) Italics</vt:lpstr>
      <vt:lpstr>Calibri (MS)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Source:- Wegovy. (n.d.). Weight‐Loss Prescription Medication | WegovyTM (semaglutide) Injection 2.4 mg. Www.wegovy.com. https://www.wegovy.com/</dc:title>
  <dc:creator>Abhishek</dc:creator>
  <cp:lastModifiedBy>ABHISHEK RAMESH SHETTIGAR - 242807002 - PSPHMPL</cp:lastModifiedBy>
  <cp:revision>37</cp:revision>
  <dcterms:created xsi:type="dcterms:W3CDTF">2006-08-16T00:00:00Z</dcterms:created>
  <dcterms:modified xsi:type="dcterms:W3CDTF">2025-10-05T17:28:21Z</dcterms:modified>
  <dc:identifier>DAG07hvgFl8</dc:identifier>
</cp:coreProperties>
</file>